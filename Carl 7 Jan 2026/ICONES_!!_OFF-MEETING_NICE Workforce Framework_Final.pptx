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8" r:id="rId5"/>
  </p:sldMasterIdLst>
  <p:notesMasterIdLst>
    <p:notesMasterId r:id="rId34"/>
  </p:notesMasterIdLst>
  <p:sldIdLst>
    <p:sldId id="5473" r:id="rId6"/>
    <p:sldId id="5474" r:id="rId7"/>
    <p:sldId id="5476" r:id="rId8"/>
    <p:sldId id="5477" r:id="rId9"/>
    <p:sldId id="5478" r:id="rId10"/>
    <p:sldId id="5480" r:id="rId11"/>
    <p:sldId id="5484" r:id="rId12"/>
    <p:sldId id="5498" r:id="rId13"/>
    <p:sldId id="5485" r:id="rId14"/>
    <p:sldId id="5486" r:id="rId15"/>
    <p:sldId id="5487" r:id="rId16"/>
    <p:sldId id="5488" r:id="rId17"/>
    <p:sldId id="5489" r:id="rId18"/>
    <p:sldId id="5490" r:id="rId19"/>
    <p:sldId id="5492" r:id="rId20"/>
    <p:sldId id="5493" r:id="rId21"/>
    <p:sldId id="5494" r:id="rId22"/>
    <p:sldId id="5495" r:id="rId23"/>
    <p:sldId id="5496" r:id="rId24"/>
    <p:sldId id="5497" r:id="rId25"/>
    <p:sldId id="5469" r:id="rId26"/>
    <p:sldId id="5470" r:id="rId27"/>
    <p:sldId id="5471" r:id="rId28"/>
    <p:sldId id="5472" r:id="rId29"/>
    <p:sldId id="5481" r:id="rId30"/>
    <p:sldId id="5482" r:id="rId31"/>
    <p:sldId id="5483" r:id="rId32"/>
    <p:sldId id="5479" r:id="rId33"/>
  </p:sldIdLst>
  <p:sldSz cx="12192000" cy="6858000"/>
  <p:notesSz cx="7010400" cy="92964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0986E215-5E6E-4FD3-B9A3-52A0092E0F63}">
          <p14:sldIdLst/>
        </p14:section>
        <p14:section name="Shared Goal: Nationwide Cyber Resilience" id="{6CE14B0B-878E-4730-8A6B-5A6C16144B16}">
          <p14:sldIdLst/>
        </p14:section>
        <p14:section name="Challenges in the CS Workforce" id="{19118B23-D294-4956-BE05-E4228FC0DB16}">
          <p14:sldIdLst/>
        </p14:section>
        <p14:section name="Benefits of Workforce Frameworks" id="{D734C722-C145-4616-9E3C-4474125E4074}">
          <p14:sldIdLst/>
        </p14:section>
        <p14:section name="Workforce Frameworks" id="{3E542EDF-F7AA-4884-B690-54558599763D}">
          <p14:sldIdLst/>
        </p14:section>
        <p14:section name="ECSF (ENISA)" id="{78E6A433-0CDF-4BF8-90FA-09399ABDF98B}">
          <p14:sldIdLst/>
        </p14:section>
        <p14:section name="NCWF (NICE)" id="{5BA02526-EEEE-4201-979E-7F68D7E04451}">
          <p14:sldIdLst/>
        </p14:section>
        <p14:section name="DCWF (DoD &amp; NICE)" id="{241A067F-BCFB-4DEE-BA1A-31824470DA93}">
          <p14:sldIdLst/>
        </p14:section>
        <p14:section name="SFIA-8" id="{6BDC1ED6-FB09-41BC-A4B2-226C81B65536}">
          <p14:sldIdLst/>
        </p14:section>
        <p14:section name="The &quot;One-to-Many&quot; mapping" id="{A3181B21-7A47-47D1-9FF3-A963093941A1}">
          <p14:sldIdLst/>
        </p14:section>
        <p14:section name="Untitled Section" id="{2F66CC9D-3070-4FA0-A91B-44D8A5785858}">
          <p14:sldIdLst/>
        </p14:section>
        <p14:section name="Gather Feedback" id="{2A9A07BB-C04B-4F38-9FFD-5EF7DAED2A8E}">
          <p14:sldIdLst/>
        </p14:section>
        <p14:section name="Discuss Mapping Availability" id="{57A936BF-96C1-40EA-A054-7FAD1E61B306}">
          <p14:sldIdLst>
            <p14:sldId id="5473"/>
            <p14:sldId id="5474"/>
            <p14:sldId id="5476"/>
            <p14:sldId id="5477"/>
            <p14:sldId id="5478"/>
            <p14:sldId id="5480"/>
            <p14:sldId id="5484"/>
            <p14:sldId id="5498"/>
            <p14:sldId id="5485"/>
            <p14:sldId id="5486"/>
            <p14:sldId id="5487"/>
            <p14:sldId id="5488"/>
            <p14:sldId id="5489"/>
            <p14:sldId id="5490"/>
            <p14:sldId id="5492"/>
            <p14:sldId id="5493"/>
            <p14:sldId id="5494"/>
            <p14:sldId id="5495"/>
            <p14:sldId id="5496"/>
            <p14:sldId id="5497"/>
            <p14:sldId id="5469"/>
            <p14:sldId id="5470"/>
            <p14:sldId id="5471"/>
            <p14:sldId id="5472"/>
            <p14:sldId id="5481"/>
            <p14:sldId id="5482"/>
            <p14:sldId id="5483"/>
          </p14:sldIdLst>
        </p14:section>
        <p14:section name="Explore NIS2 Alignment" id="{2A09F691-6F6E-416B-8EE3-A585125BB59D}">
          <p14:sldIdLst>
            <p14:sldId id="5479"/>
          </p14:sldIdLst>
        </p14:section>
        <p14:section name="END OF WORKSHOP" id="{FCDAE046-E44D-4DA4-AEAB-F5BF9B980677}">
          <p14:sldIdLst/>
        </p14:section>
        <p14:section name="Untitled Section" id="{332FBDC7-F935-4FC2-977D-0D1663E86A2E}">
          <p14:sldIdLst/>
        </p14:section>
        <p14:section name="Boudreault on Competencies &amp; Capacities" id="{E23AF5ED-970D-428E-96CB-E1167AB98ED2}">
          <p14:sldIdLst/>
        </p14:section>
        <p14:section name="Levels of Competence" id="{80344415-76BF-4843-80C6-805D7DC9B62E}">
          <p14:sldIdLst/>
        </p14:section>
        <p14:section name="SFIA Mappings" id="{C4BDC2E2-18A2-42F7-A54E-E43BA966C8FD}">
          <p14:sldIdLst/>
        </p14:section>
        <p14:section name="WHY &amp; Methodology" id="{6CDF712D-2DED-4EC6-98A8-4E9DAAE9B5A6}">
          <p14:sldIdLst/>
        </p14:section>
        <p14:section name="The Rosetta stone" id="{3426E030-C2B5-4839-AF5B-9D2FDF38EBC2}">
          <p14:sldIdLst/>
        </p14:section>
        <p14:section name="Data-driven Career Pathways" id="{82712CDE-72C4-482A-A440-8C14C5E1FA27}">
          <p14:sldIdLst/>
        </p14:section>
        <p14:section name="ECSF" id="{D59C7D33-011E-42FB-BF3D-AC8E7C03B75F}">
          <p14:sldIdLst/>
        </p14:section>
        <p14:section name="NCWF-DCWF_Intro" id="{1C8B9EBB-E580-4822-9E5D-8F1371D849CD}">
          <p14:sldIdLst/>
        </p14:section>
        <p14:section name="NCWF-2017" id="{B0F3AFA7-6454-4651-85B8-AC938D292AD8}">
          <p14:sldIdLst/>
        </p14:section>
        <p14:section name="NCWF-2024" id="{93983F25-BBAF-4D7E-ADA0-33DF3860BAD4}">
          <p14:sldIdLst/>
        </p14:section>
        <p14:section name="DCWF" id="{B53F7533-FC36-4B1C-8AA9-A5BD584A20BE}">
          <p14:sldIdLst/>
        </p14:section>
        <p14:section name="Untitled Section" id="{1E19911B-F073-423E-9BA1-FE1968D58EAE}">
          <p14:sldIdLst/>
        </p14:section>
        <p14:section name="Reserve---" id="{69F85465-154D-413A-ACBA-7A659DDFE738}">
          <p14:sldIdLst/>
        </p14:section>
        <p14:section name="Untitled Section" id="{4E3ECCFF-8653-4017-A2C6-464A61797C2B}">
          <p14:sldIdLst/>
        </p14:section>
        <p14:section name="Untitled Section" id="{E20F8029-767E-450E-8A47-0E544D8D7CE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F9F"/>
    <a:srgbClr val="95C11F"/>
    <a:srgbClr val="F9B233"/>
    <a:srgbClr val="D9D9D9"/>
    <a:srgbClr val="FBB333"/>
    <a:srgbClr val="FFC000"/>
    <a:srgbClr val="CB0538"/>
    <a:srgbClr val="FFFFFF"/>
    <a:srgbClr val="CAE08D"/>
    <a:srgbClr val="F6D3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32677" autoAdjust="0"/>
    <p:restoredTop sz="96357" autoAdjust="0"/>
  </p:normalViewPr>
  <p:slideViewPr>
    <p:cSldViewPr snapToGrid="0">
      <p:cViewPr>
        <p:scale>
          <a:sx n="80" d="100"/>
          <a:sy n="80" d="100"/>
        </p:scale>
        <p:origin x="996" y="768"/>
      </p:cViewPr>
      <p:guideLst/>
    </p:cSldViewPr>
  </p:slideViewPr>
  <p:notesTextViewPr>
    <p:cViewPr>
      <p:scale>
        <a:sx n="3" d="2"/>
        <a:sy n="3" d="2"/>
      </p:scale>
      <p:origin x="0" y="0"/>
    </p:cViewPr>
  </p:notesTextViewPr>
  <p:sorterViewPr>
    <p:cViewPr>
      <p:scale>
        <a:sx n="30" d="100"/>
        <a:sy n="30" d="100"/>
      </p:scale>
      <p:origin x="0" y="-319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fr-BE"/>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5729F2-8401-4331-9F2C-5FF9B5CBF04A}" type="datetimeFigureOut">
              <a:rPr lang="fr-BE" smtClean="0"/>
              <a:t>07-01-26</a:t>
            </a:fld>
            <a:endParaRPr lang="fr-BE"/>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fr-BE"/>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fr-BE"/>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0B023523-BF56-40DB-B35B-6D18CCE07286}" type="slidenum">
              <a:rPr lang="fr-BE" smtClean="0"/>
              <a:t>‹#›</a:t>
            </a:fld>
            <a:endParaRPr lang="fr-BE"/>
          </a:p>
        </p:txBody>
      </p:sp>
    </p:spTree>
    <p:extLst>
      <p:ext uri="{BB962C8B-B14F-4D97-AF65-F5344CB8AC3E}">
        <p14:creationId xmlns:p14="http://schemas.microsoft.com/office/powerpoint/2010/main" val="2301723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AF27-AA17-0578-7297-644522EF2E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149C53-A81E-7E30-710F-6CFB2D3551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A9738D-E139-AE39-A07B-90C6B8D89AD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b="1" i="0" dirty="0">
                <a:solidFill>
                  <a:srgbClr val="FFFFFF"/>
                </a:solidFill>
                <a:effectLst/>
                <a:latin typeface="Source Sans Pro" panose="020B0503030403020204" pitchFamily="34" charset="0"/>
              </a:rPr>
              <a:t>Rôles en Cybersécurité: Classification par Couleur</a:t>
            </a:r>
          </a:p>
          <a:p>
            <a:r>
              <a:rPr lang="fr-BE" b="0" i="0" dirty="0">
                <a:solidFill>
                  <a:srgbClr val="222222"/>
                </a:solidFill>
                <a:effectLst/>
                <a:latin typeface="Helvetica" panose="020B0604020202020204" pitchFamily="34" charset="0"/>
              </a:rPr>
              <a:t>Ce diaporama offre une vue d'ensemble des différents rôles en cybersécurité, classés par couleur pour une meilleure compréhension de leurs fonctions et responsabilités.</a:t>
            </a:r>
          </a:p>
          <a:p>
            <a:endParaRPr lang="en-US" dirty="0"/>
          </a:p>
          <a:p>
            <a:r>
              <a:rPr lang="en-US" dirty="0"/>
              <a:t>Cybersecurity Roles: Color Classification</a:t>
            </a:r>
          </a:p>
          <a:p>
            <a:r>
              <a:rPr lang="en-US" dirty="0"/>
              <a:t>This slideshow provides an overview of various cybersecurity roles, classified by color and according to the Plan-Do-Check-Act (PDCA) cycle for a better understanding of their functions and responsibilities.</a:t>
            </a:r>
          </a:p>
          <a:p>
            <a:endParaRPr lang="en-US" dirty="0"/>
          </a:p>
          <a:p>
            <a:r>
              <a:rPr lang="en-US" dirty="0"/>
              <a:t>1. **Blue**: roles involving the management and implementation of security policies.</a:t>
            </a:r>
          </a:p>
          <a:p>
            <a:r>
              <a:rPr lang="en-US" dirty="0"/>
              <a:t>* Chief Information Security Officer (CISO)</a:t>
            </a:r>
          </a:p>
          <a:p>
            <a:r>
              <a:rPr lang="en-US" dirty="0"/>
              <a:t>* Cyber Legal, Policy &amp; Compliance Officer</a:t>
            </a:r>
          </a:p>
          <a:p>
            <a:r>
              <a:rPr lang="en-US" dirty="0"/>
              <a:t>* Cybersecurity Implementer</a:t>
            </a:r>
          </a:p>
          <a:p>
            <a:endParaRPr lang="en-US" dirty="0"/>
          </a:p>
          <a:p>
            <a:r>
              <a:rPr lang="en-US" dirty="0"/>
              <a:t>2. **Red**: roles requiring rapid intervention and incident management.</a:t>
            </a:r>
          </a:p>
          <a:p>
            <a:r>
              <a:rPr lang="en-US" dirty="0"/>
              <a:t>* Cyber Incident Responder</a:t>
            </a:r>
          </a:p>
          <a:p>
            <a:r>
              <a:rPr lang="en-US" dirty="0"/>
              <a:t>* Cybersecurity Risk Manager</a:t>
            </a:r>
          </a:p>
          <a:p>
            <a:r>
              <a:rPr lang="en-US" dirty="0"/>
              <a:t>* Penetration Tester</a:t>
            </a:r>
          </a:p>
          <a:p>
            <a:endParaRPr lang="en-US" dirty="0"/>
          </a:p>
          <a:p>
            <a:r>
              <a:rPr lang="en-US" dirty="0"/>
              <a:t>3. **Yellow**: analytical and research roles, often involved in threat assessment and auditing.</a:t>
            </a:r>
          </a:p>
          <a:p>
            <a:r>
              <a:rPr lang="en-US" dirty="0"/>
              <a:t>* Cyber Threat Intelligence Specialist</a:t>
            </a:r>
          </a:p>
          <a:p>
            <a:r>
              <a:rPr lang="en-US" dirty="0"/>
              <a:t>* Cybersecurity Auditor</a:t>
            </a:r>
          </a:p>
          <a:p>
            <a:r>
              <a:rPr lang="en-US" dirty="0"/>
              <a:t>* Digital Forensics Investigator</a:t>
            </a:r>
          </a:p>
          <a:p>
            <a:endParaRPr lang="en-US" dirty="0"/>
          </a:p>
          <a:p>
            <a:r>
              <a:rPr lang="en-US" dirty="0"/>
              <a:t>4. **Green**: roles in cybersecurity design, architecture, and education.</a:t>
            </a:r>
          </a:p>
          <a:p>
            <a:r>
              <a:rPr lang="en-US" dirty="0"/>
              <a:t>* Cybersecurity Architect</a:t>
            </a:r>
          </a:p>
          <a:p>
            <a:r>
              <a:rPr lang="en-US" dirty="0"/>
              <a:t>* Cybersecurity Educator</a:t>
            </a:r>
          </a:p>
          <a:p>
            <a:r>
              <a:rPr lang="en-US" dirty="0"/>
              <a:t>* Cybersecurity Researcher</a:t>
            </a:r>
            <a:endParaRPr lang="fr-BE" dirty="0"/>
          </a:p>
        </p:txBody>
      </p:sp>
      <p:sp>
        <p:nvSpPr>
          <p:cNvPr id="4" name="Slide Number Placeholder 3">
            <a:extLst>
              <a:ext uri="{FF2B5EF4-FFF2-40B4-BE49-F238E27FC236}">
                <a16:creationId xmlns:a16="http://schemas.microsoft.com/office/drawing/2014/main" id="{329C95DD-4FF5-4BCE-2A8E-0525FCF8126C}"/>
              </a:ext>
            </a:extLst>
          </p:cNvPr>
          <p:cNvSpPr>
            <a:spLocks noGrp="1"/>
          </p:cNvSpPr>
          <p:nvPr>
            <p:ph type="sldNum" sz="quarter" idx="5"/>
          </p:nvPr>
        </p:nvSpPr>
        <p:spPr/>
        <p:txBody>
          <a:bodyPr/>
          <a:lstStyle/>
          <a:p>
            <a:fld id="{0B023523-BF56-40DB-B35B-6D18CCE07286}" type="slidenum">
              <a:rPr lang="fr-BE" smtClean="0"/>
              <a:t>3</a:t>
            </a:fld>
            <a:endParaRPr lang="fr-BE"/>
          </a:p>
        </p:txBody>
      </p:sp>
    </p:spTree>
    <p:extLst>
      <p:ext uri="{BB962C8B-B14F-4D97-AF65-F5344CB8AC3E}">
        <p14:creationId xmlns:p14="http://schemas.microsoft.com/office/powerpoint/2010/main" val="3113097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2337E-C25F-D13C-2692-83197DF58E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F5B090-7439-A32D-F72E-B607461BDC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68062E-4033-D94F-DB18-50882CF73F16}"/>
              </a:ext>
            </a:extLst>
          </p:cNvPr>
          <p:cNvSpPr>
            <a:spLocks noGrp="1"/>
          </p:cNvSpPr>
          <p:nvPr>
            <p:ph type="body" idx="1"/>
          </p:nvPr>
        </p:nvSpPr>
        <p:spPr/>
        <p:txBody>
          <a:bodyPr/>
          <a:lstStyle/>
          <a:p>
            <a:r>
              <a:rPr lang="fr-BE" dirty="0"/>
              <a:t>https://sfia-online.org/en/assets/cybersecurity/enisa-profiles-mapped-to-sfia-skills.pdf</a:t>
            </a:r>
          </a:p>
        </p:txBody>
      </p:sp>
      <p:sp>
        <p:nvSpPr>
          <p:cNvPr id="4" name="Slide Number Placeholder 3">
            <a:extLst>
              <a:ext uri="{FF2B5EF4-FFF2-40B4-BE49-F238E27FC236}">
                <a16:creationId xmlns:a16="http://schemas.microsoft.com/office/drawing/2014/main" id="{2BB7900A-6EE3-4775-8FB7-A9337FF1EFAD}"/>
              </a:ext>
            </a:extLst>
          </p:cNvPr>
          <p:cNvSpPr>
            <a:spLocks noGrp="1"/>
          </p:cNvSpPr>
          <p:nvPr>
            <p:ph type="sldNum" sz="quarter" idx="5"/>
          </p:nvPr>
        </p:nvSpPr>
        <p:spPr/>
        <p:txBody>
          <a:bodyPr/>
          <a:lstStyle/>
          <a:p>
            <a:fld id="{0B023523-BF56-40DB-B35B-6D18CCE07286}" type="slidenum">
              <a:rPr lang="fr-BE" smtClean="0"/>
              <a:t>5</a:t>
            </a:fld>
            <a:endParaRPr lang="fr-BE"/>
          </a:p>
        </p:txBody>
      </p:sp>
    </p:spTree>
    <p:extLst>
      <p:ext uri="{BB962C8B-B14F-4D97-AF65-F5344CB8AC3E}">
        <p14:creationId xmlns:p14="http://schemas.microsoft.com/office/powerpoint/2010/main" val="4175012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A05E1-8B07-FBC3-52FC-6EDFCADE41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0698EB-2811-89CA-662C-51028492B5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7C07AE-B965-FB2A-65AE-F94DD7BBFCD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b="1" i="0" dirty="0">
                <a:solidFill>
                  <a:srgbClr val="FFFFFF"/>
                </a:solidFill>
                <a:effectLst/>
                <a:latin typeface="Source Sans Pro" panose="020B0503030403020204" pitchFamily="34" charset="0"/>
              </a:rPr>
              <a:t>Rôles en Cybersécurité: Classification par Couleur</a:t>
            </a:r>
          </a:p>
          <a:p>
            <a:r>
              <a:rPr lang="fr-BE" b="0" i="0" dirty="0">
                <a:solidFill>
                  <a:srgbClr val="222222"/>
                </a:solidFill>
                <a:effectLst/>
                <a:latin typeface="Helvetica" panose="020B0604020202020204" pitchFamily="34" charset="0"/>
              </a:rPr>
              <a:t>Ce diaporama offre une vue d'ensemble des différents rôles en cybersécurité, classés par couleur pour une meilleure compréhension de leurs fonctions et responsabilités.</a:t>
            </a:r>
          </a:p>
          <a:p>
            <a:endParaRPr lang="en-US" dirty="0"/>
          </a:p>
          <a:p>
            <a:r>
              <a:rPr lang="en-US" dirty="0"/>
              <a:t>Cybersecurity Roles: Color Classification</a:t>
            </a:r>
          </a:p>
          <a:p>
            <a:r>
              <a:rPr lang="en-US" dirty="0"/>
              <a:t>This slideshow provides an overview of various cybersecurity roles, classified by color and according to the Plan-Do-Check-Act (PDCA) cycle for a better understanding of their functions and responsibilities.</a:t>
            </a:r>
          </a:p>
          <a:p>
            <a:endParaRPr lang="en-US" dirty="0"/>
          </a:p>
          <a:p>
            <a:r>
              <a:rPr lang="en-US" dirty="0"/>
              <a:t>1. **Blue**: roles involving the management and implementation of security policies.</a:t>
            </a:r>
          </a:p>
          <a:p>
            <a:r>
              <a:rPr lang="en-US" dirty="0"/>
              <a:t>* Chief Information Security Officer (CISO)</a:t>
            </a:r>
          </a:p>
          <a:p>
            <a:r>
              <a:rPr lang="en-US" dirty="0"/>
              <a:t>* Cyber Legal, Policy &amp; Compliance Officer</a:t>
            </a:r>
          </a:p>
          <a:p>
            <a:r>
              <a:rPr lang="en-US" dirty="0"/>
              <a:t>* Cybersecurity Implementer</a:t>
            </a:r>
          </a:p>
          <a:p>
            <a:endParaRPr lang="en-US" dirty="0"/>
          </a:p>
          <a:p>
            <a:r>
              <a:rPr lang="en-US" dirty="0"/>
              <a:t>2. **Red**: roles requiring rapid intervention and incident management.</a:t>
            </a:r>
          </a:p>
          <a:p>
            <a:r>
              <a:rPr lang="en-US" dirty="0"/>
              <a:t>* Cyber Incident Responder</a:t>
            </a:r>
          </a:p>
          <a:p>
            <a:r>
              <a:rPr lang="en-US" dirty="0"/>
              <a:t>* Cybersecurity Risk Manager</a:t>
            </a:r>
          </a:p>
          <a:p>
            <a:r>
              <a:rPr lang="en-US" dirty="0"/>
              <a:t>* Penetration Tester</a:t>
            </a:r>
          </a:p>
          <a:p>
            <a:endParaRPr lang="en-US" dirty="0"/>
          </a:p>
          <a:p>
            <a:r>
              <a:rPr lang="en-US" dirty="0"/>
              <a:t>3. **Yellow**: analytical and research roles, often involved in threat assessment and auditing.</a:t>
            </a:r>
          </a:p>
          <a:p>
            <a:r>
              <a:rPr lang="en-US" dirty="0"/>
              <a:t>* Cyber Threat Intelligence Specialist</a:t>
            </a:r>
          </a:p>
          <a:p>
            <a:r>
              <a:rPr lang="en-US" dirty="0"/>
              <a:t>* Cybersecurity Auditor</a:t>
            </a:r>
          </a:p>
          <a:p>
            <a:r>
              <a:rPr lang="en-US" dirty="0"/>
              <a:t>* Digital Forensics Investigator</a:t>
            </a:r>
          </a:p>
          <a:p>
            <a:endParaRPr lang="en-US" dirty="0"/>
          </a:p>
          <a:p>
            <a:r>
              <a:rPr lang="en-US" dirty="0"/>
              <a:t>4. **Green**: roles in cybersecurity design, architecture, and education.</a:t>
            </a:r>
          </a:p>
          <a:p>
            <a:r>
              <a:rPr lang="en-US" dirty="0"/>
              <a:t>* Cybersecurity Architect</a:t>
            </a:r>
          </a:p>
          <a:p>
            <a:r>
              <a:rPr lang="en-US" dirty="0"/>
              <a:t>* Cybersecurity Educator</a:t>
            </a:r>
          </a:p>
          <a:p>
            <a:r>
              <a:rPr lang="en-US" dirty="0"/>
              <a:t>* Cybersecurity Researcher</a:t>
            </a:r>
            <a:endParaRPr lang="fr-BE" dirty="0"/>
          </a:p>
        </p:txBody>
      </p:sp>
      <p:sp>
        <p:nvSpPr>
          <p:cNvPr id="4" name="Slide Number Placeholder 3">
            <a:extLst>
              <a:ext uri="{FF2B5EF4-FFF2-40B4-BE49-F238E27FC236}">
                <a16:creationId xmlns:a16="http://schemas.microsoft.com/office/drawing/2014/main" id="{F3AA88C6-AD9A-97AE-F6D4-A26AE503A20E}"/>
              </a:ext>
            </a:extLst>
          </p:cNvPr>
          <p:cNvSpPr>
            <a:spLocks noGrp="1"/>
          </p:cNvSpPr>
          <p:nvPr>
            <p:ph type="sldNum" sz="quarter" idx="5"/>
          </p:nvPr>
        </p:nvSpPr>
        <p:spPr/>
        <p:txBody>
          <a:bodyPr/>
          <a:lstStyle/>
          <a:p>
            <a:fld id="{0B023523-BF56-40DB-B35B-6D18CCE07286}" type="slidenum">
              <a:rPr lang="fr-BE" smtClean="0"/>
              <a:t>8</a:t>
            </a:fld>
            <a:endParaRPr lang="fr-BE"/>
          </a:p>
        </p:txBody>
      </p:sp>
    </p:spTree>
    <p:extLst>
      <p:ext uri="{BB962C8B-B14F-4D97-AF65-F5344CB8AC3E}">
        <p14:creationId xmlns:p14="http://schemas.microsoft.com/office/powerpoint/2010/main" val="477127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4301B-DFE0-E421-E8DA-F16B19461D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BE"/>
          </a:p>
        </p:txBody>
      </p:sp>
      <p:sp>
        <p:nvSpPr>
          <p:cNvPr id="3" name="Subtitle 2">
            <a:extLst>
              <a:ext uri="{FF2B5EF4-FFF2-40B4-BE49-F238E27FC236}">
                <a16:creationId xmlns:a16="http://schemas.microsoft.com/office/drawing/2014/main" id="{6F4EAED1-DCEB-A629-C842-8463E67FDA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BE"/>
          </a:p>
        </p:txBody>
      </p:sp>
      <p:sp>
        <p:nvSpPr>
          <p:cNvPr id="4" name="Date Placeholder 3">
            <a:extLst>
              <a:ext uri="{FF2B5EF4-FFF2-40B4-BE49-F238E27FC236}">
                <a16:creationId xmlns:a16="http://schemas.microsoft.com/office/drawing/2014/main" id="{84AEA90D-2130-84E6-5BD0-B6D54FFADE07}"/>
              </a:ext>
            </a:extLst>
          </p:cNvPr>
          <p:cNvSpPr>
            <a:spLocks noGrp="1"/>
          </p:cNvSpPr>
          <p:nvPr>
            <p:ph type="dt" sz="half" idx="10"/>
          </p:nvPr>
        </p:nvSpPr>
        <p:spPr/>
        <p:txBody>
          <a:bodyPr/>
          <a:lstStyle/>
          <a:p>
            <a:fld id="{50E2292C-AB8A-4021-8B76-1EF2CE942955}" type="datetimeFigureOut">
              <a:rPr lang="fr-BE" smtClean="0"/>
              <a:t>07-01-26</a:t>
            </a:fld>
            <a:endParaRPr lang="fr-BE"/>
          </a:p>
        </p:txBody>
      </p:sp>
      <p:sp>
        <p:nvSpPr>
          <p:cNvPr id="5" name="Footer Placeholder 4">
            <a:extLst>
              <a:ext uri="{FF2B5EF4-FFF2-40B4-BE49-F238E27FC236}">
                <a16:creationId xmlns:a16="http://schemas.microsoft.com/office/drawing/2014/main" id="{CF8DD8E1-6F55-E071-1BD5-348B0C1402E5}"/>
              </a:ext>
            </a:extLst>
          </p:cNvPr>
          <p:cNvSpPr>
            <a:spLocks noGrp="1"/>
          </p:cNvSpPr>
          <p:nvPr>
            <p:ph type="ftr" sz="quarter" idx="11"/>
          </p:nvPr>
        </p:nvSpPr>
        <p:spPr/>
        <p:txBody>
          <a:bodyPr/>
          <a:lstStyle/>
          <a:p>
            <a:endParaRPr lang="fr-BE"/>
          </a:p>
        </p:txBody>
      </p:sp>
      <p:sp>
        <p:nvSpPr>
          <p:cNvPr id="6" name="Slide Number Placeholder 5">
            <a:extLst>
              <a:ext uri="{FF2B5EF4-FFF2-40B4-BE49-F238E27FC236}">
                <a16:creationId xmlns:a16="http://schemas.microsoft.com/office/drawing/2014/main" id="{CD3A07E9-4032-C6A0-18AD-5B8230B629E5}"/>
              </a:ext>
            </a:extLst>
          </p:cNvPr>
          <p:cNvSpPr>
            <a:spLocks noGrp="1"/>
          </p:cNvSpPr>
          <p:nvPr>
            <p:ph type="sldNum" sz="quarter" idx="12"/>
          </p:nvPr>
        </p:nvSpPr>
        <p:spPr/>
        <p:txBody>
          <a:bodyPr/>
          <a:lstStyle/>
          <a:p>
            <a:fld id="{B5458D99-9B44-4E07-957B-3FA8AEE65E51}" type="slidenum">
              <a:rPr lang="fr-BE" smtClean="0"/>
              <a:t>‹#›</a:t>
            </a:fld>
            <a:endParaRPr lang="fr-BE"/>
          </a:p>
        </p:txBody>
      </p:sp>
    </p:spTree>
    <p:extLst>
      <p:ext uri="{BB962C8B-B14F-4D97-AF65-F5344CB8AC3E}">
        <p14:creationId xmlns:p14="http://schemas.microsoft.com/office/powerpoint/2010/main" val="1958774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6DAB3-C2BA-B03C-245D-1047DC574C29}"/>
              </a:ext>
            </a:extLst>
          </p:cNvPr>
          <p:cNvSpPr>
            <a:spLocks noGrp="1"/>
          </p:cNvSpPr>
          <p:nvPr>
            <p:ph type="title"/>
          </p:nvPr>
        </p:nvSpPr>
        <p:spPr/>
        <p:txBody>
          <a:bodyPr/>
          <a:lstStyle/>
          <a:p>
            <a:r>
              <a:rPr lang="en-US"/>
              <a:t>Click to edit Master title style</a:t>
            </a:r>
            <a:endParaRPr lang="fr-BE"/>
          </a:p>
        </p:txBody>
      </p:sp>
      <p:sp>
        <p:nvSpPr>
          <p:cNvPr id="3" name="Content Placeholder 2">
            <a:extLst>
              <a:ext uri="{FF2B5EF4-FFF2-40B4-BE49-F238E27FC236}">
                <a16:creationId xmlns:a16="http://schemas.microsoft.com/office/drawing/2014/main" id="{3D709336-3000-650D-2C52-01B9A0B6BC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4" name="Date Placeholder 3">
            <a:extLst>
              <a:ext uri="{FF2B5EF4-FFF2-40B4-BE49-F238E27FC236}">
                <a16:creationId xmlns:a16="http://schemas.microsoft.com/office/drawing/2014/main" id="{B3CFCC62-EF5F-759E-6ACC-485A96EFC142}"/>
              </a:ext>
            </a:extLst>
          </p:cNvPr>
          <p:cNvSpPr>
            <a:spLocks noGrp="1"/>
          </p:cNvSpPr>
          <p:nvPr>
            <p:ph type="dt" sz="half" idx="10"/>
          </p:nvPr>
        </p:nvSpPr>
        <p:spPr/>
        <p:txBody>
          <a:bodyPr/>
          <a:lstStyle/>
          <a:p>
            <a:fld id="{50E2292C-AB8A-4021-8B76-1EF2CE942955}" type="datetimeFigureOut">
              <a:rPr lang="fr-BE" smtClean="0"/>
              <a:t>07-01-26</a:t>
            </a:fld>
            <a:endParaRPr lang="fr-BE"/>
          </a:p>
        </p:txBody>
      </p:sp>
      <p:sp>
        <p:nvSpPr>
          <p:cNvPr id="5" name="Footer Placeholder 4">
            <a:extLst>
              <a:ext uri="{FF2B5EF4-FFF2-40B4-BE49-F238E27FC236}">
                <a16:creationId xmlns:a16="http://schemas.microsoft.com/office/drawing/2014/main" id="{976F3A29-C419-03B6-C9DC-68F21352A492}"/>
              </a:ext>
            </a:extLst>
          </p:cNvPr>
          <p:cNvSpPr>
            <a:spLocks noGrp="1"/>
          </p:cNvSpPr>
          <p:nvPr>
            <p:ph type="ftr" sz="quarter" idx="11"/>
          </p:nvPr>
        </p:nvSpPr>
        <p:spPr/>
        <p:txBody>
          <a:bodyPr/>
          <a:lstStyle/>
          <a:p>
            <a:endParaRPr lang="fr-BE"/>
          </a:p>
        </p:txBody>
      </p:sp>
      <p:sp>
        <p:nvSpPr>
          <p:cNvPr id="6" name="Slide Number Placeholder 5">
            <a:extLst>
              <a:ext uri="{FF2B5EF4-FFF2-40B4-BE49-F238E27FC236}">
                <a16:creationId xmlns:a16="http://schemas.microsoft.com/office/drawing/2014/main" id="{52FEE106-72C7-67B0-52D6-3D2EBCF21E31}"/>
              </a:ext>
            </a:extLst>
          </p:cNvPr>
          <p:cNvSpPr>
            <a:spLocks noGrp="1"/>
          </p:cNvSpPr>
          <p:nvPr>
            <p:ph type="sldNum" sz="quarter" idx="12"/>
          </p:nvPr>
        </p:nvSpPr>
        <p:spPr/>
        <p:txBody>
          <a:bodyPr/>
          <a:lstStyle/>
          <a:p>
            <a:fld id="{B5458D99-9B44-4E07-957B-3FA8AEE65E51}" type="slidenum">
              <a:rPr lang="fr-BE" smtClean="0"/>
              <a:t>‹#›</a:t>
            </a:fld>
            <a:endParaRPr lang="fr-BE"/>
          </a:p>
        </p:txBody>
      </p:sp>
    </p:spTree>
    <p:extLst>
      <p:ext uri="{BB962C8B-B14F-4D97-AF65-F5344CB8AC3E}">
        <p14:creationId xmlns:p14="http://schemas.microsoft.com/office/powerpoint/2010/main" val="12297340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6B54C-ED98-D302-2AFC-BAB984A97F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BE"/>
          </a:p>
        </p:txBody>
      </p:sp>
      <p:sp>
        <p:nvSpPr>
          <p:cNvPr id="3" name="Text Placeholder 2">
            <a:extLst>
              <a:ext uri="{FF2B5EF4-FFF2-40B4-BE49-F238E27FC236}">
                <a16:creationId xmlns:a16="http://schemas.microsoft.com/office/drawing/2014/main" id="{FC085A3B-EB31-40CB-B941-4445842375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C3BA7D-6D6A-27D5-803F-3A9B3AFB2CE6}"/>
              </a:ext>
            </a:extLst>
          </p:cNvPr>
          <p:cNvSpPr>
            <a:spLocks noGrp="1"/>
          </p:cNvSpPr>
          <p:nvPr>
            <p:ph type="dt" sz="half" idx="10"/>
          </p:nvPr>
        </p:nvSpPr>
        <p:spPr/>
        <p:txBody>
          <a:bodyPr/>
          <a:lstStyle/>
          <a:p>
            <a:fld id="{50E2292C-AB8A-4021-8B76-1EF2CE942955}" type="datetimeFigureOut">
              <a:rPr lang="fr-BE" smtClean="0"/>
              <a:t>07-01-26</a:t>
            </a:fld>
            <a:endParaRPr lang="fr-BE"/>
          </a:p>
        </p:txBody>
      </p:sp>
      <p:sp>
        <p:nvSpPr>
          <p:cNvPr id="5" name="Footer Placeholder 4">
            <a:extLst>
              <a:ext uri="{FF2B5EF4-FFF2-40B4-BE49-F238E27FC236}">
                <a16:creationId xmlns:a16="http://schemas.microsoft.com/office/drawing/2014/main" id="{E5CC60C9-A6CE-65F7-CD62-1AA127EFE0EA}"/>
              </a:ext>
            </a:extLst>
          </p:cNvPr>
          <p:cNvSpPr>
            <a:spLocks noGrp="1"/>
          </p:cNvSpPr>
          <p:nvPr>
            <p:ph type="ftr" sz="quarter" idx="11"/>
          </p:nvPr>
        </p:nvSpPr>
        <p:spPr/>
        <p:txBody>
          <a:bodyPr/>
          <a:lstStyle/>
          <a:p>
            <a:endParaRPr lang="fr-BE"/>
          </a:p>
        </p:txBody>
      </p:sp>
      <p:sp>
        <p:nvSpPr>
          <p:cNvPr id="6" name="Slide Number Placeholder 5">
            <a:extLst>
              <a:ext uri="{FF2B5EF4-FFF2-40B4-BE49-F238E27FC236}">
                <a16:creationId xmlns:a16="http://schemas.microsoft.com/office/drawing/2014/main" id="{9DB4CDDA-5745-BAE9-A40D-807920934F66}"/>
              </a:ext>
            </a:extLst>
          </p:cNvPr>
          <p:cNvSpPr>
            <a:spLocks noGrp="1"/>
          </p:cNvSpPr>
          <p:nvPr>
            <p:ph type="sldNum" sz="quarter" idx="12"/>
          </p:nvPr>
        </p:nvSpPr>
        <p:spPr/>
        <p:txBody>
          <a:bodyPr/>
          <a:lstStyle/>
          <a:p>
            <a:fld id="{B5458D99-9B44-4E07-957B-3FA8AEE65E51}" type="slidenum">
              <a:rPr lang="fr-BE" smtClean="0"/>
              <a:t>‹#›</a:t>
            </a:fld>
            <a:endParaRPr lang="fr-BE"/>
          </a:p>
        </p:txBody>
      </p:sp>
    </p:spTree>
    <p:extLst>
      <p:ext uri="{BB962C8B-B14F-4D97-AF65-F5344CB8AC3E}">
        <p14:creationId xmlns:p14="http://schemas.microsoft.com/office/powerpoint/2010/main" val="1362072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66F6E-BB41-0A5B-012F-111B243614A7}"/>
              </a:ext>
            </a:extLst>
          </p:cNvPr>
          <p:cNvSpPr>
            <a:spLocks noGrp="1"/>
          </p:cNvSpPr>
          <p:nvPr>
            <p:ph type="title"/>
          </p:nvPr>
        </p:nvSpPr>
        <p:spPr/>
        <p:txBody>
          <a:bodyPr/>
          <a:lstStyle/>
          <a:p>
            <a:r>
              <a:rPr lang="en-US"/>
              <a:t>Click to edit Master title style</a:t>
            </a:r>
            <a:endParaRPr lang="fr-BE"/>
          </a:p>
        </p:txBody>
      </p:sp>
      <p:sp>
        <p:nvSpPr>
          <p:cNvPr id="3" name="Content Placeholder 2">
            <a:extLst>
              <a:ext uri="{FF2B5EF4-FFF2-40B4-BE49-F238E27FC236}">
                <a16:creationId xmlns:a16="http://schemas.microsoft.com/office/drawing/2014/main" id="{54D2AA13-5E1B-01A7-FEA1-160D42598F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4" name="Content Placeholder 3">
            <a:extLst>
              <a:ext uri="{FF2B5EF4-FFF2-40B4-BE49-F238E27FC236}">
                <a16:creationId xmlns:a16="http://schemas.microsoft.com/office/drawing/2014/main" id="{D3042CCE-FCAE-502C-50D3-CAE85FD7EC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5" name="Date Placeholder 4">
            <a:extLst>
              <a:ext uri="{FF2B5EF4-FFF2-40B4-BE49-F238E27FC236}">
                <a16:creationId xmlns:a16="http://schemas.microsoft.com/office/drawing/2014/main" id="{F8A6EF12-C183-7308-7974-1EEC391C0B4F}"/>
              </a:ext>
            </a:extLst>
          </p:cNvPr>
          <p:cNvSpPr>
            <a:spLocks noGrp="1"/>
          </p:cNvSpPr>
          <p:nvPr>
            <p:ph type="dt" sz="half" idx="10"/>
          </p:nvPr>
        </p:nvSpPr>
        <p:spPr/>
        <p:txBody>
          <a:bodyPr/>
          <a:lstStyle/>
          <a:p>
            <a:fld id="{50E2292C-AB8A-4021-8B76-1EF2CE942955}" type="datetimeFigureOut">
              <a:rPr lang="fr-BE" smtClean="0"/>
              <a:t>07-01-26</a:t>
            </a:fld>
            <a:endParaRPr lang="fr-BE"/>
          </a:p>
        </p:txBody>
      </p:sp>
      <p:sp>
        <p:nvSpPr>
          <p:cNvPr id="6" name="Footer Placeholder 5">
            <a:extLst>
              <a:ext uri="{FF2B5EF4-FFF2-40B4-BE49-F238E27FC236}">
                <a16:creationId xmlns:a16="http://schemas.microsoft.com/office/drawing/2014/main" id="{73D36E03-294E-9D4D-2D5B-1F9D3403248A}"/>
              </a:ext>
            </a:extLst>
          </p:cNvPr>
          <p:cNvSpPr>
            <a:spLocks noGrp="1"/>
          </p:cNvSpPr>
          <p:nvPr>
            <p:ph type="ftr" sz="quarter" idx="11"/>
          </p:nvPr>
        </p:nvSpPr>
        <p:spPr/>
        <p:txBody>
          <a:bodyPr/>
          <a:lstStyle/>
          <a:p>
            <a:endParaRPr lang="fr-BE"/>
          </a:p>
        </p:txBody>
      </p:sp>
      <p:sp>
        <p:nvSpPr>
          <p:cNvPr id="7" name="Slide Number Placeholder 6">
            <a:extLst>
              <a:ext uri="{FF2B5EF4-FFF2-40B4-BE49-F238E27FC236}">
                <a16:creationId xmlns:a16="http://schemas.microsoft.com/office/drawing/2014/main" id="{94FF2EF2-0ED7-B7A5-CB2C-C7BBB9852D40}"/>
              </a:ext>
            </a:extLst>
          </p:cNvPr>
          <p:cNvSpPr>
            <a:spLocks noGrp="1"/>
          </p:cNvSpPr>
          <p:nvPr>
            <p:ph type="sldNum" sz="quarter" idx="12"/>
          </p:nvPr>
        </p:nvSpPr>
        <p:spPr/>
        <p:txBody>
          <a:bodyPr/>
          <a:lstStyle/>
          <a:p>
            <a:fld id="{B5458D99-9B44-4E07-957B-3FA8AEE65E51}" type="slidenum">
              <a:rPr lang="fr-BE" smtClean="0"/>
              <a:t>‹#›</a:t>
            </a:fld>
            <a:endParaRPr lang="fr-BE"/>
          </a:p>
        </p:txBody>
      </p:sp>
    </p:spTree>
    <p:extLst>
      <p:ext uri="{BB962C8B-B14F-4D97-AF65-F5344CB8AC3E}">
        <p14:creationId xmlns:p14="http://schemas.microsoft.com/office/powerpoint/2010/main" val="2211798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78F3B-126A-F757-8971-D1DF598BDE8D}"/>
              </a:ext>
            </a:extLst>
          </p:cNvPr>
          <p:cNvSpPr>
            <a:spLocks noGrp="1"/>
          </p:cNvSpPr>
          <p:nvPr>
            <p:ph type="title"/>
          </p:nvPr>
        </p:nvSpPr>
        <p:spPr>
          <a:xfrm>
            <a:off x="839788" y="365125"/>
            <a:ext cx="10515600" cy="1325563"/>
          </a:xfrm>
        </p:spPr>
        <p:txBody>
          <a:bodyPr/>
          <a:lstStyle/>
          <a:p>
            <a:r>
              <a:rPr lang="en-US"/>
              <a:t>Click to edit Master title style</a:t>
            </a:r>
            <a:endParaRPr lang="fr-BE"/>
          </a:p>
        </p:txBody>
      </p:sp>
      <p:sp>
        <p:nvSpPr>
          <p:cNvPr id="3" name="Text Placeholder 2">
            <a:extLst>
              <a:ext uri="{FF2B5EF4-FFF2-40B4-BE49-F238E27FC236}">
                <a16:creationId xmlns:a16="http://schemas.microsoft.com/office/drawing/2014/main" id="{05D5885D-671C-277E-3065-B48D482B5E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AEAF75-5E81-2490-7CB3-2F1A04481CD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5" name="Text Placeholder 4">
            <a:extLst>
              <a:ext uri="{FF2B5EF4-FFF2-40B4-BE49-F238E27FC236}">
                <a16:creationId xmlns:a16="http://schemas.microsoft.com/office/drawing/2014/main" id="{FD5DF039-96FF-C718-BDD1-955505FF1D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53EE23-B9D1-98BE-C3B0-BCA3EE61B6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7" name="Date Placeholder 6">
            <a:extLst>
              <a:ext uri="{FF2B5EF4-FFF2-40B4-BE49-F238E27FC236}">
                <a16:creationId xmlns:a16="http://schemas.microsoft.com/office/drawing/2014/main" id="{DBAE61B2-FC6B-C902-948C-9144A74376AF}"/>
              </a:ext>
            </a:extLst>
          </p:cNvPr>
          <p:cNvSpPr>
            <a:spLocks noGrp="1"/>
          </p:cNvSpPr>
          <p:nvPr>
            <p:ph type="dt" sz="half" idx="10"/>
          </p:nvPr>
        </p:nvSpPr>
        <p:spPr/>
        <p:txBody>
          <a:bodyPr/>
          <a:lstStyle/>
          <a:p>
            <a:fld id="{50E2292C-AB8A-4021-8B76-1EF2CE942955}" type="datetimeFigureOut">
              <a:rPr lang="fr-BE" smtClean="0"/>
              <a:t>07-01-26</a:t>
            </a:fld>
            <a:endParaRPr lang="fr-BE"/>
          </a:p>
        </p:txBody>
      </p:sp>
      <p:sp>
        <p:nvSpPr>
          <p:cNvPr id="8" name="Footer Placeholder 7">
            <a:extLst>
              <a:ext uri="{FF2B5EF4-FFF2-40B4-BE49-F238E27FC236}">
                <a16:creationId xmlns:a16="http://schemas.microsoft.com/office/drawing/2014/main" id="{834BCF43-3411-462D-D5A7-9F8C6592A6A7}"/>
              </a:ext>
            </a:extLst>
          </p:cNvPr>
          <p:cNvSpPr>
            <a:spLocks noGrp="1"/>
          </p:cNvSpPr>
          <p:nvPr>
            <p:ph type="ftr" sz="quarter" idx="11"/>
          </p:nvPr>
        </p:nvSpPr>
        <p:spPr/>
        <p:txBody>
          <a:bodyPr/>
          <a:lstStyle/>
          <a:p>
            <a:endParaRPr lang="fr-BE"/>
          </a:p>
        </p:txBody>
      </p:sp>
      <p:sp>
        <p:nvSpPr>
          <p:cNvPr id="9" name="Slide Number Placeholder 8">
            <a:extLst>
              <a:ext uri="{FF2B5EF4-FFF2-40B4-BE49-F238E27FC236}">
                <a16:creationId xmlns:a16="http://schemas.microsoft.com/office/drawing/2014/main" id="{108954FD-FF19-2C1D-7F20-EC8F63C0F7F9}"/>
              </a:ext>
            </a:extLst>
          </p:cNvPr>
          <p:cNvSpPr>
            <a:spLocks noGrp="1"/>
          </p:cNvSpPr>
          <p:nvPr>
            <p:ph type="sldNum" sz="quarter" idx="12"/>
          </p:nvPr>
        </p:nvSpPr>
        <p:spPr/>
        <p:txBody>
          <a:bodyPr/>
          <a:lstStyle/>
          <a:p>
            <a:fld id="{B5458D99-9B44-4E07-957B-3FA8AEE65E51}" type="slidenum">
              <a:rPr lang="fr-BE" smtClean="0"/>
              <a:t>‹#›</a:t>
            </a:fld>
            <a:endParaRPr lang="fr-BE"/>
          </a:p>
        </p:txBody>
      </p:sp>
    </p:spTree>
    <p:extLst>
      <p:ext uri="{BB962C8B-B14F-4D97-AF65-F5344CB8AC3E}">
        <p14:creationId xmlns:p14="http://schemas.microsoft.com/office/powerpoint/2010/main" val="2329594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257BA-2DA7-E387-2904-4AD2CB2895F7}"/>
              </a:ext>
            </a:extLst>
          </p:cNvPr>
          <p:cNvSpPr>
            <a:spLocks noGrp="1"/>
          </p:cNvSpPr>
          <p:nvPr>
            <p:ph type="title"/>
          </p:nvPr>
        </p:nvSpPr>
        <p:spPr/>
        <p:txBody>
          <a:bodyPr/>
          <a:lstStyle/>
          <a:p>
            <a:r>
              <a:rPr lang="en-US"/>
              <a:t>Click to edit Master title style</a:t>
            </a:r>
            <a:endParaRPr lang="fr-BE"/>
          </a:p>
        </p:txBody>
      </p:sp>
      <p:sp>
        <p:nvSpPr>
          <p:cNvPr id="3" name="Date Placeholder 2">
            <a:extLst>
              <a:ext uri="{FF2B5EF4-FFF2-40B4-BE49-F238E27FC236}">
                <a16:creationId xmlns:a16="http://schemas.microsoft.com/office/drawing/2014/main" id="{883327BB-A34C-F11D-0F10-9C0A6D1412EA}"/>
              </a:ext>
            </a:extLst>
          </p:cNvPr>
          <p:cNvSpPr>
            <a:spLocks noGrp="1"/>
          </p:cNvSpPr>
          <p:nvPr>
            <p:ph type="dt" sz="half" idx="10"/>
          </p:nvPr>
        </p:nvSpPr>
        <p:spPr/>
        <p:txBody>
          <a:bodyPr/>
          <a:lstStyle/>
          <a:p>
            <a:fld id="{50E2292C-AB8A-4021-8B76-1EF2CE942955}" type="datetimeFigureOut">
              <a:rPr lang="fr-BE" smtClean="0"/>
              <a:t>07-01-26</a:t>
            </a:fld>
            <a:endParaRPr lang="fr-BE"/>
          </a:p>
        </p:txBody>
      </p:sp>
      <p:sp>
        <p:nvSpPr>
          <p:cNvPr id="4" name="Footer Placeholder 3">
            <a:extLst>
              <a:ext uri="{FF2B5EF4-FFF2-40B4-BE49-F238E27FC236}">
                <a16:creationId xmlns:a16="http://schemas.microsoft.com/office/drawing/2014/main" id="{ACE4F581-2DE8-E7A7-688B-A70EB26C5787}"/>
              </a:ext>
            </a:extLst>
          </p:cNvPr>
          <p:cNvSpPr>
            <a:spLocks noGrp="1"/>
          </p:cNvSpPr>
          <p:nvPr>
            <p:ph type="ftr" sz="quarter" idx="11"/>
          </p:nvPr>
        </p:nvSpPr>
        <p:spPr/>
        <p:txBody>
          <a:bodyPr/>
          <a:lstStyle/>
          <a:p>
            <a:endParaRPr lang="fr-BE"/>
          </a:p>
        </p:txBody>
      </p:sp>
      <p:sp>
        <p:nvSpPr>
          <p:cNvPr id="5" name="Slide Number Placeholder 4">
            <a:extLst>
              <a:ext uri="{FF2B5EF4-FFF2-40B4-BE49-F238E27FC236}">
                <a16:creationId xmlns:a16="http://schemas.microsoft.com/office/drawing/2014/main" id="{9C3E7D17-0ED0-7B4B-416E-ACC456154C10}"/>
              </a:ext>
            </a:extLst>
          </p:cNvPr>
          <p:cNvSpPr>
            <a:spLocks noGrp="1"/>
          </p:cNvSpPr>
          <p:nvPr>
            <p:ph type="sldNum" sz="quarter" idx="12"/>
          </p:nvPr>
        </p:nvSpPr>
        <p:spPr/>
        <p:txBody>
          <a:bodyPr/>
          <a:lstStyle/>
          <a:p>
            <a:fld id="{B5458D99-9B44-4E07-957B-3FA8AEE65E51}" type="slidenum">
              <a:rPr lang="fr-BE" smtClean="0"/>
              <a:t>‹#›</a:t>
            </a:fld>
            <a:endParaRPr lang="fr-BE"/>
          </a:p>
        </p:txBody>
      </p:sp>
    </p:spTree>
    <p:extLst>
      <p:ext uri="{BB962C8B-B14F-4D97-AF65-F5344CB8AC3E}">
        <p14:creationId xmlns:p14="http://schemas.microsoft.com/office/powerpoint/2010/main" val="4070815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978B9D-03A2-7587-80EA-1911C15D6E90}"/>
              </a:ext>
            </a:extLst>
          </p:cNvPr>
          <p:cNvSpPr>
            <a:spLocks noGrp="1"/>
          </p:cNvSpPr>
          <p:nvPr>
            <p:ph type="dt" sz="half" idx="10"/>
          </p:nvPr>
        </p:nvSpPr>
        <p:spPr/>
        <p:txBody>
          <a:bodyPr/>
          <a:lstStyle/>
          <a:p>
            <a:fld id="{50E2292C-AB8A-4021-8B76-1EF2CE942955}" type="datetimeFigureOut">
              <a:rPr lang="fr-BE" smtClean="0"/>
              <a:t>07-01-26</a:t>
            </a:fld>
            <a:endParaRPr lang="fr-BE"/>
          </a:p>
        </p:txBody>
      </p:sp>
      <p:sp>
        <p:nvSpPr>
          <p:cNvPr id="3" name="Footer Placeholder 2">
            <a:extLst>
              <a:ext uri="{FF2B5EF4-FFF2-40B4-BE49-F238E27FC236}">
                <a16:creationId xmlns:a16="http://schemas.microsoft.com/office/drawing/2014/main" id="{FEAEE8AC-9FEC-2BFF-4EC6-64FBBE982D34}"/>
              </a:ext>
            </a:extLst>
          </p:cNvPr>
          <p:cNvSpPr>
            <a:spLocks noGrp="1"/>
          </p:cNvSpPr>
          <p:nvPr>
            <p:ph type="ftr" sz="quarter" idx="11"/>
          </p:nvPr>
        </p:nvSpPr>
        <p:spPr/>
        <p:txBody>
          <a:bodyPr/>
          <a:lstStyle/>
          <a:p>
            <a:endParaRPr lang="fr-BE"/>
          </a:p>
        </p:txBody>
      </p:sp>
      <p:sp>
        <p:nvSpPr>
          <p:cNvPr id="4" name="Slide Number Placeholder 3">
            <a:extLst>
              <a:ext uri="{FF2B5EF4-FFF2-40B4-BE49-F238E27FC236}">
                <a16:creationId xmlns:a16="http://schemas.microsoft.com/office/drawing/2014/main" id="{38D0F937-6912-7347-0955-5C4EF4EA8107}"/>
              </a:ext>
            </a:extLst>
          </p:cNvPr>
          <p:cNvSpPr>
            <a:spLocks noGrp="1"/>
          </p:cNvSpPr>
          <p:nvPr>
            <p:ph type="sldNum" sz="quarter" idx="12"/>
          </p:nvPr>
        </p:nvSpPr>
        <p:spPr/>
        <p:txBody>
          <a:bodyPr/>
          <a:lstStyle/>
          <a:p>
            <a:fld id="{B5458D99-9B44-4E07-957B-3FA8AEE65E51}" type="slidenum">
              <a:rPr lang="fr-BE" smtClean="0"/>
              <a:t>‹#›</a:t>
            </a:fld>
            <a:endParaRPr lang="fr-BE"/>
          </a:p>
        </p:txBody>
      </p:sp>
    </p:spTree>
    <p:extLst>
      <p:ext uri="{BB962C8B-B14F-4D97-AF65-F5344CB8AC3E}">
        <p14:creationId xmlns:p14="http://schemas.microsoft.com/office/powerpoint/2010/main" val="3110090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9935E-D0CA-70D6-0429-E117A31DAB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BE"/>
          </a:p>
        </p:txBody>
      </p:sp>
      <p:sp>
        <p:nvSpPr>
          <p:cNvPr id="3" name="Content Placeholder 2">
            <a:extLst>
              <a:ext uri="{FF2B5EF4-FFF2-40B4-BE49-F238E27FC236}">
                <a16:creationId xmlns:a16="http://schemas.microsoft.com/office/drawing/2014/main" id="{73E29671-2C17-AE36-7C30-C815A817CE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4" name="Text Placeholder 3">
            <a:extLst>
              <a:ext uri="{FF2B5EF4-FFF2-40B4-BE49-F238E27FC236}">
                <a16:creationId xmlns:a16="http://schemas.microsoft.com/office/drawing/2014/main" id="{E7BCF810-2AF1-8855-8B34-21B8B340A0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B7376D-4AEA-C5DA-7D7F-86519B0D15E6}"/>
              </a:ext>
            </a:extLst>
          </p:cNvPr>
          <p:cNvSpPr>
            <a:spLocks noGrp="1"/>
          </p:cNvSpPr>
          <p:nvPr>
            <p:ph type="dt" sz="half" idx="10"/>
          </p:nvPr>
        </p:nvSpPr>
        <p:spPr/>
        <p:txBody>
          <a:bodyPr/>
          <a:lstStyle/>
          <a:p>
            <a:fld id="{50E2292C-AB8A-4021-8B76-1EF2CE942955}" type="datetimeFigureOut">
              <a:rPr lang="fr-BE" smtClean="0"/>
              <a:t>07-01-26</a:t>
            </a:fld>
            <a:endParaRPr lang="fr-BE"/>
          </a:p>
        </p:txBody>
      </p:sp>
      <p:sp>
        <p:nvSpPr>
          <p:cNvPr id="6" name="Footer Placeholder 5">
            <a:extLst>
              <a:ext uri="{FF2B5EF4-FFF2-40B4-BE49-F238E27FC236}">
                <a16:creationId xmlns:a16="http://schemas.microsoft.com/office/drawing/2014/main" id="{0CF151FA-9C2C-B159-E593-8073FA38636C}"/>
              </a:ext>
            </a:extLst>
          </p:cNvPr>
          <p:cNvSpPr>
            <a:spLocks noGrp="1"/>
          </p:cNvSpPr>
          <p:nvPr>
            <p:ph type="ftr" sz="quarter" idx="11"/>
          </p:nvPr>
        </p:nvSpPr>
        <p:spPr/>
        <p:txBody>
          <a:bodyPr/>
          <a:lstStyle/>
          <a:p>
            <a:endParaRPr lang="fr-BE"/>
          </a:p>
        </p:txBody>
      </p:sp>
      <p:sp>
        <p:nvSpPr>
          <p:cNvPr id="7" name="Slide Number Placeholder 6">
            <a:extLst>
              <a:ext uri="{FF2B5EF4-FFF2-40B4-BE49-F238E27FC236}">
                <a16:creationId xmlns:a16="http://schemas.microsoft.com/office/drawing/2014/main" id="{7A4D21EB-DE43-C216-21A4-BDDAEAB0A364}"/>
              </a:ext>
            </a:extLst>
          </p:cNvPr>
          <p:cNvSpPr>
            <a:spLocks noGrp="1"/>
          </p:cNvSpPr>
          <p:nvPr>
            <p:ph type="sldNum" sz="quarter" idx="12"/>
          </p:nvPr>
        </p:nvSpPr>
        <p:spPr/>
        <p:txBody>
          <a:bodyPr/>
          <a:lstStyle/>
          <a:p>
            <a:fld id="{B5458D99-9B44-4E07-957B-3FA8AEE65E51}" type="slidenum">
              <a:rPr lang="fr-BE" smtClean="0"/>
              <a:t>‹#›</a:t>
            </a:fld>
            <a:endParaRPr lang="fr-BE"/>
          </a:p>
        </p:txBody>
      </p:sp>
    </p:spTree>
    <p:extLst>
      <p:ext uri="{BB962C8B-B14F-4D97-AF65-F5344CB8AC3E}">
        <p14:creationId xmlns:p14="http://schemas.microsoft.com/office/powerpoint/2010/main" val="3124252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92645-3184-A8C1-9E2A-ED155BE6F5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BE"/>
          </a:p>
        </p:txBody>
      </p:sp>
      <p:sp>
        <p:nvSpPr>
          <p:cNvPr id="3" name="Picture Placeholder 2">
            <a:extLst>
              <a:ext uri="{FF2B5EF4-FFF2-40B4-BE49-F238E27FC236}">
                <a16:creationId xmlns:a16="http://schemas.microsoft.com/office/drawing/2014/main" id="{70105C77-FC89-E0C4-D8E3-814B147108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Text Placeholder 3">
            <a:extLst>
              <a:ext uri="{FF2B5EF4-FFF2-40B4-BE49-F238E27FC236}">
                <a16:creationId xmlns:a16="http://schemas.microsoft.com/office/drawing/2014/main" id="{9C2CBB5D-792C-9899-40A6-76ED58AD03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CF1AE0-DA25-FEF7-FD38-5F53EFD7FFE5}"/>
              </a:ext>
            </a:extLst>
          </p:cNvPr>
          <p:cNvSpPr>
            <a:spLocks noGrp="1"/>
          </p:cNvSpPr>
          <p:nvPr>
            <p:ph type="dt" sz="half" idx="10"/>
          </p:nvPr>
        </p:nvSpPr>
        <p:spPr/>
        <p:txBody>
          <a:bodyPr/>
          <a:lstStyle/>
          <a:p>
            <a:fld id="{50E2292C-AB8A-4021-8B76-1EF2CE942955}" type="datetimeFigureOut">
              <a:rPr lang="fr-BE" smtClean="0"/>
              <a:t>07-01-26</a:t>
            </a:fld>
            <a:endParaRPr lang="fr-BE"/>
          </a:p>
        </p:txBody>
      </p:sp>
      <p:sp>
        <p:nvSpPr>
          <p:cNvPr id="6" name="Footer Placeholder 5">
            <a:extLst>
              <a:ext uri="{FF2B5EF4-FFF2-40B4-BE49-F238E27FC236}">
                <a16:creationId xmlns:a16="http://schemas.microsoft.com/office/drawing/2014/main" id="{E93A995B-843D-4B93-B730-ECBE7F467A19}"/>
              </a:ext>
            </a:extLst>
          </p:cNvPr>
          <p:cNvSpPr>
            <a:spLocks noGrp="1"/>
          </p:cNvSpPr>
          <p:nvPr>
            <p:ph type="ftr" sz="quarter" idx="11"/>
          </p:nvPr>
        </p:nvSpPr>
        <p:spPr/>
        <p:txBody>
          <a:bodyPr/>
          <a:lstStyle/>
          <a:p>
            <a:endParaRPr lang="fr-BE"/>
          </a:p>
        </p:txBody>
      </p:sp>
      <p:sp>
        <p:nvSpPr>
          <p:cNvPr id="7" name="Slide Number Placeholder 6">
            <a:extLst>
              <a:ext uri="{FF2B5EF4-FFF2-40B4-BE49-F238E27FC236}">
                <a16:creationId xmlns:a16="http://schemas.microsoft.com/office/drawing/2014/main" id="{B482E81E-0EEC-01BE-86CB-3C675019C217}"/>
              </a:ext>
            </a:extLst>
          </p:cNvPr>
          <p:cNvSpPr>
            <a:spLocks noGrp="1"/>
          </p:cNvSpPr>
          <p:nvPr>
            <p:ph type="sldNum" sz="quarter" idx="12"/>
          </p:nvPr>
        </p:nvSpPr>
        <p:spPr/>
        <p:txBody>
          <a:bodyPr/>
          <a:lstStyle/>
          <a:p>
            <a:fld id="{B5458D99-9B44-4E07-957B-3FA8AEE65E51}" type="slidenum">
              <a:rPr lang="fr-BE" smtClean="0"/>
              <a:t>‹#›</a:t>
            </a:fld>
            <a:endParaRPr lang="fr-BE"/>
          </a:p>
        </p:txBody>
      </p:sp>
    </p:spTree>
    <p:extLst>
      <p:ext uri="{BB962C8B-B14F-4D97-AF65-F5344CB8AC3E}">
        <p14:creationId xmlns:p14="http://schemas.microsoft.com/office/powerpoint/2010/main" val="2554078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05D4D-2964-251F-D31A-A388386350FB}"/>
              </a:ext>
            </a:extLst>
          </p:cNvPr>
          <p:cNvSpPr>
            <a:spLocks noGrp="1"/>
          </p:cNvSpPr>
          <p:nvPr>
            <p:ph type="title"/>
          </p:nvPr>
        </p:nvSpPr>
        <p:spPr/>
        <p:txBody>
          <a:bodyPr/>
          <a:lstStyle/>
          <a:p>
            <a:r>
              <a:rPr lang="en-US"/>
              <a:t>Click to edit Master title style</a:t>
            </a:r>
            <a:endParaRPr lang="fr-BE"/>
          </a:p>
        </p:txBody>
      </p:sp>
      <p:sp>
        <p:nvSpPr>
          <p:cNvPr id="3" name="Vertical Text Placeholder 2">
            <a:extLst>
              <a:ext uri="{FF2B5EF4-FFF2-40B4-BE49-F238E27FC236}">
                <a16:creationId xmlns:a16="http://schemas.microsoft.com/office/drawing/2014/main" id="{570EB01B-14B9-28C3-03D6-E90B19FA4A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4" name="Date Placeholder 3">
            <a:extLst>
              <a:ext uri="{FF2B5EF4-FFF2-40B4-BE49-F238E27FC236}">
                <a16:creationId xmlns:a16="http://schemas.microsoft.com/office/drawing/2014/main" id="{BC8C9D13-CDDC-F238-399B-17F4D860AF3D}"/>
              </a:ext>
            </a:extLst>
          </p:cNvPr>
          <p:cNvSpPr>
            <a:spLocks noGrp="1"/>
          </p:cNvSpPr>
          <p:nvPr>
            <p:ph type="dt" sz="half" idx="10"/>
          </p:nvPr>
        </p:nvSpPr>
        <p:spPr/>
        <p:txBody>
          <a:bodyPr/>
          <a:lstStyle/>
          <a:p>
            <a:fld id="{50E2292C-AB8A-4021-8B76-1EF2CE942955}" type="datetimeFigureOut">
              <a:rPr lang="fr-BE" smtClean="0"/>
              <a:t>07-01-26</a:t>
            </a:fld>
            <a:endParaRPr lang="fr-BE"/>
          </a:p>
        </p:txBody>
      </p:sp>
      <p:sp>
        <p:nvSpPr>
          <p:cNvPr id="5" name="Footer Placeholder 4">
            <a:extLst>
              <a:ext uri="{FF2B5EF4-FFF2-40B4-BE49-F238E27FC236}">
                <a16:creationId xmlns:a16="http://schemas.microsoft.com/office/drawing/2014/main" id="{46A00CAF-FBFE-7896-BF3B-47A5630E172A}"/>
              </a:ext>
            </a:extLst>
          </p:cNvPr>
          <p:cNvSpPr>
            <a:spLocks noGrp="1"/>
          </p:cNvSpPr>
          <p:nvPr>
            <p:ph type="ftr" sz="quarter" idx="11"/>
          </p:nvPr>
        </p:nvSpPr>
        <p:spPr/>
        <p:txBody>
          <a:bodyPr/>
          <a:lstStyle/>
          <a:p>
            <a:endParaRPr lang="fr-BE"/>
          </a:p>
        </p:txBody>
      </p:sp>
      <p:sp>
        <p:nvSpPr>
          <p:cNvPr id="6" name="Slide Number Placeholder 5">
            <a:extLst>
              <a:ext uri="{FF2B5EF4-FFF2-40B4-BE49-F238E27FC236}">
                <a16:creationId xmlns:a16="http://schemas.microsoft.com/office/drawing/2014/main" id="{189AACF9-97CC-4D89-5F5C-1FBA2443E195}"/>
              </a:ext>
            </a:extLst>
          </p:cNvPr>
          <p:cNvSpPr>
            <a:spLocks noGrp="1"/>
          </p:cNvSpPr>
          <p:nvPr>
            <p:ph type="sldNum" sz="quarter" idx="12"/>
          </p:nvPr>
        </p:nvSpPr>
        <p:spPr/>
        <p:txBody>
          <a:bodyPr/>
          <a:lstStyle/>
          <a:p>
            <a:fld id="{B5458D99-9B44-4E07-957B-3FA8AEE65E51}" type="slidenum">
              <a:rPr lang="fr-BE" smtClean="0"/>
              <a:t>‹#›</a:t>
            </a:fld>
            <a:endParaRPr lang="fr-BE"/>
          </a:p>
        </p:txBody>
      </p:sp>
    </p:spTree>
    <p:extLst>
      <p:ext uri="{BB962C8B-B14F-4D97-AF65-F5344CB8AC3E}">
        <p14:creationId xmlns:p14="http://schemas.microsoft.com/office/powerpoint/2010/main" val="2728099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C79E6A-DC6D-ADA8-19EE-15167EC0BEC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BE"/>
          </a:p>
        </p:txBody>
      </p:sp>
      <p:sp>
        <p:nvSpPr>
          <p:cNvPr id="3" name="Vertical Text Placeholder 2">
            <a:extLst>
              <a:ext uri="{FF2B5EF4-FFF2-40B4-BE49-F238E27FC236}">
                <a16:creationId xmlns:a16="http://schemas.microsoft.com/office/drawing/2014/main" id="{4BB91EC5-3279-2632-22C6-0282D86C8B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4" name="Date Placeholder 3">
            <a:extLst>
              <a:ext uri="{FF2B5EF4-FFF2-40B4-BE49-F238E27FC236}">
                <a16:creationId xmlns:a16="http://schemas.microsoft.com/office/drawing/2014/main" id="{E2650E8E-F865-1A81-D16B-17A0983C9C77}"/>
              </a:ext>
            </a:extLst>
          </p:cNvPr>
          <p:cNvSpPr>
            <a:spLocks noGrp="1"/>
          </p:cNvSpPr>
          <p:nvPr>
            <p:ph type="dt" sz="half" idx="10"/>
          </p:nvPr>
        </p:nvSpPr>
        <p:spPr/>
        <p:txBody>
          <a:bodyPr/>
          <a:lstStyle/>
          <a:p>
            <a:fld id="{50E2292C-AB8A-4021-8B76-1EF2CE942955}" type="datetimeFigureOut">
              <a:rPr lang="fr-BE" smtClean="0"/>
              <a:t>07-01-26</a:t>
            </a:fld>
            <a:endParaRPr lang="fr-BE"/>
          </a:p>
        </p:txBody>
      </p:sp>
      <p:sp>
        <p:nvSpPr>
          <p:cNvPr id="5" name="Footer Placeholder 4">
            <a:extLst>
              <a:ext uri="{FF2B5EF4-FFF2-40B4-BE49-F238E27FC236}">
                <a16:creationId xmlns:a16="http://schemas.microsoft.com/office/drawing/2014/main" id="{4D79D7AA-1DD5-50C6-98A0-FBCD22CEDDCA}"/>
              </a:ext>
            </a:extLst>
          </p:cNvPr>
          <p:cNvSpPr>
            <a:spLocks noGrp="1"/>
          </p:cNvSpPr>
          <p:nvPr>
            <p:ph type="ftr" sz="quarter" idx="11"/>
          </p:nvPr>
        </p:nvSpPr>
        <p:spPr/>
        <p:txBody>
          <a:bodyPr/>
          <a:lstStyle/>
          <a:p>
            <a:endParaRPr lang="fr-BE"/>
          </a:p>
        </p:txBody>
      </p:sp>
      <p:sp>
        <p:nvSpPr>
          <p:cNvPr id="6" name="Slide Number Placeholder 5">
            <a:extLst>
              <a:ext uri="{FF2B5EF4-FFF2-40B4-BE49-F238E27FC236}">
                <a16:creationId xmlns:a16="http://schemas.microsoft.com/office/drawing/2014/main" id="{E2B2D473-AFC2-9954-9AA2-E62B187274DD}"/>
              </a:ext>
            </a:extLst>
          </p:cNvPr>
          <p:cNvSpPr>
            <a:spLocks noGrp="1"/>
          </p:cNvSpPr>
          <p:nvPr>
            <p:ph type="sldNum" sz="quarter" idx="12"/>
          </p:nvPr>
        </p:nvSpPr>
        <p:spPr/>
        <p:txBody>
          <a:bodyPr/>
          <a:lstStyle/>
          <a:p>
            <a:fld id="{B5458D99-9B44-4E07-957B-3FA8AEE65E51}" type="slidenum">
              <a:rPr lang="fr-BE" smtClean="0"/>
              <a:t>‹#›</a:t>
            </a:fld>
            <a:endParaRPr lang="fr-BE"/>
          </a:p>
        </p:txBody>
      </p:sp>
    </p:spTree>
    <p:extLst>
      <p:ext uri="{BB962C8B-B14F-4D97-AF65-F5344CB8AC3E}">
        <p14:creationId xmlns:p14="http://schemas.microsoft.com/office/powerpoint/2010/main" val="10345067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2999721904"/>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38337105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1406262600"/>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1/7/2026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25477769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4399574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25220799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20212003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1/7/2026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40203119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1/7/2026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37546662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23243833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2010734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277508-63CC-A4C1-242D-0DD9DC0982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BE"/>
          </a:p>
        </p:txBody>
      </p:sp>
      <p:sp>
        <p:nvSpPr>
          <p:cNvPr id="3" name="Text Placeholder 2">
            <a:extLst>
              <a:ext uri="{FF2B5EF4-FFF2-40B4-BE49-F238E27FC236}">
                <a16:creationId xmlns:a16="http://schemas.microsoft.com/office/drawing/2014/main" id="{B836482C-3212-0F00-2C82-5CBF055E3A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4" name="Date Placeholder 3">
            <a:extLst>
              <a:ext uri="{FF2B5EF4-FFF2-40B4-BE49-F238E27FC236}">
                <a16:creationId xmlns:a16="http://schemas.microsoft.com/office/drawing/2014/main" id="{E3AD5388-634E-4365-1427-A71701DE7F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E2292C-AB8A-4021-8B76-1EF2CE942955}" type="datetimeFigureOut">
              <a:rPr lang="fr-BE" smtClean="0"/>
              <a:t>07-01-26</a:t>
            </a:fld>
            <a:endParaRPr lang="fr-BE"/>
          </a:p>
        </p:txBody>
      </p:sp>
      <p:sp>
        <p:nvSpPr>
          <p:cNvPr id="5" name="Footer Placeholder 4">
            <a:extLst>
              <a:ext uri="{FF2B5EF4-FFF2-40B4-BE49-F238E27FC236}">
                <a16:creationId xmlns:a16="http://schemas.microsoft.com/office/drawing/2014/main" id="{2584DCA9-80A0-CFB6-B9C5-8391CAC77B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
        <p:nvSpPr>
          <p:cNvPr id="6" name="Slide Number Placeholder 5">
            <a:extLst>
              <a:ext uri="{FF2B5EF4-FFF2-40B4-BE49-F238E27FC236}">
                <a16:creationId xmlns:a16="http://schemas.microsoft.com/office/drawing/2014/main" id="{5E743A4E-5B87-A2E6-B43C-0AACC7585D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458D99-9B44-4E07-957B-3FA8AEE65E51}" type="slidenum">
              <a:rPr lang="fr-BE" smtClean="0"/>
              <a:t>‹#›</a:t>
            </a:fld>
            <a:endParaRPr lang="fr-BE"/>
          </a:p>
        </p:txBody>
      </p:sp>
    </p:spTree>
    <p:extLst>
      <p:ext uri="{BB962C8B-B14F-4D97-AF65-F5344CB8AC3E}">
        <p14:creationId xmlns:p14="http://schemas.microsoft.com/office/powerpoint/2010/main" val="1572725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1/7/2026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extLst>
      <p:ext uri="{BB962C8B-B14F-4D97-AF65-F5344CB8AC3E}">
        <p14:creationId xmlns:p14="http://schemas.microsoft.com/office/powerpoint/2010/main" val="29079248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16.png"/><Relationship Id="rId3" Type="http://schemas.openxmlformats.org/officeDocument/2006/relationships/image" Target="../media/image12.png"/><Relationship Id="rId7" Type="http://schemas.openxmlformats.org/officeDocument/2006/relationships/image" Target="../media/image21.png"/><Relationship Id="rId12"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13.xml"/><Relationship Id="rId6" Type="http://schemas.openxmlformats.org/officeDocument/2006/relationships/image" Target="../media/image11.png"/><Relationship Id="rId11" Type="http://schemas.openxmlformats.org/officeDocument/2006/relationships/image" Target="../media/image18.png"/><Relationship Id="rId5" Type="http://schemas.openxmlformats.org/officeDocument/2006/relationships/image" Target="../media/image19.png"/><Relationship Id="rId10" Type="http://schemas.openxmlformats.org/officeDocument/2006/relationships/image" Target="../media/image20.png"/><Relationship Id="rId4" Type="http://schemas.openxmlformats.org/officeDocument/2006/relationships/image" Target="../media/image17.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hyperlink" Target="https://www.enisa.europa.eu/sites/default/files/2025-06/Mapping%20NIS%202%20obligations%20with%20ECSF%20role%20profiles.pdf"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hyperlink" Target="https://www.enisa.europa.eu/sites/default/files/publications/European%20Cybersecurity%20Skills%20Framework%20Role%20Profiles.pdf" TargetMode="Externa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image" Target="../media/image29.png"/><Relationship Id="rId1" Type="http://schemas.openxmlformats.org/officeDocument/2006/relationships/slideLayout" Target="../slideLayouts/slideLayout13.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22.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image" Target="../media/image30.png"/><Relationship Id="rId1" Type="http://schemas.openxmlformats.org/officeDocument/2006/relationships/slideLayout" Target="../slideLayouts/slideLayout13.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2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image" Target="../media/image31.png"/><Relationship Id="rId1" Type="http://schemas.openxmlformats.org/officeDocument/2006/relationships/slideLayout" Target="../slideLayouts/slideLayout13.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24.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image" Target="../media/image32.png"/><Relationship Id="rId1" Type="http://schemas.openxmlformats.org/officeDocument/2006/relationships/slideLayout" Target="../slideLayouts/slideLayout13.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1338F-BE7D-4443-B9CD-B744EAAC772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E0A898F-6FF6-3201-3F7F-4E08095F356F}"/>
              </a:ext>
            </a:extLst>
          </p:cNvPr>
          <p:cNvPicPr>
            <a:picLocks noChangeAspect="1"/>
          </p:cNvPicPr>
          <p:nvPr/>
        </p:nvPicPr>
        <p:blipFill>
          <a:blip r:embed="rId2"/>
          <a:stretch>
            <a:fillRect/>
          </a:stretch>
        </p:blipFill>
        <p:spPr>
          <a:xfrm>
            <a:off x="7188569" y="524224"/>
            <a:ext cx="634039" cy="688908"/>
          </a:xfrm>
          <a:prstGeom prst="rect">
            <a:avLst/>
          </a:prstGeom>
        </p:spPr>
      </p:pic>
      <p:pic>
        <p:nvPicPr>
          <p:cNvPr id="5" name="Picture 4">
            <a:extLst>
              <a:ext uri="{FF2B5EF4-FFF2-40B4-BE49-F238E27FC236}">
                <a16:creationId xmlns:a16="http://schemas.microsoft.com/office/drawing/2014/main" id="{EA5AF894-6CB7-CB66-6DFE-452F9EBE119B}"/>
              </a:ext>
            </a:extLst>
          </p:cNvPr>
          <p:cNvPicPr>
            <a:picLocks noChangeAspect="1"/>
          </p:cNvPicPr>
          <p:nvPr/>
        </p:nvPicPr>
        <p:blipFill>
          <a:blip r:embed="rId3"/>
          <a:stretch>
            <a:fillRect/>
          </a:stretch>
        </p:blipFill>
        <p:spPr>
          <a:xfrm>
            <a:off x="7206858" y="1750775"/>
            <a:ext cx="597460" cy="597460"/>
          </a:xfrm>
          <a:prstGeom prst="rect">
            <a:avLst/>
          </a:prstGeom>
        </p:spPr>
      </p:pic>
      <p:pic>
        <p:nvPicPr>
          <p:cNvPr id="6" name="Picture 5">
            <a:extLst>
              <a:ext uri="{FF2B5EF4-FFF2-40B4-BE49-F238E27FC236}">
                <a16:creationId xmlns:a16="http://schemas.microsoft.com/office/drawing/2014/main" id="{8D57DC32-EA8A-A02B-B718-A81C559427F4}"/>
              </a:ext>
            </a:extLst>
          </p:cNvPr>
          <p:cNvPicPr>
            <a:picLocks noChangeAspect="1"/>
          </p:cNvPicPr>
          <p:nvPr/>
        </p:nvPicPr>
        <p:blipFill>
          <a:blip r:embed="rId4"/>
          <a:stretch>
            <a:fillRect/>
          </a:stretch>
        </p:blipFill>
        <p:spPr>
          <a:xfrm>
            <a:off x="546014" y="5355842"/>
            <a:ext cx="664522" cy="640135"/>
          </a:xfrm>
          <a:prstGeom prst="rect">
            <a:avLst/>
          </a:prstGeom>
        </p:spPr>
      </p:pic>
      <p:pic>
        <p:nvPicPr>
          <p:cNvPr id="7" name="Picture 6">
            <a:extLst>
              <a:ext uri="{FF2B5EF4-FFF2-40B4-BE49-F238E27FC236}">
                <a16:creationId xmlns:a16="http://schemas.microsoft.com/office/drawing/2014/main" id="{A3CAA053-E616-2891-B0F2-4EAFD711B8F3}"/>
              </a:ext>
            </a:extLst>
          </p:cNvPr>
          <p:cNvPicPr>
            <a:picLocks noChangeAspect="1"/>
          </p:cNvPicPr>
          <p:nvPr/>
        </p:nvPicPr>
        <p:blipFill>
          <a:blip r:embed="rId5"/>
          <a:stretch>
            <a:fillRect/>
          </a:stretch>
        </p:blipFill>
        <p:spPr>
          <a:xfrm>
            <a:off x="527725" y="4152753"/>
            <a:ext cx="701101" cy="640135"/>
          </a:xfrm>
          <a:prstGeom prst="rect">
            <a:avLst/>
          </a:prstGeom>
        </p:spPr>
      </p:pic>
      <p:pic>
        <p:nvPicPr>
          <p:cNvPr id="8" name="Picture 7">
            <a:extLst>
              <a:ext uri="{FF2B5EF4-FFF2-40B4-BE49-F238E27FC236}">
                <a16:creationId xmlns:a16="http://schemas.microsoft.com/office/drawing/2014/main" id="{E9AED933-324A-A392-4CED-D034F1C1E913}"/>
              </a:ext>
            </a:extLst>
          </p:cNvPr>
          <p:cNvPicPr>
            <a:picLocks noChangeAspect="1"/>
          </p:cNvPicPr>
          <p:nvPr/>
        </p:nvPicPr>
        <p:blipFill>
          <a:blip r:embed="rId6"/>
          <a:stretch>
            <a:fillRect/>
          </a:stretch>
        </p:blipFill>
        <p:spPr>
          <a:xfrm>
            <a:off x="546014" y="471244"/>
            <a:ext cx="664522" cy="664522"/>
          </a:xfrm>
          <a:prstGeom prst="rect">
            <a:avLst/>
          </a:prstGeom>
        </p:spPr>
      </p:pic>
      <p:pic>
        <p:nvPicPr>
          <p:cNvPr id="9" name="Picture 8">
            <a:extLst>
              <a:ext uri="{FF2B5EF4-FFF2-40B4-BE49-F238E27FC236}">
                <a16:creationId xmlns:a16="http://schemas.microsoft.com/office/drawing/2014/main" id="{F620C1A1-C72F-F31B-DEEC-50A303208981}"/>
              </a:ext>
            </a:extLst>
          </p:cNvPr>
          <p:cNvPicPr>
            <a:picLocks noChangeAspect="1"/>
          </p:cNvPicPr>
          <p:nvPr/>
        </p:nvPicPr>
        <p:blipFill>
          <a:blip r:embed="rId7"/>
          <a:stretch>
            <a:fillRect/>
          </a:stretch>
        </p:blipFill>
        <p:spPr>
          <a:xfrm>
            <a:off x="564304" y="2940316"/>
            <a:ext cx="627942" cy="646232"/>
          </a:xfrm>
          <a:prstGeom prst="rect">
            <a:avLst/>
          </a:prstGeom>
        </p:spPr>
      </p:pic>
      <p:pic>
        <p:nvPicPr>
          <p:cNvPr id="10" name="Picture 9">
            <a:extLst>
              <a:ext uri="{FF2B5EF4-FFF2-40B4-BE49-F238E27FC236}">
                <a16:creationId xmlns:a16="http://schemas.microsoft.com/office/drawing/2014/main" id="{83EBA829-3B68-D3AC-FA15-BAF5BD756BF4}"/>
              </a:ext>
            </a:extLst>
          </p:cNvPr>
          <p:cNvPicPr>
            <a:picLocks noChangeAspect="1"/>
          </p:cNvPicPr>
          <p:nvPr/>
        </p:nvPicPr>
        <p:blipFill>
          <a:blip r:embed="rId8"/>
          <a:stretch>
            <a:fillRect/>
          </a:stretch>
        </p:blipFill>
        <p:spPr>
          <a:xfrm>
            <a:off x="555159" y="1808849"/>
            <a:ext cx="646232" cy="640135"/>
          </a:xfrm>
          <a:prstGeom prst="rect">
            <a:avLst/>
          </a:prstGeom>
        </p:spPr>
      </p:pic>
      <p:sp>
        <p:nvSpPr>
          <p:cNvPr id="11" name="object 18">
            <a:extLst>
              <a:ext uri="{FF2B5EF4-FFF2-40B4-BE49-F238E27FC236}">
                <a16:creationId xmlns:a16="http://schemas.microsoft.com/office/drawing/2014/main" id="{A3DFA67C-6352-793E-7293-AABD182AA70D}"/>
              </a:ext>
            </a:extLst>
          </p:cNvPr>
          <p:cNvSpPr txBox="1"/>
          <p:nvPr/>
        </p:nvSpPr>
        <p:spPr>
          <a:xfrm>
            <a:off x="1289127" y="653645"/>
            <a:ext cx="27070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201451"/>
                </a:solidFill>
                <a:latin typeface="Calibri"/>
                <a:cs typeface="Calibri"/>
              </a:rPr>
              <a:t>OVERSIGHT</a:t>
            </a:r>
            <a:r>
              <a:rPr sz="1800" spc="80" dirty="0">
                <a:solidFill>
                  <a:srgbClr val="201451"/>
                </a:solidFill>
                <a:latin typeface="Calibri"/>
                <a:cs typeface="Calibri"/>
              </a:rPr>
              <a:t> </a:t>
            </a:r>
            <a:r>
              <a:rPr sz="1800" spc="-140" dirty="0">
                <a:solidFill>
                  <a:srgbClr val="201451"/>
                </a:solidFill>
                <a:latin typeface="Calibri"/>
                <a:cs typeface="Calibri"/>
              </a:rPr>
              <a:t>&amp;</a:t>
            </a:r>
            <a:r>
              <a:rPr sz="1800" spc="80" dirty="0">
                <a:solidFill>
                  <a:srgbClr val="201451"/>
                </a:solidFill>
                <a:latin typeface="Calibri"/>
                <a:cs typeface="Calibri"/>
              </a:rPr>
              <a:t> </a:t>
            </a:r>
            <a:r>
              <a:rPr sz="1800" spc="-10" dirty="0">
                <a:solidFill>
                  <a:srgbClr val="201451"/>
                </a:solidFill>
                <a:latin typeface="Calibri"/>
                <a:cs typeface="Calibri"/>
              </a:rPr>
              <a:t>GOVERNANCE</a:t>
            </a:r>
            <a:endParaRPr sz="1800" dirty="0">
              <a:latin typeface="Calibri"/>
              <a:cs typeface="Calibri"/>
            </a:endParaRPr>
          </a:p>
        </p:txBody>
      </p:sp>
      <p:sp>
        <p:nvSpPr>
          <p:cNvPr id="12" name="object 19">
            <a:extLst>
              <a:ext uri="{FF2B5EF4-FFF2-40B4-BE49-F238E27FC236}">
                <a16:creationId xmlns:a16="http://schemas.microsoft.com/office/drawing/2014/main" id="{1E5B2D33-0B51-FAF3-D4DB-E27BD5B7B0F6}"/>
              </a:ext>
            </a:extLst>
          </p:cNvPr>
          <p:cNvSpPr txBox="1"/>
          <p:nvPr/>
        </p:nvSpPr>
        <p:spPr>
          <a:xfrm>
            <a:off x="1286095" y="1979056"/>
            <a:ext cx="243967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D30000"/>
                </a:solidFill>
                <a:latin typeface="Calibri"/>
                <a:cs typeface="Calibri"/>
              </a:rPr>
              <a:t>DESIGN</a:t>
            </a:r>
            <a:r>
              <a:rPr sz="1800" spc="50" dirty="0">
                <a:solidFill>
                  <a:srgbClr val="D30000"/>
                </a:solidFill>
                <a:latin typeface="Calibri"/>
                <a:cs typeface="Calibri"/>
              </a:rPr>
              <a:t> </a:t>
            </a:r>
            <a:r>
              <a:rPr sz="1800" spc="-140" dirty="0">
                <a:solidFill>
                  <a:srgbClr val="D30000"/>
                </a:solidFill>
                <a:latin typeface="Calibri"/>
                <a:cs typeface="Calibri"/>
              </a:rPr>
              <a:t>&amp;</a:t>
            </a:r>
            <a:r>
              <a:rPr sz="1800" spc="45" dirty="0">
                <a:solidFill>
                  <a:srgbClr val="D30000"/>
                </a:solidFill>
                <a:latin typeface="Calibri"/>
                <a:cs typeface="Calibri"/>
              </a:rPr>
              <a:t> </a:t>
            </a:r>
            <a:r>
              <a:rPr sz="1800" spc="-10" dirty="0">
                <a:solidFill>
                  <a:srgbClr val="D30000"/>
                </a:solidFill>
                <a:latin typeface="Calibri"/>
                <a:cs typeface="Calibri"/>
              </a:rPr>
              <a:t>DEVELOPMENT</a:t>
            </a:r>
            <a:endParaRPr sz="1800" dirty="0">
              <a:latin typeface="Calibri"/>
              <a:cs typeface="Calibri"/>
            </a:endParaRPr>
          </a:p>
        </p:txBody>
      </p:sp>
      <p:sp>
        <p:nvSpPr>
          <p:cNvPr id="13" name="object 20">
            <a:extLst>
              <a:ext uri="{FF2B5EF4-FFF2-40B4-BE49-F238E27FC236}">
                <a16:creationId xmlns:a16="http://schemas.microsoft.com/office/drawing/2014/main" id="{FA998B46-071F-9F8D-021E-944069ED6313}"/>
              </a:ext>
            </a:extLst>
          </p:cNvPr>
          <p:cNvSpPr txBox="1"/>
          <p:nvPr/>
        </p:nvSpPr>
        <p:spPr>
          <a:xfrm>
            <a:off x="1276642" y="4322960"/>
            <a:ext cx="314896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0599B0"/>
                </a:solidFill>
                <a:latin typeface="Calibri"/>
                <a:cs typeface="Calibri"/>
              </a:rPr>
              <a:t>IMPLEMENTATION</a:t>
            </a:r>
            <a:r>
              <a:rPr sz="1800" spc="-25" dirty="0">
                <a:solidFill>
                  <a:srgbClr val="0599B0"/>
                </a:solidFill>
                <a:latin typeface="Calibri"/>
                <a:cs typeface="Calibri"/>
              </a:rPr>
              <a:t> </a:t>
            </a:r>
            <a:r>
              <a:rPr sz="1800" spc="-140" dirty="0">
                <a:solidFill>
                  <a:srgbClr val="0599B0"/>
                </a:solidFill>
                <a:latin typeface="Calibri"/>
                <a:cs typeface="Calibri"/>
              </a:rPr>
              <a:t>&amp;</a:t>
            </a:r>
            <a:r>
              <a:rPr sz="1800" spc="-40" dirty="0">
                <a:solidFill>
                  <a:srgbClr val="0599B0"/>
                </a:solidFill>
                <a:latin typeface="Calibri"/>
                <a:cs typeface="Calibri"/>
              </a:rPr>
              <a:t> </a:t>
            </a:r>
            <a:r>
              <a:rPr sz="1800" spc="-10" dirty="0">
                <a:solidFill>
                  <a:srgbClr val="0599B0"/>
                </a:solidFill>
                <a:latin typeface="Calibri"/>
                <a:cs typeface="Calibri"/>
              </a:rPr>
              <a:t>OPERATION</a:t>
            </a:r>
            <a:endParaRPr sz="1800" dirty="0">
              <a:latin typeface="Calibri"/>
              <a:cs typeface="Calibri"/>
            </a:endParaRPr>
          </a:p>
        </p:txBody>
      </p:sp>
      <p:sp>
        <p:nvSpPr>
          <p:cNvPr id="14" name="object 21">
            <a:extLst>
              <a:ext uri="{FF2B5EF4-FFF2-40B4-BE49-F238E27FC236}">
                <a16:creationId xmlns:a16="http://schemas.microsoft.com/office/drawing/2014/main" id="{78D4FFF2-5CC2-74B2-3416-B2EB5C0CFC4D}"/>
              </a:ext>
            </a:extLst>
          </p:cNvPr>
          <p:cNvSpPr txBox="1"/>
          <p:nvPr/>
        </p:nvSpPr>
        <p:spPr>
          <a:xfrm>
            <a:off x="1266225" y="3113572"/>
            <a:ext cx="240982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DA2D6D"/>
                </a:solidFill>
                <a:latin typeface="Calibri"/>
                <a:cs typeface="Calibri"/>
              </a:rPr>
              <a:t>PROTECTION</a:t>
            </a:r>
            <a:r>
              <a:rPr sz="1800" spc="190" dirty="0">
                <a:solidFill>
                  <a:srgbClr val="DA2D6D"/>
                </a:solidFill>
                <a:latin typeface="Calibri"/>
                <a:cs typeface="Calibri"/>
              </a:rPr>
              <a:t> </a:t>
            </a:r>
            <a:r>
              <a:rPr sz="1800" spc="-140" dirty="0">
                <a:solidFill>
                  <a:srgbClr val="DA2D6D"/>
                </a:solidFill>
                <a:latin typeface="Calibri"/>
                <a:cs typeface="Calibri"/>
              </a:rPr>
              <a:t>&amp;</a:t>
            </a:r>
            <a:r>
              <a:rPr sz="1800" spc="180" dirty="0">
                <a:solidFill>
                  <a:srgbClr val="DA2D6D"/>
                </a:solidFill>
                <a:latin typeface="Calibri"/>
                <a:cs typeface="Calibri"/>
              </a:rPr>
              <a:t> </a:t>
            </a:r>
            <a:r>
              <a:rPr sz="1800" spc="40" dirty="0">
                <a:solidFill>
                  <a:srgbClr val="DA2D6D"/>
                </a:solidFill>
                <a:latin typeface="Calibri"/>
                <a:cs typeface="Calibri"/>
              </a:rPr>
              <a:t>DEFENSE</a:t>
            </a:r>
            <a:endParaRPr sz="1800" dirty="0">
              <a:latin typeface="Calibri"/>
              <a:cs typeface="Calibri"/>
            </a:endParaRPr>
          </a:p>
        </p:txBody>
      </p:sp>
      <p:sp>
        <p:nvSpPr>
          <p:cNvPr id="15" name="object 22">
            <a:extLst>
              <a:ext uri="{FF2B5EF4-FFF2-40B4-BE49-F238E27FC236}">
                <a16:creationId xmlns:a16="http://schemas.microsoft.com/office/drawing/2014/main" id="{9115892E-D10B-F009-A03F-8A7E864BBDA8}"/>
              </a:ext>
            </a:extLst>
          </p:cNvPr>
          <p:cNvSpPr txBox="1"/>
          <p:nvPr/>
        </p:nvSpPr>
        <p:spPr>
          <a:xfrm>
            <a:off x="1331650" y="5526049"/>
            <a:ext cx="1522095"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764BAC"/>
                </a:solidFill>
                <a:latin typeface="Calibri"/>
                <a:cs typeface="Calibri"/>
              </a:rPr>
              <a:t>INVESTIGATION</a:t>
            </a:r>
            <a:endParaRPr sz="1800" dirty="0">
              <a:latin typeface="Calibri"/>
              <a:cs typeface="Calibri"/>
            </a:endParaRPr>
          </a:p>
        </p:txBody>
      </p:sp>
      <p:sp>
        <p:nvSpPr>
          <p:cNvPr id="16" name="object 23">
            <a:extLst>
              <a:ext uri="{FF2B5EF4-FFF2-40B4-BE49-F238E27FC236}">
                <a16:creationId xmlns:a16="http://schemas.microsoft.com/office/drawing/2014/main" id="{EEEB02C6-D98F-7BE7-F0CE-070003597261}"/>
              </a:ext>
            </a:extLst>
          </p:cNvPr>
          <p:cNvSpPr txBox="1"/>
          <p:nvPr/>
        </p:nvSpPr>
        <p:spPr>
          <a:xfrm>
            <a:off x="7957472" y="723767"/>
            <a:ext cx="2977228" cy="289823"/>
          </a:xfrm>
          <a:prstGeom prst="rect">
            <a:avLst/>
          </a:prstGeom>
        </p:spPr>
        <p:txBody>
          <a:bodyPr vert="horz" wrap="square" lIns="0" tIns="12700" rIns="0" bIns="0" rtlCol="0">
            <a:spAutoFit/>
          </a:bodyPr>
          <a:lstStyle/>
          <a:p>
            <a:pPr marL="12700">
              <a:lnSpc>
                <a:spcPct val="100000"/>
              </a:lnSpc>
              <a:spcBef>
                <a:spcPts val="100"/>
              </a:spcBef>
            </a:pPr>
            <a:r>
              <a:rPr lang="fr-BE" sz="1800" spc="-10" dirty="0">
                <a:solidFill>
                  <a:srgbClr val="F6B101"/>
                </a:solidFill>
                <a:latin typeface="Calibri"/>
                <a:cs typeface="Calibri"/>
              </a:rPr>
              <a:t>CYBERSPACE </a:t>
            </a:r>
            <a:r>
              <a:rPr sz="1800" spc="-10" dirty="0">
                <a:solidFill>
                  <a:srgbClr val="F6B101"/>
                </a:solidFill>
                <a:latin typeface="Calibri"/>
                <a:cs typeface="Calibri"/>
              </a:rPr>
              <a:t>INTELLIGENCE</a:t>
            </a:r>
            <a:endParaRPr sz="1800" dirty="0">
              <a:latin typeface="Calibri"/>
              <a:cs typeface="Calibri"/>
            </a:endParaRPr>
          </a:p>
        </p:txBody>
      </p:sp>
      <p:sp>
        <p:nvSpPr>
          <p:cNvPr id="17" name="object 24">
            <a:extLst>
              <a:ext uri="{FF2B5EF4-FFF2-40B4-BE49-F238E27FC236}">
                <a16:creationId xmlns:a16="http://schemas.microsoft.com/office/drawing/2014/main" id="{4B271DE6-6EE6-2883-35AA-291A9167CB84}"/>
              </a:ext>
            </a:extLst>
          </p:cNvPr>
          <p:cNvSpPr txBox="1"/>
          <p:nvPr/>
        </p:nvSpPr>
        <p:spPr>
          <a:xfrm>
            <a:off x="8035742" y="1899645"/>
            <a:ext cx="2384608" cy="289823"/>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79C04B"/>
                </a:solidFill>
                <a:latin typeface="Calibri"/>
                <a:cs typeface="Calibri"/>
              </a:rPr>
              <a:t>CYBER</a:t>
            </a:r>
            <a:r>
              <a:rPr lang="fr-BE" sz="1800" dirty="0">
                <a:solidFill>
                  <a:srgbClr val="79C04B"/>
                </a:solidFill>
                <a:latin typeface="Calibri"/>
                <a:cs typeface="Calibri"/>
              </a:rPr>
              <a:t>SPACE</a:t>
            </a:r>
            <a:r>
              <a:rPr sz="1800" spc="180" dirty="0">
                <a:solidFill>
                  <a:srgbClr val="79C04B"/>
                </a:solidFill>
                <a:latin typeface="Calibri"/>
                <a:cs typeface="Calibri"/>
              </a:rPr>
              <a:t> </a:t>
            </a:r>
            <a:r>
              <a:rPr sz="1800" spc="60" dirty="0">
                <a:solidFill>
                  <a:srgbClr val="79C04B"/>
                </a:solidFill>
                <a:latin typeface="Calibri"/>
                <a:cs typeface="Calibri"/>
              </a:rPr>
              <a:t>EFFECTS</a:t>
            </a:r>
            <a:endParaRPr sz="1800" dirty="0">
              <a:latin typeface="Calibri"/>
              <a:cs typeface="Calibri"/>
            </a:endParaRPr>
          </a:p>
        </p:txBody>
      </p:sp>
      <p:pic>
        <p:nvPicPr>
          <p:cNvPr id="18" name="Picture 17">
            <a:extLst>
              <a:ext uri="{FF2B5EF4-FFF2-40B4-BE49-F238E27FC236}">
                <a16:creationId xmlns:a16="http://schemas.microsoft.com/office/drawing/2014/main" id="{D1BC75A2-7270-DCF6-515B-109852609973}"/>
              </a:ext>
            </a:extLst>
          </p:cNvPr>
          <p:cNvPicPr>
            <a:picLocks noChangeAspect="1"/>
          </p:cNvPicPr>
          <p:nvPr/>
        </p:nvPicPr>
        <p:blipFill>
          <a:blip r:embed="rId9"/>
          <a:stretch>
            <a:fillRect/>
          </a:stretch>
        </p:blipFill>
        <p:spPr>
          <a:xfrm>
            <a:off x="4918467" y="2855629"/>
            <a:ext cx="6718374" cy="3798137"/>
          </a:xfrm>
          <a:prstGeom prst="rect">
            <a:avLst/>
          </a:prstGeom>
        </p:spPr>
      </p:pic>
    </p:spTree>
    <p:extLst>
      <p:ext uri="{BB962C8B-B14F-4D97-AF65-F5344CB8AC3E}">
        <p14:creationId xmlns:p14="http://schemas.microsoft.com/office/powerpoint/2010/main" val="27723428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1B12F-DC6B-D1D9-F978-D8BCBC8A5C0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199EA01-B9E1-24CE-04E0-8AF9DEB16B49}"/>
              </a:ext>
            </a:extLst>
          </p:cNvPr>
          <p:cNvPicPr>
            <a:picLocks noChangeAspect="1"/>
          </p:cNvPicPr>
          <p:nvPr/>
        </p:nvPicPr>
        <p:blipFill>
          <a:blip r:embed="rId2"/>
          <a:stretch>
            <a:fillRect/>
          </a:stretch>
        </p:blipFill>
        <p:spPr>
          <a:xfrm>
            <a:off x="38099" y="0"/>
            <a:ext cx="12130845" cy="6858000"/>
          </a:xfrm>
          <a:prstGeom prst="rect">
            <a:avLst/>
          </a:prstGeom>
        </p:spPr>
      </p:pic>
    </p:spTree>
    <p:extLst>
      <p:ext uri="{BB962C8B-B14F-4D97-AF65-F5344CB8AC3E}">
        <p14:creationId xmlns:p14="http://schemas.microsoft.com/office/powerpoint/2010/main" val="2922647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08378-3C68-6D1D-EDD2-9EA335BE9399}"/>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BA186DC9-6903-2821-9EE9-51687A77CD9F}"/>
              </a:ext>
            </a:extLst>
          </p:cNvPr>
          <p:cNvGrpSpPr/>
          <p:nvPr/>
        </p:nvGrpSpPr>
        <p:grpSpPr>
          <a:xfrm>
            <a:off x="2752853" y="2521465"/>
            <a:ext cx="1929442" cy="1988188"/>
            <a:chOff x="6004434" y="4231109"/>
            <a:chExt cx="2218287" cy="2213811"/>
          </a:xfrm>
          <a:solidFill>
            <a:schemeClr val="bg1">
              <a:lumMod val="50000"/>
            </a:schemeClr>
          </a:solidFill>
        </p:grpSpPr>
        <p:sp>
          <p:nvSpPr>
            <p:cNvPr id="7" name="Oval 6">
              <a:extLst>
                <a:ext uri="{FF2B5EF4-FFF2-40B4-BE49-F238E27FC236}">
                  <a16:creationId xmlns:a16="http://schemas.microsoft.com/office/drawing/2014/main" id="{04341117-5C6C-F017-691A-68913BC28432}"/>
                </a:ext>
              </a:extLst>
            </p:cNvPr>
            <p:cNvSpPr/>
            <p:nvPr/>
          </p:nvSpPr>
          <p:spPr>
            <a:xfrm>
              <a:off x="6004434" y="4231109"/>
              <a:ext cx="2218287" cy="2213811"/>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a:p>
          </p:txBody>
        </p:sp>
        <p:pic>
          <p:nvPicPr>
            <p:cNvPr id="9" name="Picture 8">
              <a:extLst>
                <a:ext uri="{FF2B5EF4-FFF2-40B4-BE49-F238E27FC236}">
                  <a16:creationId xmlns:a16="http://schemas.microsoft.com/office/drawing/2014/main" id="{DA69FC09-331B-791E-28F0-001A0F1535C8}"/>
                </a:ext>
              </a:extLst>
            </p:cNvPr>
            <p:cNvPicPr>
              <a:picLocks noChangeAspect="1"/>
            </p:cNvPicPr>
            <p:nvPr/>
          </p:nvPicPr>
          <p:blipFill>
            <a:blip r:embed="rId3"/>
            <a:stretch>
              <a:fillRect/>
            </a:stretch>
          </p:blipFill>
          <p:spPr>
            <a:xfrm>
              <a:off x="6036183" y="4414337"/>
              <a:ext cx="2106663" cy="1440191"/>
            </a:xfrm>
            <a:prstGeom prst="rect">
              <a:avLst/>
            </a:prstGeom>
            <a:grpFill/>
          </p:spPr>
        </p:pic>
      </p:grpSp>
      <p:sp>
        <p:nvSpPr>
          <p:cNvPr id="14" name="object 4">
            <a:extLst>
              <a:ext uri="{FF2B5EF4-FFF2-40B4-BE49-F238E27FC236}">
                <a16:creationId xmlns:a16="http://schemas.microsoft.com/office/drawing/2014/main" id="{9396C107-669C-7E96-116C-45671DC60925}"/>
              </a:ext>
            </a:extLst>
          </p:cNvPr>
          <p:cNvSpPr txBox="1"/>
          <p:nvPr/>
        </p:nvSpPr>
        <p:spPr>
          <a:xfrm>
            <a:off x="4004262" y="75525"/>
            <a:ext cx="1423670" cy="350930"/>
          </a:xfrm>
          <a:prstGeom prst="rect">
            <a:avLst/>
          </a:prstGeom>
        </p:spPr>
        <p:txBody>
          <a:bodyPr vert="horz" wrap="square" lIns="0" tIns="12700" rIns="0" bIns="0" rtlCol="0">
            <a:spAutoFit/>
          </a:bodyPr>
          <a:lstStyle/>
          <a:p>
            <a:pPr marL="12700" marR="5080" lvl="0" indent="137160" algn="l"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Chief</a:t>
            </a:r>
            <a:r>
              <a:rPr kumimoji="0" sz="1000" b="0" i="0" u="none" strike="noStrike" kern="0" cap="none" spc="-40"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 </a:t>
            </a:r>
            <a:r>
              <a:rPr kumimoji="0" sz="1000" b="0" i="0" u="none" strike="noStrike" kern="0" cap="none" spc="-10"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Information </a:t>
            </a:r>
            <a:r>
              <a:rPr kumimoji="0" sz="1000" b="0" i="0" u="none" strike="noStrike" kern="0" cap="none" spc="-70"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Security</a:t>
            </a:r>
            <a:r>
              <a:rPr kumimoji="0" sz="1000" b="0" i="0" u="none" strike="noStrike" kern="0" cap="none" spc="-40"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 </a:t>
            </a:r>
            <a:r>
              <a:rPr kumimoji="0" sz="1000" b="0" i="0" u="none" strike="noStrike" kern="0" cap="none" spc="-55"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Officer</a:t>
            </a:r>
            <a:r>
              <a:rPr kumimoji="0" sz="1000" b="0" i="0" u="none" strike="noStrike" kern="0" cap="none" spc="-35"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 </a:t>
            </a:r>
            <a:r>
              <a:rPr kumimoji="0" sz="1000" b="0" i="0" u="none" strike="noStrike" kern="0" cap="none" spc="-85"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(CISO)</a:t>
            </a:r>
            <a:endParaRPr kumimoji="0" sz="1000" b="0" i="0" u="none" strike="noStrike" kern="0" cap="none" spc="0" normalizeH="0" baseline="0" noProof="0" dirty="0">
              <a:ln>
                <a:noFill/>
              </a:ln>
              <a:solidFill>
                <a:srgbClr val="004F9F"/>
              </a:solidFill>
              <a:effectLst/>
              <a:uLnTx/>
              <a:uFillTx/>
              <a:latin typeface="Arial Black"/>
              <a:ea typeface="+mn-ea"/>
              <a:cs typeface="Arial Black"/>
            </a:endParaRPr>
          </a:p>
        </p:txBody>
      </p:sp>
      <p:pic>
        <p:nvPicPr>
          <p:cNvPr id="15" name="object 5">
            <a:extLst>
              <a:ext uri="{FF2B5EF4-FFF2-40B4-BE49-F238E27FC236}">
                <a16:creationId xmlns:a16="http://schemas.microsoft.com/office/drawing/2014/main" id="{E24E0B66-A47A-0B39-FA7D-F66B2AB87ECC}"/>
              </a:ext>
            </a:extLst>
          </p:cNvPr>
          <p:cNvPicPr/>
          <p:nvPr/>
        </p:nvPicPr>
        <p:blipFill>
          <a:blip r:embed="rId4" cstate="print"/>
          <a:stretch>
            <a:fillRect/>
          </a:stretch>
        </p:blipFill>
        <p:spPr>
          <a:xfrm>
            <a:off x="4524641" y="512986"/>
            <a:ext cx="360705" cy="521971"/>
          </a:xfrm>
          <a:prstGeom prst="rect">
            <a:avLst/>
          </a:prstGeom>
        </p:spPr>
      </p:pic>
      <p:pic>
        <p:nvPicPr>
          <p:cNvPr id="16" name="object 6">
            <a:extLst>
              <a:ext uri="{FF2B5EF4-FFF2-40B4-BE49-F238E27FC236}">
                <a16:creationId xmlns:a16="http://schemas.microsoft.com/office/drawing/2014/main" id="{F2AFF035-BCC8-B2EC-E25D-737935FA38F4}"/>
              </a:ext>
            </a:extLst>
          </p:cNvPr>
          <p:cNvPicPr/>
          <p:nvPr/>
        </p:nvPicPr>
        <p:blipFill>
          <a:blip r:embed="rId5" cstate="print"/>
          <a:stretch>
            <a:fillRect/>
          </a:stretch>
        </p:blipFill>
        <p:spPr>
          <a:xfrm>
            <a:off x="1958795" y="5724302"/>
            <a:ext cx="489012" cy="517154"/>
          </a:xfrm>
          <a:prstGeom prst="rect">
            <a:avLst/>
          </a:prstGeom>
        </p:spPr>
      </p:pic>
      <p:sp>
        <p:nvSpPr>
          <p:cNvPr id="17" name="object 7">
            <a:extLst>
              <a:ext uri="{FF2B5EF4-FFF2-40B4-BE49-F238E27FC236}">
                <a16:creationId xmlns:a16="http://schemas.microsoft.com/office/drawing/2014/main" id="{AE33FA19-C08F-C7C3-5C92-EFAC6BABE4CF}"/>
              </a:ext>
            </a:extLst>
          </p:cNvPr>
          <p:cNvSpPr txBox="1"/>
          <p:nvPr/>
        </p:nvSpPr>
        <p:spPr>
          <a:xfrm>
            <a:off x="1749130" y="6313496"/>
            <a:ext cx="1031338" cy="353623"/>
          </a:xfrm>
          <a:prstGeom prst="rect">
            <a:avLst/>
          </a:prstGeom>
        </p:spPr>
        <p:txBody>
          <a:bodyPr vert="horz" wrap="square" lIns="0" tIns="12700" rIns="0" bIns="0" rtlCol="0">
            <a:spAutoFit/>
          </a:bodyPr>
          <a:lstStyle/>
          <a:p>
            <a:pPr marL="318770" marR="5080" indent="-306705" algn="ctr">
              <a:lnSpc>
                <a:spcPct val="113999"/>
              </a:lnSpc>
              <a:spcBef>
                <a:spcPts val="100"/>
              </a:spcBef>
              <a:defRPr/>
            </a:pPr>
            <a:r>
              <a:rPr sz="1000" kern="0" spc="-65" dirty="0">
                <a:solidFill>
                  <a:srgbClr val="CB0538"/>
                </a:solidFill>
                <a:latin typeface="Arial Black"/>
                <a:hlinkClick r:id="" action="ppaction://noaction">
                  <a:extLst>
                    <a:ext uri="{A12FA001-AC4F-418D-AE19-62706E023703}">
                      <ahyp:hlinkClr xmlns:ahyp="http://schemas.microsoft.com/office/drawing/2018/hyperlinkcolor" val="tx"/>
                    </a:ext>
                  </a:extLst>
                </a:hlinkClick>
              </a:rPr>
              <a:t>Cyber Incident</a:t>
            </a:r>
            <a:r>
              <a:rPr lang="fr-BE" sz="1000" kern="0" spc="-65" dirty="0">
                <a:solidFill>
                  <a:srgbClr val="CB0538"/>
                </a:solidFill>
                <a:latin typeface="Arial Black"/>
                <a:hlinkClick r:id="" action="ppaction://noaction">
                  <a:extLst>
                    <a:ext uri="{A12FA001-AC4F-418D-AE19-62706E023703}">
                      <ahyp:hlinkClr xmlns:ahyp="http://schemas.microsoft.com/office/drawing/2018/hyperlinkcolor" val="tx"/>
                    </a:ext>
                  </a:extLst>
                </a:hlinkClick>
              </a:rPr>
              <a:t> </a:t>
            </a:r>
            <a:r>
              <a:rPr sz="1000" kern="0" spc="-65" dirty="0">
                <a:solidFill>
                  <a:srgbClr val="CB0538"/>
                </a:solidFill>
                <a:latin typeface="Arial Black"/>
                <a:hlinkClick r:id="" action="ppaction://noaction">
                  <a:extLst>
                    <a:ext uri="{A12FA001-AC4F-418D-AE19-62706E023703}">
                      <ahyp:hlinkClr xmlns:ahyp="http://schemas.microsoft.com/office/drawing/2018/hyperlinkcolor" val="tx"/>
                    </a:ext>
                  </a:extLst>
                </a:hlinkClick>
              </a:rPr>
              <a:t>Responder</a:t>
            </a:r>
            <a:endParaRPr sz="1000" kern="0" spc="-65" dirty="0">
              <a:solidFill>
                <a:srgbClr val="CB0538"/>
              </a:solidFill>
              <a:latin typeface="Arial Black"/>
            </a:endParaRPr>
          </a:p>
        </p:txBody>
      </p:sp>
      <p:sp>
        <p:nvSpPr>
          <p:cNvPr id="18" name="object 8">
            <a:extLst>
              <a:ext uri="{FF2B5EF4-FFF2-40B4-BE49-F238E27FC236}">
                <a16:creationId xmlns:a16="http://schemas.microsoft.com/office/drawing/2014/main" id="{030C94D5-440F-B7D2-8506-D0E2DA3C5A82}"/>
              </a:ext>
            </a:extLst>
          </p:cNvPr>
          <p:cNvSpPr txBox="1"/>
          <p:nvPr/>
        </p:nvSpPr>
        <p:spPr>
          <a:xfrm>
            <a:off x="5224490" y="753001"/>
            <a:ext cx="1473200" cy="350930"/>
          </a:xfrm>
          <a:prstGeom prst="rect">
            <a:avLst/>
          </a:prstGeom>
        </p:spPr>
        <p:txBody>
          <a:bodyPr vert="horz" wrap="square" lIns="0" tIns="12700" rIns="0" bIns="0" rtlCol="0">
            <a:spAutoFit/>
          </a:bodyPr>
          <a:lstStyle/>
          <a:p>
            <a:pPr marL="12700" marR="5080" indent="137160">
              <a:lnSpc>
                <a:spcPct val="112999"/>
              </a:lnSpc>
              <a:spcBef>
                <a:spcPts val="100"/>
              </a:spcBef>
              <a:defRPr/>
            </a:pPr>
            <a:r>
              <a:rPr sz="1000" kern="0" spc="-65" dirty="0">
                <a:solidFill>
                  <a:srgbClr val="004F9F"/>
                </a:solidFill>
                <a:latin typeface="Arial Black"/>
                <a:hlinkClick r:id="" action="ppaction://noaction">
                  <a:extLst>
                    <a:ext uri="{A12FA001-AC4F-418D-AE19-62706E023703}">
                      <ahyp:hlinkClr xmlns:ahyp="http://schemas.microsoft.com/office/drawing/2018/hyperlinkcolor" val="tx"/>
                    </a:ext>
                  </a:extLst>
                </a:hlinkClick>
              </a:rPr>
              <a:t>Cyber Legal, Policy and Compliance Officer</a:t>
            </a:r>
            <a:endParaRPr sz="1000" kern="0" spc="-65" dirty="0">
              <a:solidFill>
                <a:srgbClr val="004F9F"/>
              </a:solidFill>
              <a:latin typeface="Arial Black"/>
            </a:endParaRPr>
          </a:p>
        </p:txBody>
      </p:sp>
      <p:pic>
        <p:nvPicPr>
          <p:cNvPr id="19" name="object 9">
            <a:extLst>
              <a:ext uri="{FF2B5EF4-FFF2-40B4-BE49-F238E27FC236}">
                <a16:creationId xmlns:a16="http://schemas.microsoft.com/office/drawing/2014/main" id="{ACBB101E-12FE-B09F-005C-5F998015495A}"/>
              </a:ext>
            </a:extLst>
          </p:cNvPr>
          <p:cNvPicPr/>
          <p:nvPr/>
        </p:nvPicPr>
        <p:blipFill>
          <a:blip r:embed="rId6" cstate="print"/>
          <a:stretch>
            <a:fillRect/>
          </a:stretch>
        </p:blipFill>
        <p:spPr>
          <a:xfrm>
            <a:off x="5485057" y="1156925"/>
            <a:ext cx="795427" cy="510384"/>
          </a:xfrm>
          <a:prstGeom prst="rect">
            <a:avLst/>
          </a:prstGeom>
        </p:spPr>
      </p:pic>
      <p:pic>
        <p:nvPicPr>
          <p:cNvPr id="20" name="object 10">
            <a:extLst>
              <a:ext uri="{FF2B5EF4-FFF2-40B4-BE49-F238E27FC236}">
                <a16:creationId xmlns:a16="http://schemas.microsoft.com/office/drawing/2014/main" id="{445A51C4-3024-533C-EB00-B65157AD618A}"/>
              </a:ext>
            </a:extLst>
          </p:cNvPr>
          <p:cNvPicPr/>
          <p:nvPr/>
        </p:nvPicPr>
        <p:blipFill>
          <a:blip r:embed="rId7" cstate="print"/>
          <a:stretch>
            <a:fillRect/>
          </a:stretch>
        </p:blipFill>
        <p:spPr>
          <a:xfrm>
            <a:off x="564723" y="3602782"/>
            <a:ext cx="605772" cy="663970"/>
          </a:xfrm>
          <a:prstGeom prst="rect">
            <a:avLst/>
          </a:prstGeom>
        </p:spPr>
      </p:pic>
      <p:sp>
        <p:nvSpPr>
          <p:cNvPr id="21" name="object 11">
            <a:extLst>
              <a:ext uri="{FF2B5EF4-FFF2-40B4-BE49-F238E27FC236}">
                <a16:creationId xmlns:a16="http://schemas.microsoft.com/office/drawing/2014/main" id="{87BE8CC1-D426-F851-8E0A-8C65E4A06D30}"/>
              </a:ext>
            </a:extLst>
          </p:cNvPr>
          <p:cNvSpPr txBox="1"/>
          <p:nvPr/>
        </p:nvSpPr>
        <p:spPr>
          <a:xfrm>
            <a:off x="98710" y="4266752"/>
            <a:ext cx="1437991" cy="524824"/>
          </a:xfrm>
          <a:prstGeom prst="rect">
            <a:avLst/>
          </a:prstGeom>
        </p:spPr>
        <p:txBody>
          <a:bodyPr vert="horz" wrap="square" lIns="0" tIns="12700" rIns="0" bIns="0" rtlCol="0">
            <a:spAutoFit/>
          </a:bodyPr>
          <a:lstStyle/>
          <a:p>
            <a:pPr marL="210820" marR="5080" indent="-198120">
              <a:lnSpc>
                <a:spcPct val="112999"/>
              </a:lnSpc>
              <a:spcBef>
                <a:spcPts val="100"/>
              </a:spcBef>
              <a:defRPr/>
            </a:pPr>
            <a:r>
              <a:rPr sz="1000" kern="0" spc="-65" dirty="0">
                <a:solidFill>
                  <a:srgbClr val="FFC000"/>
                </a:solidFill>
                <a:latin typeface="Arial Black"/>
                <a:hlinkClick r:id="" action="ppaction://noaction">
                  <a:extLst>
                    <a:ext uri="{A12FA001-AC4F-418D-AE19-62706E023703}">
                      <ahyp:hlinkClr xmlns:ahyp="http://schemas.microsoft.com/office/drawing/2018/hyperlinkcolor" val="tx"/>
                    </a:ext>
                  </a:extLst>
                </a:hlinkClick>
              </a:rPr>
              <a:t>Cyber Threat Intelligence Specialist</a:t>
            </a:r>
            <a:endParaRPr sz="1000" kern="0" spc="-65" dirty="0">
              <a:solidFill>
                <a:srgbClr val="FFC000"/>
              </a:solidFill>
              <a:latin typeface="Arial Black"/>
            </a:endParaRPr>
          </a:p>
        </p:txBody>
      </p:sp>
      <p:pic>
        <p:nvPicPr>
          <p:cNvPr id="22" name="object 12">
            <a:extLst>
              <a:ext uri="{FF2B5EF4-FFF2-40B4-BE49-F238E27FC236}">
                <a16:creationId xmlns:a16="http://schemas.microsoft.com/office/drawing/2014/main" id="{F7611294-0F36-4E15-3556-5FE840DE729E}"/>
              </a:ext>
            </a:extLst>
          </p:cNvPr>
          <p:cNvPicPr/>
          <p:nvPr/>
        </p:nvPicPr>
        <p:blipFill>
          <a:blip r:embed="rId8" cstate="print"/>
          <a:stretch>
            <a:fillRect/>
          </a:stretch>
        </p:blipFill>
        <p:spPr>
          <a:xfrm>
            <a:off x="6377711" y="2816130"/>
            <a:ext cx="660792" cy="632734"/>
          </a:xfrm>
          <a:prstGeom prst="rect">
            <a:avLst/>
          </a:prstGeom>
        </p:spPr>
      </p:pic>
      <p:sp>
        <p:nvSpPr>
          <p:cNvPr id="23" name="object 13">
            <a:extLst>
              <a:ext uri="{FF2B5EF4-FFF2-40B4-BE49-F238E27FC236}">
                <a16:creationId xmlns:a16="http://schemas.microsoft.com/office/drawing/2014/main" id="{1D1702E2-4353-D0ED-A5CD-58E9F417E917}"/>
              </a:ext>
            </a:extLst>
          </p:cNvPr>
          <p:cNvSpPr txBox="1"/>
          <p:nvPr/>
        </p:nvSpPr>
        <p:spPr>
          <a:xfrm>
            <a:off x="6238051" y="3502545"/>
            <a:ext cx="900430" cy="353623"/>
          </a:xfrm>
          <a:prstGeom prst="rect">
            <a:avLst/>
          </a:prstGeom>
        </p:spPr>
        <p:txBody>
          <a:bodyPr vert="horz" wrap="square" lIns="0" tIns="12700" rIns="0" bIns="0" rtlCol="0">
            <a:spAutoFit/>
          </a:bodyPr>
          <a:lstStyle/>
          <a:p>
            <a:pPr marL="93345" marR="5080" indent="-81280">
              <a:lnSpc>
                <a:spcPct val="113999"/>
              </a:lnSpc>
              <a:spcBef>
                <a:spcPts val="100"/>
              </a:spcBef>
              <a:defRPr/>
            </a:pPr>
            <a:r>
              <a:rPr sz="1000" kern="0" spc="-65" dirty="0">
                <a:solidFill>
                  <a:srgbClr val="95C11F"/>
                </a:solidFill>
                <a:latin typeface="Arial Black"/>
                <a:hlinkClick r:id="" action="ppaction://noaction">
                  <a:extLst>
                    <a:ext uri="{A12FA001-AC4F-418D-AE19-62706E023703}">
                      <ahyp:hlinkClr xmlns:ahyp="http://schemas.microsoft.com/office/drawing/2018/hyperlinkcolor" val="tx"/>
                    </a:ext>
                  </a:extLst>
                </a:hlinkClick>
              </a:rPr>
              <a:t>Cybersecurity Architect</a:t>
            </a:r>
            <a:endParaRPr sz="1000" kern="0" spc="-65" dirty="0">
              <a:solidFill>
                <a:srgbClr val="95C11F"/>
              </a:solidFill>
              <a:latin typeface="Arial Black"/>
            </a:endParaRPr>
          </a:p>
        </p:txBody>
      </p:sp>
      <p:pic>
        <p:nvPicPr>
          <p:cNvPr id="24" name="object 14">
            <a:extLst>
              <a:ext uri="{FF2B5EF4-FFF2-40B4-BE49-F238E27FC236}">
                <a16:creationId xmlns:a16="http://schemas.microsoft.com/office/drawing/2014/main" id="{AC591119-F825-3381-0830-B33F082091FD}"/>
              </a:ext>
            </a:extLst>
          </p:cNvPr>
          <p:cNvPicPr/>
          <p:nvPr/>
        </p:nvPicPr>
        <p:blipFill>
          <a:blip r:embed="rId9" cstate="print"/>
          <a:stretch>
            <a:fillRect/>
          </a:stretch>
        </p:blipFill>
        <p:spPr>
          <a:xfrm>
            <a:off x="1144254" y="1210389"/>
            <a:ext cx="700333" cy="642654"/>
          </a:xfrm>
          <a:prstGeom prst="rect">
            <a:avLst/>
          </a:prstGeom>
        </p:spPr>
      </p:pic>
      <p:sp>
        <p:nvSpPr>
          <p:cNvPr id="25" name="object 15">
            <a:extLst>
              <a:ext uri="{FF2B5EF4-FFF2-40B4-BE49-F238E27FC236}">
                <a16:creationId xmlns:a16="http://schemas.microsoft.com/office/drawing/2014/main" id="{B30DAF36-9CAE-C2D1-D65C-973F03E9BE3E}"/>
              </a:ext>
            </a:extLst>
          </p:cNvPr>
          <p:cNvSpPr txBox="1"/>
          <p:nvPr/>
        </p:nvSpPr>
        <p:spPr>
          <a:xfrm>
            <a:off x="1173700" y="840185"/>
            <a:ext cx="900430" cy="350930"/>
          </a:xfrm>
          <a:prstGeom prst="rect">
            <a:avLst/>
          </a:prstGeom>
        </p:spPr>
        <p:txBody>
          <a:bodyPr vert="horz" wrap="square" lIns="0" tIns="12700" rIns="0" bIns="0" rtlCol="0">
            <a:spAutoFit/>
          </a:bodyPr>
          <a:lstStyle/>
          <a:p>
            <a:pPr marL="210820" marR="5080" lvl="0" indent="-198120" algn="l"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FFC000"/>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Cybersecurity </a:t>
            </a:r>
            <a:r>
              <a:rPr kumimoji="0" sz="1000" b="0" i="0" u="none" strike="noStrike" kern="0" cap="none" spc="-10" normalizeH="0" baseline="0" noProof="0" dirty="0">
                <a:ln>
                  <a:noFill/>
                </a:ln>
                <a:solidFill>
                  <a:srgbClr val="FFC000"/>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Auditor</a:t>
            </a:r>
            <a:endParaRPr kumimoji="0" sz="1000" b="0" i="0" u="none" strike="noStrike" kern="0" cap="none" spc="0" normalizeH="0" baseline="0" noProof="0" dirty="0">
              <a:ln>
                <a:noFill/>
              </a:ln>
              <a:solidFill>
                <a:srgbClr val="FFC000"/>
              </a:solidFill>
              <a:effectLst/>
              <a:uLnTx/>
              <a:uFillTx/>
              <a:latin typeface="Arial Black"/>
              <a:ea typeface="+mn-ea"/>
              <a:cs typeface="Arial Black"/>
            </a:endParaRPr>
          </a:p>
        </p:txBody>
      </p:sp>
      <p:sp>
        <p:nvSpPr>
          <p:cNvPr id="26" name="object 16">
            <a:extLst>
              <a:ext uri="{FF2B5EF4-FFF2-40B4-BE49-F238E27FC236}">
                <a16:creationId xmlns:a16="http://schemas.microsoft.com/office/drawing/2014/main" id="{186AF9ED-FC4B-68E8-4475-0ABC96D9C670}"/>
              </a:ext>
            </a:extLst>
          </p:cNvPr>
          <p:cNvSpPr txBox="1"/>
          <p:nvPr/>
        </p:nvSpPr>
        <p:spPr>
          <a:xfrm>
            <a:off x="4897887" y="6277845"/>
            <a:ext cx="900430" cy="353623"/>
          </a:xfrm>
          <a:prstGeom prst="rect">
            <a:avLst/>
          </a:prstGeom>
        </p:spPr>
        <p:txBody>
          <a:bodyPr vert="horz" wrap="square" lIns="0" tIns="12700" rIns="0" bIns="0" rtlCol="0">
            <a:spAutoFit/>
          </a:bodyPr>
          <a:lstStyle/>
          <a:p>
            <a:pPr marL="93345" marR="5080" indent="-81280">
              <a:lnSpc>
                <a:spcPct val="113999"/>
              </a:lnSpc>
              <a:spcBef>
                <a:spcPts val="100"/>
              </a:spcBef>
              <a:defRPr/>
            </a:pPr>
            <a:r>
              <a:rPr sz="1000" kern="0" spc="-65" dirty="0">
                <a:solidFill>
                  <a:srgbClr val="95C11F"/>
                </a:solidFill>
                <a:latin typeface="Arial Black"/>
                <a:hlinkClick r:id="" action="ppaction://noaction">
                  <a:extLst>
                    <a:ext uri="{A12FA001-AC4F-418D-AE19-62706E023703}">
                      <ahyp:hlinkClr xmlns:ahyp="http://schemas.microsoft.com/office/drawing/2018/hyperlinkcolor" val="tx"/>
                    </a:ext>
                  </a:extLst>
                </a:hlinkClick>
              </a:rPr>
              <a:t>Cybersecurity Educator</a:t>
            </a:r>
            <a:endParaRPr sz="1000" kern="0" spc="-65" dirty="0">
              <a:solidFill>
                <a:srgbClr val="95C11F"/>
              </a:solidFill>
              <a:latin typeface="Arial Black"/>
            </a:endParaRPr>
          </a:p>
        </p:txBody>
      </p:sp>
      <p:pic>
        <p:nvPicPr>
          <p:cNvPr id="27" name="object 17">
            <a:extLst>
              <a:ext uri="{FF2B5EF4-FFF2-40B4-BE49-F238E27FC236}">
                <a16:creationId xmlns:a16="http://schemas.microsoft.com/office/drawing/2014/main" id="{37CC4158-08E5-653D-A438-ABE106341F6C}"/>
              </a:ext>
            </a:extLst>
          </p:cNvPr>
          <p:cNvPicPr/>
          <p:nvPr/>
        </p:nvPicPr>
        <p:blipFill>
          <a:blip r:embed="rId10" cstate="print"/>
          <a:stretch>
            <a:fillRect/>
          </a:stretch>
        </p:blipFill>
        <p:spPr>
          <a:xfrm>
            <a:off x="5023986" y="5759492"/>
            <a:ext cx="559102" cy="427300"/>
          </a:xfrm>
          <a:prstGeom prst="rect">
            <a:avLst/>
          </a:prstGeom>
        </p:spPr>
      </p:pic>
      <p:sp>
        <p:nvSpPr>
          <p:cNvPr id="28" name="object 18">
            <a:extLst>
              <a:ext uri="{FF2B5EF4-FFF2-40B4-BE49-F238E27FC236}">
                <a16:creationId xmlns:a16="http://schemas.microsoft.com/office/drawing/2014/main" id="{6EF6771B-D2C5-23B2-89A4-2518412336FB}"/>
              </a:ext>
            </a:extLst>
          </p:cNvPr>
          <p:cNvSpPr txBox="1"/>
          <p:nvPr/>
        </p:nvSpPr>
        <p:spPr>
          <a:xfrm>
            <a:off x="5989403" y="5035422"/>
            <a:ext cx="1046596" cy="350930"/>
          </a:xfrm>
          <a:prstGeom prst="rect">
            <a:avLst/>
          </a:prstGeom>
        </p:spPr>
        <p:txBody>
          <a:bodyPr vert="horz" wrap="square" lIns="0" tIns="12700" rIns="0" bIns="0" rtlCol="0">
            <a:spAutoFit/>
          </a:bodyPr>
          <a:lstStyle/>
          <a:p>
            <a:pPr marL="12700" marR="5080" indent="137160">
              <a:lnSpc>
                <a:spcPct val="112999"/>
              </a:lnSpc>
              <a:spcBef>
                <a:spcPts val="100"/>
              </a:spcBef>
              <a:defRPr/>
            </a:pPr>
            <a:r>
              <a:rPr sz="1000" kern="0" spc="-65" dirty="0">
                <a:solidFill>
                  <a:srgbClr val="004F9F"/>
                </a:solidFill>
                <a:latin typeface="Arial Black"/>
                <a:hlinkClick r:id="" action="ppaction://noaction">
                  <a:extLst>
                    <a:ext uri="{A12FA001-AC4F-418D-AE19-62706E023703}">
                      <ahyp:hlinkClr xmlns:ahyp="http://schemas.microsoft.com/office/drawing/2018/hyperlinkcolor" val="tx"/>
                    </a:ext>
                  </a:extLst>
                </a:hlinkClick>
              </a:rPr>
              <a:t>Cybersecurity Implementer</a:t>
            </a:r>
            <a:endParaRPr sz="1000" kern="0" spc="-65" dirty="0">
              <a:solidFill>
                <a:srgbClr val="004F9F"/>
              </a:solidFill>
              <a:latin typeface="Arial Black"/>
            </a:endParaRPr>
          </a:p>
        </p:txBody>
      </p:sp>
      <p:pic>
        <p:nvPicPr>
          <p:cNvPr id="29" name="object 19">
            <a:extLst>
              <a:ext uri="{FF2B5EF4-FFF2-40B4-BE49-F238E27FC236}">
                <a16:creationId xmlns:a16="http://schemas.microsoft.com/office/drawing/2014/main" id="{EF36609B-84BB-4157-8842-060B8B114A0F}"/>
              </a:ext>
            </a:extLst>
          </p:cNvPr>
          <p:cNvPicPr/>
          <p:nvPr/>
        </p:nvPicPr>
        <p:blipFill>
          <a:blip r:embed="rId11" cstate="print"/>
          <a:stretch>
            <a:fillRect/>
          </a:stretch>
        </p:blipFill>
        <p:spPr>
          <a:xfrm>
            <a:off x="6155430" y="4509653"/>
            <a:ext cx="572226" cy="570796"/>
          </a:xfrm>
          <a:prstGeom prst="rect">
            <a:avLst/>
          </a:prstGeom>
        </p:spPr>
      </p:pic>
      <p:pic>
        <p:nvPicPr>
          <p:cNvPr id="30" name="object 20">
            <a:extLst>
              <a:ext uri="{FF2B5EF4-FFF2-40B4-BE49-F238E27FC236}">
                <a16:creationId xmlns:a16="http://schemas.microsoft.com/office/drawing/2014/main" id="{127FAD07-1B38-DA41-3B03-AA16F3BC077C}"/>
              </a:ext>
            </a:extLst>
          </p:cNvPr>
          <p:cNvPicPr/>
          <p:nvPr/>
        </p:nvPicPr>
        <p:blipFill>
          <a:blip r:embed="rId12" cstate="print"/>
          <a:stretch>
            <a:fillRect/>
          </a:stretch>
        </p:blipFill>
        <p:spPr>
          <a:xfrm>
            <a:off x="2358881" y="549471"/>
            <a:ext cx="539479" cy="478138"/>
          </a:xfrm>
          <a:prstGeom prst="rect">
            <a:avLst/>
          </a:prstGeom>
        </p:spPr>
      </p:pic>
      <p:sp>
        <p:nvSpPr>
          <p:cNvPr id="31" name="object 21">
            <a:extLst>
              <a:ext uri="{FF2B5EF4-FFF2-40B4-BE49-F238E27FC236}">
                <a16:creationId xmlns:a16="http://schemas.microsoft.com/office/drawing/2014/main" id="{7E709564-2B87-F65C-8CE5-813E6F1AACBE}"/>
              </a:ext>
            </a:extLst>
          </p:cNvPr>
          <p:cNvSpPr txBox="1"/>
          <p:nvPr/>
        </p:nvSpPr>
        <p:spPr>
          <a:xfrm>
            <a:off x="2135617" y="152132"/>
            <a:ext cx="900430" cy="353623"/>
          </a:xfrm>
          <a:prstGeom prst="rect">
            <a:avLst/>
          </a:prstGeom>
        </p:spPr>
        <p:txBody>
          <a:bodyPr vert="horz" wrap="square" lIns="0" tIns="12700" rIns="0" bIns="0" rtlCol="0">
            <a:spAutoFit/>
          </a:bodyPr>
          <a:lstStyle/>
          <a:p>
            <a:pPr marL="93345" marR="5080" lvl="0" indent="-8128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95C11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Cybersecurity </a:t>
            </a:r>
            <a:r>
              <a:rPr kumimoji="0" sz="1000" b="0" i="0" u="none" strike="noStrike" kern="0" cap="none" spc="-10" normalizeH="0" baseline="0" noProof="0" dirty="0">
                <a:ln>
                  <a:noFill/>
                </a:ln>
                <a:solidFill>
                  <a:srgbClr val="95C11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Researcher</a:t>
            </a:r>
            <a:endParaRPr kumimoji="0" sz="1000" b="0" i="0" u="none" strike="noStrike" kern="0" cap="none" spc="0" normalizeH="0" baseline="0" noProof="0" dirty="0">
              <a:ln>
                <a:noFill/>
              </a:ln>
              <a:solidFill>
                <a:srgbClr val="95C11F"/>
              </a:solidFill>
              <a:effectLst/>
              <a:uLnTx/>
              <a:uFillTx/>
              <a:latin typeface="Arial Black"/>
              <a:ea typeface="+mn-ea"/>
              <a:cs typeface="Arial Black"/>
            </a:endParaRPr>
          </a:p>
        </p:txBody>
      </p:sp>
      <p:pic>
        <p:nvPicPr>
          <p:cNvPr id="22528" name="object 22">
            <a:extLst>
              <a:ext uri="{FF2B5EF4-FFF2-40B4-BE49-F238E27FC236}">
                <a16:creationId xmlns:a16="http://schemas.microsoft.com/office/drawing/2014/main" id="{91C4A529-50D7-8F73-985F-2DBE5EF819BA}"/>
              </a:ext>
            </a:extLst>
          </p:cNvPr>
          <p:cNvPicPr/>
          <p:nvPr/>
        </p:nvPicPr>
        <p:blipFill>
          <a:blip r:embed="rId13" cstate="print"/>
          <a:stretch>
            <a:fillRect/>
          </a:stretch>
        </p:blipFill>
        <p:spPr>
          <a:xfrm>
            <a:off x="6251039" y="2111556"/>
            <a:ext cx="511738" cy="510384"/>
          </a:xfrm>
          <a:prstGeom prst="rect">
            <a:avLst/>
          </a:prstGeom>
        </p:spPr>
      </p:pic>
      <p:sp>
        <p:nvSpPr>
          <p:cNvPr id="22529" name="object 23">
            <a:extLst>
              <a:ext uri="{FF2B5EF4-FFF2-40B4-BE49-F238E27FC236}">
                <a16:creationId xmlns:a16="http://schemas.microsoft.com/office/drawing/2014/main" id="{E1E7FE63-294B-6973-7DBE-23E07735CB76}"/>
              </a:ext>
            </a:extLst>
          </p:cNvPr>
          <p:cNvSpPr txBox="1"/>
          <p:nvPr/>
        </p:nvSpPr>
        <p:spPr>
          <a:xfrm>
            <a:off x="5908103" y="1782978"/>
            <a:ext cx="1197610" cy="353623"/>
          </a:xfrm>
          <a:prstGeom prst="rect">
            <a:avLst/>
          </a:prstGeom>
        </p:spPr>
        <p:txBody>
          <a:bodyPr vert="horz" wrap="square" lIns="0" tIns="12700" rIns="0" bIns="0" rtlCol="0">
            <a:spAutoFit/>
          </a:bodyPr>
          <a:lstStyle/>
          <a:p>
            <a:pPr marL="318770" marR="5080" lvl="0" indent="-306705"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CB0538"/>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Cybersecurity</a:t>
            </a:r>
            <a:r>
              <a:rPr kumimoji="0" sz="1000" b="0" i="0" u="none" strike="noStrike" kern="0" cap="none" spc="-15" normalizeH="0" baseline="0" noProof="0" dirty="0">
                <a:ln>
                  <a:noFill/>
                </a:ln>
                <a:solidFill>
                  <a:srgbClr val="CB0538"/>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 </a:t>
            </a:r>
            <a:r>
              <a:rPr kumimoji="0" sz="1000" b="0" i="0" u="none" strike="noStrike" kern="0" cap="none" spc="-80" normalizeH="0" baseline="0" noProof="0" dirty="0">
                <a:ln>
                  <a:noFill/>
                </a:ln>
                <a:solidFill>
                  <a:srgbClr val="CB0538"/>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Risk </a:t>
            </a:r>
            <a:r>
              <a:rPr kumimoji="0" sz="1000" b="0" i="0" u="none" strike="noStrike" kern="0" cap="none" spc="-10" normalizeH="0" baseline="0" noProof="0" dirty="0">
                <a:ln>
                  <a:noFill/>
                </a:ln>
                <a:solidFill>
                  <a:srgbClr val="CB0538"/>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Manager</a:t>
            </a:r>
            <a:endParaRPr kumimoji="0" sz="1000" b="0" i="0" u="none" strike="noStrike" kern="0" cap="none" spc="0" normalizeH="0" baseline="0" noProof="0" dirty="0">
              <a:ln>
                <a:noFill/>
              </a:ln>
              <a:solidFill>
                <a:srgbClr val="CB0538"/>
              </a:solidFill>
              <a:effectLst/>
              <a:uLnTx/>
              <a:uFillTx/>
              <a:latin typeface="Arial Black"/>
              <a:ea typeface="+mn-ea"/>
              <a:cs typeface="Arial Black"/>
            </a:endParaRPr>
          </a:p>
        </p:txBody>
      </p:sp>
      <p:pic>
        <p:nvPicPr>
          <p:cNvPr id="22531" name="object 24">
            <a:extLst>
              <a:ext uri="{FF2B5EF4-FFF2-40B4-BE49-F238E27FC236}">
                <a16:creationId xmlns:a16="http://schemas.microsoft.com/office/drawing/2014/main" id="{F5E823CF-DE9C-9F95-EA95-C70256C20E20}"/>
              </a:ext>
            </a:extLst>
          </p:cNvPr>
          <p:cNvPicPr/>
          <p:nvPr/>
        </p:nvPicPr>
        <p:blipFill>
          <a:blip r:embed="rId14" cstate="print"/>
          <a:stretch>
            <a:fillRect/>
          </a:stretch>
        </p:blipFill>
        <p:spPr>
          <a:xfrm>
            <a:off x="759669" y="4844746"/>
            <a:ext cx="677394" cy="473212"/>
          </a:xfrm>
          <a:prstGeom prst="rect">
            <a:avLst/>
          </a:prstGeom>
        </p:spPr>
      </p:pic>
      <p:sp>
        <p:nvSpPr>
          <p:cNvPr id="22532" name="object 25">
            <a:extLst>
              <a:ext uri="{FF2B5EF4-FFF2-40B4-BE49-F238E27FC236}">
                <a16:creationId xmlns:a16="http://schemas.microsoft.com/office/drawing/2014/main" id="{8DBB5A6B-AF47-EE34-FC47-4EE827A2C96A}"/>
              </a:ext>
            </a:extLst>
          </p:cNvPr>
          <p:cNvSpPr txBox="1"/>
          <p:nvPr/>
        </p:nvSpPr>
        <p:spPr>
          <a:xfrm>
            <a:off x="715872" y="5337912"/>
            <a:ext cx="1065530" cy="350930"/>
          </a:xfrm>
          <a:prstGeom prst="rect">
            <a:avLst/>
          </a:prstGeom>
        </p:spPr>
        <p:txBody>
          <a:bodyPr vert="horz" wrap="square" lIns="0" tIns="12700" rIns="0" bIns="0" rtlCol="0">
            <a:spAutoFit/>
          </a:bodyPr>
          <a:lstStyle/>
          <a:p>
            <a:pPr marL="210820" marR="5080" indent="-198120">
              <a:lnSpc>
                <a:spcPct val="112999"/>
              </a:lnSpc>
              <a:spcBef>
                <a:spcPts val="100"/>
              </a:spcBef>
              <a:defRPr/>
            </a:pPr>
            <a:r>
              <a:rPr sz="1000" kern="0" spc="-65" dirty="0">
                <a:solidFill>
                  <a:srgbClr val="FFC000"/>
                </a:solidFill>
                <a:latin typeface="Arial Black"/>
                <a:hlinkClick r:id="" action="ppaction://noaction">
                  <a:extLst>
                    <a:ext uri="{A12FA001-AC4F-418D-AE19-62706E023703}">
                      <ahyp:hlinkClr xmlns:ahyp="http://schemas.microsoft.com/office/drawing/2018/hyperlinkcolor" val="tx"/>
                    </a:ext>
                  </a:extLst>
                </a:hlinkClick>
              </a:rPr>
              <a:t>Digital Forensics Investigator</a:t>
            </a:r>
            <a:endParaRPr sz="1000" kern="0" spc="-65" dirty="0">
              <a:solidFill>
                <a:srgbClr val="FFC000"/>
              </a:solidFill>
              <a:latin typeface="Arial Black"/>
            </a:endParaRPr>
          </a:p>
        </p:txBody>
      </p:sp>
      <p:pic>
        <p:nvPicPr>
          <p:cNvPr id="22533" name="object 26">
            <a:extLst>
              <a:ext uri="{FF2B5EF4-FFF2-40B4-BE49-F238E27FC236}">
                <a16:creationId xmlns:a16="http://schemas.microsoft.com/office/drawing/2014/main" id="{F1292125-1529-B7D4-ADF6-CB1F81E7B2A4}"/>
              </a:ext>
            </a:extLst>
          </p:cNvPr>
          <p:cNvPicPr/>
          <p:nvPr/>
        </p:nvPicPr>
        <p:blipFill>
          <a:blip r:embed="rId15" cstate="print"/>
          <a:stretch>
            <a:fillRect/>
          </a:stretch>
        </p:blipFill>
        <p:spPr>
          <a:xfrm>
            <a:off x="715873" y="2223247"/>
            <a:ext cx="677334" cy="558586"/>
          </a:xfrm>
          <a:prstGeom prst="rect">
            <a:avLst/>
          </a:prstGeom>
        </p:spPr>
      </p:pic>
      <p:sp>
        <p:nvSpPr>
          <p:cNvPr id="22534" name="object 27">
            <a:extLst>
              <a:ext uri="{FF2B5EF4-FFF2-40B4-BE49-F238E27FC236}">
                <a16:creationId xmlns:a16="http://schemas.microsoft.com/office/drawing/2014/main" id="{9AF37952-6367-05C0-6002-414133978875}"/>
              </a:ext>
            </a:extLst>
          </p:cNvPr>
          <p:cNvSpPr txBox="1"/>
          <p:nvPr/>
        </p:nvSpPr>
        <p:spPr>
          <a:xfrm>
            <a:off x="509583" y="2805049"/>
            <a:ext cx="782320" cy="353623"/>
          </a:xfrm>
          <a:prstGeom prst="rect">
            <a:avLst/>
          </a:prstGeom>
        </p:spPr>
        <p:txBody>
          <a:bodyPr vert="horz" wrap="square" lIns="0" tIns="12700" rIns="0" bIns="0" rtlCol="0">
            <a:spAutoFit/>
          </a:bodyPr>
          <a:lstStyle/>
          <a:p>
            <a:pPr marL="318770" marR="5080" indent="-306705" algn="ctr">
              <a:lnSpc>
                <a:spcPct val="113999"/>
              </a:lnSpc>
              <a:spcBef>
                <a:spcPts val="100"/>
              </a:spcBef>
              <a:defRPr/>
            </a:pPr>
            <a:r>
              <a:rPr sz="1000" kern="0" spc="-65" dirty="0">
                <a:solidFill>
                  <a:srgbClr val="CB0538"/>
                </a:solidFill>
                <a:latin typeface="Arial Black"/>
                <a:hlinkClick r:id="" action="ppaction://noaction">
                  <a:extLst>
                    <a:ext uri="{A12FA001-AC4F-418D-AE19-62706E023703}">
                      <ahyp:hlinkClr xmlns:ahyp="http://schemas.microsoft.com/office/drawing/2018/hyperlinkcolor" val="tx"/>
                    </a:ext>
                  </a:extLst>
                </a:hlinkClick>
              </a:rPr>
              <a:t>Penetration Tester</a:t>
            </a:r>
            <a:endParaRPr sz="1000" kern="0" spc="-65" dirty="0">
              <a:solidFill>
                <a:srgbClr val="CB0538"/>
              </a:solidFill>
              <a:latin typeface="Arial Black"/>
            </a:endParaRPr>
          </a:p>
        </p:txBody>
      </p:sp>
      <p:grpSp>
        <p:nvGrpSpPr>
          <p:cNvPr id="22540" name="Group 22539">
            <a:extLst>
              <a:ext uri="{FF2B5EF4-FFF2-40B4-BE49-F238E27FC236}">
                <a16:creationId xmlns:a16="http://schemas.microsoft.com/office/drawing/2014/main" id="{4B794542-F025-990C-EAE4-DD4890599C34}"/>
              </a:ext>
            </a:extLst>
          </p:cNvPr>
          <p:cNvGrpSpPr/>
          <p:nvPr/>
        </p:nvGrpSpPr>
        <p:grpSpPr>
          <a:xfrm>
            <a:off x="1336015" y="1122245"/>
            <a:ext cx="4780888" cy="4777520"/>
            <a:chOff x="1336015" y="1122245"/>
            <a:chExt cx="4780888" cy="4777520"/>
          </a:xfrm>
        </p:grpSpPr>
        <p:sp>
          <p:nvSpPr>
            <p:cNvPr id="8" name="Freeform: Shape 7">
              <a:extLst>
                <a:ext uri="{FF2B5EF4-FFF2-40B4-BE49-F238E27FC236}">
                  <a16:creationId xmlns:a16="http://schemas.microsoft.com/office/drawing/2014/main" id="{01835E4F-2202-216B-5064-7BCC7E9D3F8F}"/>
                </a:ext>
              </a:extLst>
            </p:cNvPr>
            <p:cNvSpPr/>
            <p:nvPr/>
          </p:nvSpPr>
          <p:spPr>
            <a:xfrm>
              <a:off x="1336015" y="1133698"/>
              <a:ext cx="2375066" cy="2315166"/>
            </a:xfrm>
            <a:custGeom>
              <a:avLst/>
              <a:gdLst>
                <a:gd name="connsiteX0" fmla="*/ 2375066 w 2375066"/>
                <a:gd name="connsiteY0" fmla="*/ 0 h 2315166"/>
                <a:gd name="connsiteX1" fmla="*/ 2375066 w 2375066"/>
                <a:gd name="connsiteY1" fmla="*/ 448070 h 2315166"/>
                <a:gd name="connsiteX2" fmla="*/ 2371121 w 2375066"/>
                <a:gd name="connsiteY2" fmla="*/ 447869 h 2315166"/>
                <a:gd name="connsiteX3" fmla="*/ 451919 w 2375066"/>
                <a:gd name="connsiteY3" fmla="*/ 2198581 h 2315166"/>
                <a:gd name="connsiteX4" fmla="*/ 446095 w 2375066"/>
                <a:gd name="connsiteY4" fmla="*/ 2315166 h 2315166"/>
                <a:gd name="connsiteX5" fmla="*/ 0 w 2375066"/>
                <a:gd name="connsiteY5" fmla="*/ 2301412 h 2315166"/>
                <a:gd name="connsiteX6" fmla="*/ 2375066 w 2375066"/>
                <a:gd name="connsiteY6" fmla="*/ 0 h 231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5066" h="2315166">
                  <a:moveTo>
                    <a:pt x="2375066" y="0"/>
                  </a:moveTo>
                  <a:lnTo>
                    <a:pt x="2375066" y="448070"/>
                  </a:lnTo>
                  <a:lnTo>
                    <a:pt x="2371121" y="447869"/>
                  </a:lnTo>
                  <a:cubicBezTo>
                    <a:pt x="1372265" y="447869"/>
                    <a:pt x="550711" y="1215233"/>
                    <a:pt x="451919" y="2198581"/>
                  </a:cubicBezTo>
                  <a:lnTo>
                    <a:pt x="446095" y="2315166"/>
                  </a:lnTo>
                  <a:lnTo>
                    <a:pt x="0" y="2301412"/>
                  </a:lnTo>
                  <a:cubicBezTo>
                    <a:pt x="39590" y="1019056"/>
                    <a:pt x="1091259" y="0"/>
                    <a:pt x="2375066" y="0"/>
                  </a:cubicBezTo>
                  <a:close/>
                </a:path>
              </a:pathLst>
            </a:custGeom>
            <a:solidFill>
              <a:srgbClr val="95C11F"/>
            </a:solidFill>
            <a:ln>
              <a:solidFill>
                <a:schemeClr val="bg2"/>
              </a:solidFill>
            </a:ln>
          </p:spPr>
          <p:style>
            <a:lnRef idx="2">
              <a:schemeClr val="accent6">
                <a:shade val="15000"/>
              </a:schemeClr>
            </a:lnRef>
            <a:fillRef idx="1">
              <a:schemeClr val="accent6"/>
            </a:fillRef>
            <a:effectRef idx="0">
              <a:schemeClr val="accent6"/>
            </a:effectRef>
            <a:fontRef idx="minor">
              <a:schemeClr val="lt1"/>
            </a:fontRef>
          </p:style>
          <p:txBody>
            <a:bodyPr wrap="square" rtlCol="0" anchor="ctr">
              <a:noAutofit/>
            </a:bodyPr>
            <a:lstStyle/>
            <a:p>
              <a:pPr algn="ctr"/>
              <a:endParaRPr lang="fr-BE"/>
            </a:p>
          </p:txBody>
        </p:sp>
        <p:sp>
          <p:nvSpPr>
            <p:cNvPr id="10" name="Freeform: Shape 9">
              <a:extLst>
                <a:ext uri="{FF2B5EF4-FFF2-40B4-BE49-F238E27FC236}">
                  <a16:creationId xmlns:a16="http://schemas.microsoft.com/office/drawing/2014/main" id="{9EA36BD4-ED9E-10E9-E872-F04C059374B6}"/>
                </a:ext>
              </a:extLst>
            </p:cNvPr>
            <p:cNvSpPr/>
            <p:nvPr/>
          </p:nvSpPr>
          <p:spPr>
            <a:xfrm rot="5400000">
              <a:off x="3743608" y="1152195"/>
              <a:ext cx="2375066" cy="2315166"/>
            </a:xfrm>
            <a:custGeom>
              <a:avLst/>
              <a:gdLst>
                <a:gd name="connsiteX0" fmla="*/ 2375066 w 2375066"/>
                <a:gd name="connsiteY0" fmla="*/ 0 h 2315166"/>
                <a:gd name="connsiteX1" fmla="*/ 2375066 w 2375066"/>
                <a:gd name="connsiteY1" fmla="*/ 448070 h 2315166"/>
                <a:gd name="connsiteX2" fmla="*/ 2371121 w 2375066"/>
                <a:gd name="connsiteY2" fmla="*/ 447869 h 2315166"/>
                <a:gd name="connsiteX3" fmla="*/ 451919 w 2375066"/>
                <a:gd name="connsiteY3" fmla="*/ 2198581 h 2315166"/>
                <a:gd name="connsiteX4" fmla="*/ 446095 w 2375066"/>
                <a:gd name="connsiteY4" fmla="*/ 2315166 h 2315166"/>
                <a:gd name="connsiteX5" fmla="*/ 0 w 2375066"/>
                <a:gd name="connsiteY5" fmla="*/ 2301412 h 2315166"/>
                <a:gd name="connsiteX6" fmla="*/ 2375066 w 2375066"/>
                <a:gd name="connsiteY6" fmla="*/ 0 h 231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5066" h="2315166">
                  <a:moveTo>
                    <a:pt x="2375066" y="0"/>
                  </a:moveTo>
                  <a:lnTo>
                    <a:pt x="2375066" y="448070"/>
                  </a:lnTo>
                  <a:lnTo>
                    <a:pt x="2371121" y="447869"/>
                  </a:lnTo>
                  <a:cubicBezTo>
                    <a:pt x="1372265" y="447869"/>
                    <a:pt x="550711" y="1215233"/>
                    <a:pt x="451919" y="2198581"/>
                  </a:cubicBezTo>
                  <a:lnTo>
                    <a:pt x="446095" y="2315166"/>
                  </a:lnTo>
                  <a:lnTo>
                    <a:pt x="0" y="2301412"/>
                  </a:lnTo>
                  <a:cubicBezTo>
                    <a:pt x="39590" y="1019056"/>
                    <a:pt x="1091259" y="0"/>
                    <a:pt x="2375066" y="0"/>
                  </a:cubicBezTo>
                  <a:close/>
                </a:path>
              </a:pathLst>
            </a:custGeom>
            <a:solidFill>
              <a:srgbClr val="004F9F"/>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BE" dirty="0"/>
            </a:p>
          </p:txBody>
        </p:sp>
        <p:sp>
          <p:nvSpPr>
            <p:cNvPr id="11" name="Freeform: Shape 10">
              <a:extLst>
                <a:ext uri="{FF2B5EF4-FFF2-40B4-BE49-F238E27FC236}">
                  <a16:creationId xmlns:a16="http://schemas.microsoft.com/office/drawing/2014/main" id="{923C610F-73E5-DC8D-4154-5B88566F4670}"/>
                </a:ext>
              </a:extLst>
            </p:cNvPr>
            <p:cNvSpPr/>
            <p:nvPr/>
          </p:nvSpPr>
          <p:spPr>
            <a:xfrm rot="10800000">
              <a:off x="3741837" y="3584599"/>
              <a:ext cx="2375066" cy="2315166"/>
            </a:xfrm>
            <a:custGeom>
              <a:avLst/>
              <a:gdLst>
                <a:gd name="connsiteX0" fmla="*/ 2375066 w 2375066"/>
                <a:gd name="connsiteY0" fmla="*/ 0 h 2315166"/>
                <a:gd name="connsiteX1" fmla="*/ 2375066 w 2375066"/>
                <a:gd name="connsiteY1" fmla="*/ 448070 h 2315166"/>
                <a:gd name="connsiteX2" fmla="*/ 2371121 w 2375066"/>
                <a:gd name="connsiteY2" fmla="*/ 447869 h 2315166"/>
                <a:gd name="connsiteX3" fmla="*/ 451919 w 2375066"/>
                <a:gd name="connsiteY3" fmla="*/ 2198581 h 2315166"/>
                <a:gd name="connsiteX4" fmla="*/ 446095 w 2375066"/>
                <a:gd name="connsiteY4" fmla="*/ 2315166 h 2315166"/>
                <a:gd name="connsiteX5" fmla="*/ 0 w 2375066"/>
                <a:gd name="connsiteY5" fmla="*/ 2301412 h 2315166"/>
                <a:gd name="connsiteX6" fmla="*/ 2375066 w 2375066"/>
                <a:gd name="connsiteY6" fmla="*/ 0 h 231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5066" h="2315166">
                  <a:moveTo>
                    <a:pt x="2375066" y="0"/>
                  </a:moveTo>
                  <a:lnTo>
                    <a:pt x="2375066" y="448070"/>
                  </a:lnTo>
                  <a:lnTo>
                    <a:pt x="2371121" y="447869"/>
                  </a:lnTo>
                  <a:cubicBezTo>
                    <a:pt x="1372265" y="447869"/>
                    <a:pt x="550711" y="1215233"/>
                    <a:pt x="451919" y="2198581"/>
                  </a:cubicBezTo>
                  <a:lnTo>
                    <a:pt x="446095" y="2315166"/>
                  </a:lnTo>
                  <a:lnTo>
                    <a:pt x="0" y="2301412"/>
                  </a:lnTo>
                  <a:cubicBezTo>
                    <a:pt x="39590" y="1019056"/>
                    <a:pt x="1091259" y="0"/>
                    <a:pt x="2375066" y="0"/>
                  </a:cubicBezTo>
                  <a:close/>
                </a:path>
              </a:pathLst>
            </a:custGeom>
            <a:solidFill>
              <a:srgbClr val="FF0000"/>
            </a:solidFill>
            <a:ln>
              <a:solidFill>
                <a:schemeClr val="bg2"/>
              </a:solid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algn="ctr"/>
              <a:endParaRPr lang="fr-BE" dirty="0"/>
            </a:p>
          </p:txBody>
        </p:sp>
        <p:sp>
          <p:nvSpPr>
            <p:cNvPr id="12" name="Freeform: Shape 11">
              <a:extLst>
                <a:ext uri="{FF2B5EF4-FFF2-40B4-BE49-F238E27FC236}">
                  <a16:creationId xmlns:a16="http://schemas.microsoft.com/office/drawing/2014/main" id="{936BAF03-A215-457B-772D-DFA80E7EA83B}"/>
                </a:ext>
              </a:extLst>
            </p:cNvPr>
            <p:cNvSpPr/>
            <p:nvPr/>
          </p:nvSpPr>
          <p:spPr>
            <a:xfrm rot="16200000">
              <a:off x="1307704" y="3551182"/>
              <a:ext cx="2375066" cy="2315166"/>
            </a:xfrm>
            <a:custGeom>
              <a:avLst/>
              <a:gdLst>
                <a:gd name="connsiteX0" fmla="*/ 2375066 w 2375066"/>
                <a:gd name="connsiteY0" fmla="*/ 0 h 2315166"/>
                <a:gd name="connsiteX1" fmla="*/ 2375066 w 2375066"/>
                <a:gd name="connsiteY1" fmla="*/ 448070 h 2315166"/>
                <a:gd name="connsiteX2" fmla="*/ 2371121 w 2375066"/>
                <a:gd name="connsiteY2" fmla="*/ 447869 h 2315166"/>
                <a:gd name="connsiteX3" fmla="*/ 451919 w 2375066"/>
                <a:gd name="connsiteY3" fmla="*/ 2198581 h 2315166"/>
                <a:gd name="connsiteX4" fmla="*/ 446095 w 2375066"/>
                <a:gd name="connsiteY4" fmla="*/ 2315166 h 2315166"/>
                <a:gd name="connsiteX5" fmla="*/ 0 w 2375066"/>
                <a:gd name="connsiteY5" fmla="*/ 2301412 h 2315166"/>
                <a:gd name="connsiteX6" fmla="*/ 2375066 w 2375066"/>
                <a:gd name="connsiteY6" fmla="*/ 0 h 231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5066" h="2315166">
                  <a:moveTo>
                    <a:pt x="2375066" y="0"/>
                  </a:moveTo>
                  <a:lnTo>
                    <a:pt x="2375066" y="448070"/>
                  </a:lnTo>
                  <a:lnTo>
                    <a:pt x="2371121" y="447869"/>
                  </a:lnTo>
                  <a:cubicBezTo>
                    <a:pt x="1372265" y="447869"/>
                    <a:pt x="550711" y="1215233"/>
                    <a:pt x="451919" y="2198581"/>
                  </a:cubicBezTo>
                  <a:lnTo>
                    <a:pt x="446095" y="2315166"/>
                  </a:lnTo>
                  <a:lnTo>
                    <a:pt x="0" y="2301412"/>
                  </a:lnTo>
                  <a:cubicBezTo>
                    <a:pt x="39590" y="1019056"/>
                    <a:pt x="1091259" y="0"/>
                    <a:pt x="2375066" y="0"/>
                  </a:cubicBezTo>
                  <a:close/>
                </a:path>
              </a:pathLst>
            </a:custGeom>
            <a:solidFill>
              <a:srgbClr val="FBB333"/>
            </a:solidFill>
            <a:ln>
              <a:solidFill>
                <a:schemeClr val="bg2"/>
              </a:solidFill>
            </a:ln>
          </p:spPr>
          <p:style>
            <a:lnRef idx="2">
              <a:schemeClr val="accent4">
                <a:shade val="15000"/>
              </a:schemeClr>
            </a:lnRef>
            <a:fillRef idx="1">
              <a:schemeClr val="accent4"/>
            </a:fillRef>
            <a:effectRef idx="0">
              <a:schemeClr val="accent4"/>
            </a:effectRef>
            <a:fontRef idx="minor">
              <a:schemeClr val="lt1"/>
            </a:fontRef>
          </p:style>
          <p:txBody>
            <a:bodyPr wrap="square" rtlCol="0" anchor="ctr">
              <a:noAutofit/>
            </a:bodyPr>
            <a:lstStyle/>
            <a:p>
              <a:pPr algn="ctr"/>
              <a:endParaRPr lang="fr-BE" dirty="0"/>
            </a:p>
          </p:txBody>
        </p:sp>
        <p:sp>
          <p:nvSpPr>
            <p:cNvPr id="3" name="Freeform: Shape 2">
              <a:extLst>
                <a:ext uri="{FF2B5EF4-FFF2-40B4-BE49-F238E27FC236}">
                  <a16:creationId xmlns:a16="http://schemas.microsoft.com/office/drawing/2014/main" id="{6265A607-381E-F35C-FC5F-DF2EB94A0B06}"/>
                </a:ext>
              </a:extLst>
            </p:cNvPr>
            <p:cNvSpPr/>
            <p:nvPr/>
          </p:nvSpPr>
          <p:spPr>
            <a:xfrm rot="172313">
              <a:off x="3746611" y="1216339"/>
              <a:ext cx="243840" cy="251460"/>
            </a:xfrm>
            <a:custGeom>
              <a:avLst/>
              <a:gdLst>
                <a:gd name="connsiteX0" fmla="*/ 0 w 243840"/>
                <a:gd name="connsiteY0" fmla="*/ 0 h 251460"/>
                <a:gd name="connsiteX1" fmla="*/ 11430 w 243840"/>
                <a:gd name="connsiteY1" fmla="*/ 251460 h 251460"/>
                <a:gd name="connsiteX2" fmla="*/ 243840 w 243840"/>
                <a:gd name="connsiteY2" fmla="*/ 140970 h 251460"/>
                <a:gd name="connsiteX3" fmla="*/ 0 w 243840"/>
                <a:gd name="connsiteY3" fmla="*/ 0 h 251460"/>
              </a:gdLst>
              <a:ahLst/>
              <a:cxnLst>
                <a:cxn ang="0">
                  <a:pos x="connsiteX0" y="connsiteY0"/>
                </a:cxn>
                <a:cxn ang="0">
                  <a:pos x="connsiteX1" y="connsiteY1"/>
                </a:cxn>
                <a:cxn ang="0">
                  <a:pos x="connsiteX2" y="connsiteY2"/>
                </a:cxn>
                <a:cxn ang="0">
                  <a:pos x="connsiteX3" y="connsiteY3"/>
                </a:cxn>
              </a:cxnLst>
              <a:rect l="l" t="t" r="r" b="b"/>
              <a:pathLst>
                <a:path w="243840" h="251460">
                  <a:moveTo>
                    <a:pt x="0" y="0"/>
                  </a:moveTo>
                  <a:lnTo>
                    <a:pt x="11430" y="251460"/>
                  </a:lnTo>
                  <a:lnTo>
                    <a:pt x="243840" y="140970"/>
                  </a:lnTo>
                  <a:lnTo>
                    <a:pt x="0" y="0"/>
                  </a:lnTo>
                  <a:close/>
                </a:path>
              </a:pathLst>
            </a:custGeom>
            <a:solidFill>
              <a:srgbClr val="95C11F"/>
            </a:solidFill>
            <a:ln>
              <a:solidFill>
                <a:schemeClr val="bg2"/>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fr-BE"/>
            </a:p>
          </p:txBody>
        </p:sp>
        <p:sp>
          <p:nvSpPr>
            <p:cNvPr id="4" name="Freeform: Shape 3">
              <a:extLst>
                <a:ext uri="{FF2B5EF4-FFF2-40B4-BE49-F238E27FC236}">
                  <a16:creationId xmlns:a16="http://schemas.microsoft.com/office/drawing/2014/main" id="{1D0EA36F-D526-F88A-187E-56A7ED0D3971}"/>
                </a:ext>
              </a:extLst>
            </p:cNvPr>
            <p:cNvSpPr/>
            <p:nvPr/>
          </p:nvSpPr>
          <p:spPr>
            <a:xfrm rot="16350401">
              <a:off x="1446085" y="3264982"/>
              <a:ext cx="243840" cy="251460"/>
            </a:xfrm>
            <a:custGeom>
              <a:avLst/>
              <a:gdLst>
                <a:gd name="connsiteX0" fmla="*/ 0 w 243840"/>
                <a:gd name="connsiteY0" fmla="*/ 0 h 251460"/>
                <a:gd name="connsiteX1" fmla="*/ 11430 w 243840"/>
                <a:gd name="connsiteY1" fmla="*/ 251460 h 251460"/>
                <a:gd name="connsiteX2" fmla="*/ 243840 w 243840"/>
                <a:gd name="connsiteY2" fmla="*/ 140970 h 251460"/>
                <a:gd name="connsiteX3" fmla="*/ 0 w 243840"/>
                <a:gd name="connsiteY3" fmla="*/ 0 h 251460"/>
              </a:gdLst>
              <a:ahLst/>
              <a:cxnLst>
                <a:cxn ang="0">
                  <a:pos x="connsiteX0" y="connsiteY0"/>
                </a:cxn>
                <a:cxn ang="0">
                  <a:pos x="connsiteX1" y="connsiteY1"/>
                </a:cxn>
                <a:cxn ang="0">
                  <a:pos x="connsiteX2" y="connsiteY2"/>
                </a:cxn>
                <a:cxn ang="0">
                  <a:pos x="connsiteX3" y="connsiteY3"/>
                </a:cxn>
              </a:cxnLst>
              <a:rect l="l" t="t" r="r" b="b"/>
              <a:pathLst>
                <a:path w="243840" h="251460">
                  <a:moveTo>
                    <a:pt x="0" y="0"/>
                  </a:moveTo>
                  <a:lnTo>
                    <a:pt x="11430" y="251460"/>
                  </a:lnTo>
                  <a:lnTo>
                    <a:pt x="243840" y="140970"/>
                  </a:lnTo>
                  <a:lnTo>
                    <a:pt x="0" y="0"/>
                  </a:lnTo>
                  <a:close/>
                </a:path>
              </a:pathLst>
            </a:custGeom>
            <a:solidFill>
              <a:srgbClr val="FBB333"/>
            </a:solidFill>
            <a:ln>
              <a:solidFill>
                <a:schemeClr val="bg2"/>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fr-BE"/>
            </a:p>
          </p:txBody>
        </p:sp>
        <p:sp>
          <p:nvSpPr>
            <p:cNvPr id="5" name="Freeform: Shape 4">
              <a:extLst>
                <a:ext uri="{FF2B5EF4-FFF2-40B4-BE49-F238E27FC236}">
                  <a16:creationId xmlns:a16="http://schemas.microsoft.com/office/drawing/2014/main" id="{7A680BA8-966E-ABA7-08FD-15A648B43400}"/>
                </a:ext>
              </a:extLst>
            </p:cNvPr>
            <p:cNvSpPr/>
            <p:nvPr/>
          </p:nvSpPr>
          <p:spPr>
            <a:xfrm rot="5554809">
              <a:off x="5757965" y="3505474"/>
              <a:ext cx="243840" cy="251460"/>
            </a:xfrm>
            <a:custGeom>
              <a:avLst/>
              <a:gdLst>
                <a:gd name="connsiteX0" fmla="*/ 0 w 243840"/>
                <a:gd name="connsiteY0" fmla="*/ 0 h 251460"/>
                <a:gd name="connsiteX1" fmla="*/ 11430 w 243840"/>
                <a:gd name="connsiteY1" fmla="*/ 251460 h 251460"/>
                <a:gd name="connsiteX2" fmla="*/ 243840 w 243840"/>
                <a:gd name="connsiteY2" fmla="*/ 140970 h 251460"/>
                <a:gd name="connsiteX3" fmla="*/ 0 w 243840"/>
                <a:gd name="connsiteY3" fmla="*/ 0 h 251460"/>
              </a:gdLst>
              <a:ahLst/>
              <a:cxnLst>
                <a:cxn ang="0">
                  <a:pos x="connsiteX0" y="connsiteY0"/>
                </a:cxn>
                <a:cxn ang="0">
                  <a:pos x="connsiteX1" y="connsiteY1"/>
                </a:cxn>
                <a:cxn ang="0">
                  <a:pos x="connsiteX2" y="connsiteY2"/>
                </a:cxn>
                <a:cxn ang="0">
                  <a:pos x="connsiteX3" y="connsiteY3"/>
                </a:cxn>
              </a:cxnLst>
              <a:rect l="l" t="t" r="r" b="b"/>
              <a:pathLst>
                <a:path w="243840" h="251460">
                  <a:moveTo>
                    <a:pt x="0" y="0"/>
                  </a:moveTo>
                  <a:lnTo>
                    <a:pt x="11430" y="251460"/>
                  </a:lnTo>
                  <a:lnTo>
                    <a:pt x="243840" y="140970"/>
                  </a:lnTo>
                  <a:lnTo>
                    <a:pt x="0" y="0"/>
                  </a:lnTo>
                  <a:close/>
                </a:path>
              </a:pathLst>
            </a:custGeom>
            <a:solidFill>
              <a:srgbClr val="004F9F"/>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E"/>
            </a:p>
          </p:txBody>
        </p:sp>
        <p:sp>
          <p:nvSpPr>
            <p:cNvPr id="6" name="Freeform: Shape 5">
              <a:extLst>
                <a:ext uri="{FF2B5EF4-FFF2-40B4-BE49-F238E27FC236}">
                  <a16:creationId xmlns:a16="http://schemas.microsoft.com/office/drawing/2014/main" id="{DFDAA038-0F54-C3AA-AA59-AB8DF00378B5}"/>
                </a:ext>
              </a:extLst>
            </p:cNvPr>
            <p:cNvSpPr/>
            <p:nvPr/>
          </p:nvSpPr>
          <p:spPr>
            <a:xfrm rot="11090599">
              <a:off x="3475936" y="5562625"/>
              <a:ext cx="243840" cy="251460"/>
            </a:xfrm>
            <a:custGeom>
              <a:avLst/>
              <a:gdLst>
                <a:gd name="connsiteX0" fmla="*/ 0 w 243840"/>
                <a:gd name="connsiteY0" fmla="*/ 0 h 251460"/>
                <a:gd name="connsiteX1" fmla="*/ 11430 w 243840"/>
                <a:gd name="connsiteY1" fmla="*/ 251460 h 251460"/>
                <a:gd name="connsiteX2" fmla="*/ 243840 w 243840"/>
                <a:gd name="connsiteY2" fmla="*/ 140970 h 251460"/>
                <a:gd name="connsiteX3" fmla="*/ 0 w 243840"/>
                <a:gd name="connsiteY3" fmla="*/ 0 h 251460"/>
              </a:gdLst>
              <a:ahLst/>
              <a:cxnLst>
                <a:cxn ang="0">
                  <a:pos x="connsiteX0" y="connsiteY0"/>
                </a:cxn>
                <a:cxn ang="0">
                  <a:pos x="connsiteX1" y="connsiteY1"/>
                </a:cxn>
                <a:cxn ang="0">
                  <a:pos x="connsiteX2" y="connsiteY2"/>
                </a:cxn>
                <a:cxn ang="0">
                  <a:pos x="connsiteX3" y="connsiteY3"/>
                </a:cxn>
              </a:cxnLst>
              <a:rect l="l" t="t" r="r" b="b"/>
              <a:pathLst>
                <a:path w="243840" h="251460">
                  <a:moveTo>
                    <a:pt x="0" y="0"/>
                  </a:moveTo>
                  <a:lnTo>
                    <a:pt x="11430" y="251460"/>
                  </a:lnTo>
                  <a:lnTo>
                    <a:pt x="243840" y="140970"/>
                  </a:lnTo>
                  <a:lnTo>
                    <a:pt x="0" y="0"/>
                  </a:lnTo>
                  <a:close/>
                </a:path>
              </a:pathLst>
            </a:custGeom>
            <a:solidFill>
              <a:srgbClr val="FF0000"/>
            </a:solidFill>
            <a:ln>
              <a:solidFill>
                <a:schemeClr val="bg2"/>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fr-BE"/>
            </a:p>
          </p:txBody>
        </p:sp>
        <p:grpSp>
          <p:nvGrpSpPr>
            <p:cNvPr id="22539" name="Group 22538">
              <a:extLst>
                <a:ext uri="{FF2B5EF4-FFF2-40B4-BE49-F238E27FC236}">
                  <a16:creationId xmlns:a16="http://schemas.microsoft.com/office/drawing/2014/main" id="{C10C809D-AF96-2592-18D8-121F3C1F89ED}"/>
                </a:ext>
              </a:extLst>
            </p:cNvPr>
            <p:cNvGrpSpPr/>
            <p:nvPr/>
          </p:nvGrpSpPr>
          <p:grpSpPr>
            <a:xfrm>
              <a:off x="2445744" y="2223247"/>
              <a:ext cx="2553392" cy="2627801"/>
              <a:chOff x="2445744" y="2223247"/>
              <a:chExt cx="2553392" cy="2627801"/>
            </a:xfrm>
          </p:grpSpPr>
          <p:sp>
            <p:nvSpPr>
              <p:cNvPr id="22537" name="Freeform: Shape 22536">
                <a:extLst>
                  <a:ext uri="{FF2B5EF4-FFF2-40B4-BE49-F238E27FC236}">
                    <a16:creationId xmlns:a16="http://schemas.microsoft.com/office/drawing/2014/main" id="{A37E4B14-EC8E-7FA7-1AC1-2590A1B29A5A}"/>
                  </a:ext>
                </a:extLst>
              </p:cNvPr>
              <p:cNvSpPr/>
              <p:nvPr/>
            </p:nvSpPr>
            <p:spPr>
              <a:xfrm rot="15745331">
                <a:off x="2419714" y="2271627"/>
                <a:ext cx="2605451" cy="2553392"/>
              </a:xfrm>
              <a:custGeom>
                <a:avLst/>
                <a:gdLst>
                  <a:gd name="connsiteX0" fmla="*/ 2599592 w 2605451"/>
                  <a:gd name="connsiteY0" fmla="*/ 1398411 h 2553392"/>
                  <a:gd name="connsiteX1" fmla="*/ 1432216 w 2605451"/>
                  <a:gd name="connsiteY1" fmla="*/ 2547009 h 2553392"/>
                  <a:gd name="connsiteX2" fmla="*/ 28020 w 2605451"/>
                  <a:gd name="connsiteY2" fmla="*/ 1539210 h 2553392"/>
                  <a:gd name="connsiteX3" fmla="*/ 919354 w 2605451"/>
                  <a:gd name="connsiteY3" fmla="*/ 56786 h 2553392"/>
                  <a:gd name="connsiteX4" fmla="*/ 2495693 w 2605451"/>
                  <a:gd name="connsiteY4" fmla="*/ 763892 h 2553392"/>
                  <a:gd name="connsiteX5" fmla="*/ 2220909 w 2605451"/>
                  <a:gd name="connsiteY5" fmla="*/ 882036 h 2553392"/>
                  <a:gd name="connsiteX6" fmla="*/ 2214192 w 2605451"/>
                  <a:gd name="connsiteY6" fmla="*/ 867462 h 2553392"/>
                  <a:gd name="connsiteX7" fmla="*/ 1463685 w 2605451"/>
                  <a:gd name="connsiteY7" fmla="*/ 349247 h 2553392"/>
                  <a:gd name="connsiteX8" fmla="*/ 368606 w 2605451"/>
                  <a:gd name="connsiteY8" fmla="*/ 1152487 h 2553392"/>
                  <a:gd name="connsiteX9" fmla="*/ 1215597 w 2605451"/>
                  <a:gd name="connsiteY9" fmla="*/ 2214089 h 2553392"/>
                  <a:gd name="connsiteX10" fmla="*/ 2310676 w 2605451"/>
                  <a:gd name="connsiteY10" fmla="*/ 1410849 h 2553392"/>
                  <a:gd name="connsiteX11" fmla="*/ 2318345 w 2605451"/>
                  <a:gd name="connsiteY11" fmla="*/ 1314848 h 2553392"/>
                  <a:gd name="connsiteX12" fmla="*/ 2317379 w 2605451"/>
                  <a:gd name="connsiteY12" fmla="*/ 1276770 h 2553392"/>
                  <a:gd name="connsiteX13" fmla="*/ 2605451 w 2605451"/>
                  <a:gd name="connsiteY13" fmla="*/ 1276770 h 2553392"/>
                  <a:gd name="connsiteX14" fmla="*/ 2599592 w 2605451"/>
                  <a:gd name="connsiteY14" fmla="*/ 1398411 h 255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05451" h="2553392">
                    <a:moveTo>
                      <a:pt x="2599592" y="1398411"/>
                    </a:moveTo>
                    <a:cubicBezTo>
                      <a:pt x="2541427" y="1999441"/>
                      <a:pt x="2056594" y="2485927"/>
                      <a:pt x="1432216" y="2547009"/>
                    </a:cubicBezTo>
                    <a:cubicBezTo>
                      <a:pt x="770214" y="2611771"/>
                      <a:pt x="164794" y="2177258"/>
                      <a:pt x="28020" y="1539210"/>
                    </a:cubicBezTo>
                    <a:cubicBezTo>
                      <a:pt x="-110375" y="893597"/>
                      <a:pt x="276003" y="250990"/>
                      <a:pt x="919354" y="56786"/>
                    </a:cubicBezTo>
                    <a:cubicBezTo>
                      <a:pt x="1551801" y="-134128"/>
                      <a:pt x="2229813" y="170011"/>
                      <a:pt x="2495693" y="763892"/>
                    </a:cubicBezTo>
                    <a:lnTo>
                      <a:pt x="2220909" y="882036"/>
                    </a:lnTo>
                    <a:lnTo>
                      <a:pt x="2214192" y="867462"/>
                    </a:lnTo>
                    <a:cubicBezTo>
                      <a:pt x="2072686" y="596221"/>
                      <a:pt x="1798865" y="393837"/>
                      <a:pt x="1463685" y="349247"/>
                    </a:cubicBezTo>
                    <a:cubicBezTo>
                      <a:pt x="927397" y="277902"/>
                      <a:pt x="437113" y="637525"/>
                      <a:pt x="368606" y="1152487"/>
                    </a:cubicBezTo>
                    <a:cubicBezTo>
                      <a:pt x="300098" y="1667449"/>
                      <a:pt x="679308" y="2142744"/>
                      <a:pt x="1215597" y="2214089"/>
                    </a:cubicBezTo>
                    <a:cubicBezTo>
                      <a:pt x="1751885" y="2285434"/>
                      <a:pt x="2242168" y="1925811"/>
                      <a:pt x="2310676" y="1410849"/>
                    </a:cubicBezTo>
                    <a:cubicBezTo>
                      <a:pt x="2314957" y="1378664"/>
                      <a:pt x="2317490" y="1346634"/>
                      <a:pt x="2318345" y="1314848"/>
                    </a:cubicBezTo>
                    <a:lnTo>
                      <a:pt x="2317379" y="1276770"/>
                    </a:lnTo>
                    <a:lnTo>
                      <a:pt x="2605451" y="1276770"/>
                    </a:lnTo>
                    <a:cubicBezTo>
                      <a:pt x="2605451" y="1317765"/>
                      <a:pt x="2603470" y="1358342"/>
                      <a:pt x="2599592" y="1398411"/>
                    </a:cubicBezTo>
                    <a:close/>
                  </a:path>
                </a:pathLst>
              </a:cu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BE">
                  <a:solidFill>
                    <a:schemeClr val="tx1"/>
                  </a:solidFill>
                </a:endParaRPr>
              </a:p>
            </p:txBody>
          </p:sp>
          <p:sp>
            <p:nvSpPr>
              <p:cNvPr id="22538" name="Freeform: Shape 22537">
                <a:extLst>
                  <a:ext uri="{FF2B5EF4-FFF2-40B4-BE49-F238E27FC236}">
                    <a16:creationId xmlns:a16="http://schemas.microsoft.com/office/drawing/2014/main" id="{8DAA19DC-820C-A9F5-0E46-64B934B90FC7}"/>
                  </a:ext>
                </a:extLst>
              </p:cNvPr>
              <p:cNvSpPr/>
              <p:nvPr/>
            </p:nvSpPr>
            <p:spPr>
              <a:xfrm>
                <a:off x="3036047" y="2223247"/>
                <a:ext cx="406400" cy="735106"/>
              </a:xfrm>
              <a:custGeom>
                <a:avLst/>
                <a:gdLst>
                  <a:gd name="connsiteX0" fmla="*/ 0 w 406400"/>
                  <a:gd name="connsiteY0" fmla="*/ 0 h 735106"/>
                  <a:gd name="connsiteX1" fmla="*/ 149412 w 406400"/>
                  <a:gd name="connsiteY1" fmla="*/ 735106 h 735106"/>
                  <a:gd name="connsiteX2" fmla="*/ 406400 w 406400"/>
                  <a:gd name="connsiteY2" fmla="*/ 221129 h 735106"/>
                  <a:gd name="connsiteX3" fmla="*/ 0 w 406400"/>
                  <a:gd name="connsiteY3" fmla="*/ 0 h 735106"/>
                </a:gdLst>
                <a:ahLst/>
                <a:cxnLst>
                  <a:cxn ang="0">
                    <a:pos x="connsiteX0" y="connsiteY0"/>
                  </a:cxn>
                  <a:cxn ang="0">
                    <a:pos x="connsiteX1" y="connsiteY1"/>
                  </a:cxn>
                  <a:cxn ang="0">
                    <a:pos x="connsiteX2" y="connsiteY2"/>
                  </a:cxn>
                  <a:cxn ang="0">
                    <a:pos x="connsiteX3" y="connsiteY3"/>
                  </a:cxn>
                </a:cxnLst>
                <a:rect l="l" t="t" r="r" b="b"/>
                <a:pathLst>
                  <a:path w="406400" h="735106">
                    <a:moveTo>
                      <a:pt x="0" y="0"/>
                    </a:moveTo>
                    <a:lnTo>
                      <a:pt x="149412" y="735106"/>
                    </a:lnTo>
                    <a:lnTo>
                      <a:pt x="406400" y="221129"/>
                    </a:lnTo>
                    <a:lnTo>
                      <a:pt x="0" y="0"/>
                    </a:lnTo>
                    <a:close/>
                  </a:path>
                </a:pathLst>
              </a:cu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E"/>
              </a:p>
            </p:txBody>
          </p:sp>
        </p:grpSp>
      </p:grpSp>
      <p:sp>
        <p:nvSpPr>
          <p:cNvPr id="22535" name="Rectangle 22534">
            <a:extLst>
              <a:ext uri="{FF2B5EF4-FFF2-40B4-BE49-F238E27FC236}">
                <a16:creationId xmlns:a16="http://schemas.microsoft.com/office/drawing/2014/main" id="{E4F073D4-90BA-3F77-0DDB-CC7E6C7A2CF5}"/>
              </a:ext>
            </a:extLst>
          </p:cNvPr>
          <p:cNvSpPr/>
          <p:nvPr/>
        </p:nvSpPr>
        <p:spPr>
          <a:xfrm>
            <a:off x="4903652" y="1536986"/>
            <a:ext cx="553357" cy="923330"/>
          </a:xfrm>
          <a:prstGeom prst="rect">
            <a:avLst/>
          </a:prstGeom>
          <a:noFill/>
        </p:spPr>
        <p:txBody>
          <a:bodyPr wrap="none" lIns="91440" tIns="45720" rIns="91440" bIns="45720">
            <a:spAutoFit/>
          </a:bodyPr>
          <a:lstStyle/>
          <a:p>
            <a:pPr algn="ctr"/>
            <a:r>
              <a:rPr lang="fr-BE"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P</a:t>
            </a:r>
          </a:p>
        </p:txBody>
      </p:sp>
      <p:sp>
        <p:nvSpPr>
          <p:cNvPr id="22541" name="Rectangle 22540">
            <a:extLst>
              <a:ext uri="{FF2B5EF4-FFF2-40B4-BE49-F238E27FC236}">
                <a16:creationId xmlns:a16="http://schemas.microsoft.com/office/drawing/2014/main" id="{C07612DA-92B2-A590-E3F1-87D6A670D14A}"/>
              </a:ext>
            </a:extLst>
          </p:cNvPr>
          <p:cNvSpPr/>
          <p:nvPr/>
        </p:nvSpPr>
        <p:spPr>
          <a:xfrm>
            <a:off x="4848076" y="4575688"/>
            <a:ext cx="620684" cy="923330"/>
          </a:xfrm>
          <a:prstGeom prst="rect">
            <a:avLst/>
          </a:prstGeom>
          <a:noFill/>
        </p:spPr>
        <p:txBody>
          <a:bodyPr wrap="none" lIns="91440" tIns="45720" rIns="91440" bIns="45720">
            <a:spAutoFit/>
          </a:bodyPr>
          <a:lstStyle/>
          <a:p>
            <a:pPr algn="ctr"/>
            <a:r>
              <a:rPr lang="fr-BE"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D</a:t>
            </a:r>
          </a:p>
        </p:txBody>
      </p:sp>
      <p:sp>
        <p:nvSpPr>
          <p:cNvPr id="22542" name="Rectangle 22541">
            <a:extLst>
              <a:ext uri="{FF2B5EF4-FFF2-40B4-BE49-F238E27FC236}">
                <a16:creationId xmlns:a16="http://schemas.microsoft.com/office/drawing/2014/main" id="{FF542B45-198E-A4C2-9C96-257CFF7FA681}"/>
              </a:ext>
            </a:extLst>
          </p:cNvPr>
          <p:cNvSpPr/>
          <p:nvPr/>
        </p:nvSpPr>
        <p:spPr>
          <a:xfrm>
            <a:off x="1968845" y="4547323"/>
            <a:ext cx="551753" cy="923330"/>
          </a:xfrm>
          <a:prstGeom prst="rect">
            <a:avLst/>
          </a:prstGeom>
          <a:noFill/>
        </p:spPr>
        <p:txBody>
          <a:bodyPr wrap="none" lIns="91440" tIns="45720" rIns="91440" bIns="45720">
            <a:spAutoFit/>
          </a:bodyPr>
          <a:lstStyle/>
          <a:p>
            <a:pPr algn="ctr"/>
            <a:r>
              <a:rPr lang="fr-BE"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C</a:t>
            </a:r>
          </a:p>
        </p:txBody>
      </p:sp>
      <p:sp>
        <p:nvSpPr>
          <p:cNvPr id="22543" name="Rectangle 22542">
            <a:extLst>
              <a:ext uri="{FF2B5EF4-FFF2-40B4-BE49-F238E27FC236}">
                <a16:creationId xmlns:a16="http://schemas.microsoft.com/office/drawing/2014/main" id="{31074D89-35CE-6549-D6F4-3634F034C82B}"/>
              </a:ext>
            </a:extLst>
          </p:cNvPr>
          <p:cNvSpPr/>
          <p:nvPr/>
        </p:nvSpPr>
        <p:spPr>
          <a:xfrm>
            <a:off x="1929592" y="1532312"/>
            <a:ext cx="604654" cy="923330"/>
          </a:xfrm>
          <a:prstGeom prst="rect">
            <a:avLst/>
          </a:prstGeom>
          <a:noFill/>
        </p:spPr>
        <p:txBody>
          <a:bodyPr wrap="none" lIns="91440" tIns="45720" rIns="91440" bIns="45720">
            <a:spAutoFit/>
          </a:bodyPr>
          <a:lstStyle/>
          <a:p>
            <a:pPr algn="ctr"/>
            <a:r>
              <a:rPr lang="fr-BE"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A</a:t>
            </a:r>
          </a:p>
        </p:txBody>
      </p:sp>
      <p:sp>
        <p:nvSpPr>
          <p:cNvPr id="22544" name="TextBox 22543">
            <a:extLst>
              <a:ext uri="{FF2B5EF4-FFF2-40B4-BE49-F238E27FC236}">
                <a16:creationId xmlns:a16="http://schemas.microsoft.com/office/drawing/2014/main" id="{BF859ACB-3054-794F-48C3-CD9554C1903E}"/>
              </a:ext>
            </a:extLst>
          </p:cNvPr>
          <p:cNvSpPr txBox="1"/>
          <p:nvPr/>
        </p:nvSpPr>
        <p:spPr>
          <a:xfrm>
            <a:off x="4421348" y="2223247"/>
            <a:ext cx="898836" cy="523220"/>
          </a:xfrm>
          <a:prstGeom prst="rect">
            <a:avLst/>
          </a:prstGeom>
          <a:noFill/>
        </p:spPr>
        <p:txBody>
          <a:bodyPr wrap="none" rtlCol="0">
            <a:spAutoFit/>
          </a:bodyPr>
          <a:lstStyle/>
          <a:p>
            <a:pPr algn="ctr"/>
            <a:r>
              <a:rPr lang="fr-BE" sz="1400" dirty="0"/>
              <a:t>Plan</a:t>
            </a:r>
          </a:p>
          <a:p>
            <a:pPr algn="ctr"/>
            <a:r>
              <a:rPr lang="fr-BE" sz="1400" dirty="0"/>
              <a:t>(Concept)</a:t>
            </a:r>
          </a:p>
        </p:txBody>
      </p:sp>
      <p:sp>
        <p:nvSpPr>
          <p:cNvPr id="22545" name="TextBox 22544">
            <a:extLst>
              <a:ext uri="{FF2B5EF4-FFF2-40B4-BE49-F238E27FC236}">
                <a16:creationId xmlns:a16="http://schemas.microsoft.com/office/drawing/2014/main" id="{0B352342-E282-3762-B3AF-B23E3B08CA28}"/>
              </a:ext>
            </a:extLst>
          </p:cNvPr>
          <p:cNvSpPr txBox="1"/>
          <p:nvPr/>
        </p:nvSpPr>
        <p:spPr>
          <a:xfrm>
            <a:off x="4289381" y="4002299"/>
            <a:ext cx="1191929" cy="738664"/>
          </a:xfrm>
          <a:prstGeom prst="rect">
            <a:avLst/>
          </a:prstGeom>
          <a:noFill/>
        </p:spPr>
        <p:txBody>
          <a:bodyPr wrap="none" rtlCol="0">
            <a:spAutoFit/>
          </a:bodyPr>
          <a:lstStyle/>
          <a:p>
            <a:pPr algn="ctr"/>
            <a:r>
              <a:rPr lang="fr-BE" sz="1400" dirty="0" err="1"/>
              <a:t>Implement</a:t>
            </a:r>
            <a:endParaRPr lang="fr-BE" sz="1400" dirty="0"/>
          </a:p>
          <a:p>
            <a:pPr algn="ctr"/>
            <a:r>
              <a:rPr lang="fr-BE" sz="1400" dirty="0"/>
              <a:t>(Acquisition)</a:t>
            </a:r>
          </a:p>
          <a:p>
            <a:pPr algn="ctr"/>
            <a:r>
              <a:rPr lang="fr-BE" sz="1400" dirty="0"/>
              <a:t>(</a:t>
            </a:r>
            <a:r>
              <a:rPr lang="fr-BE" sz="1400" dirty="0" err="1"/>
              <a:t>Deployment</a:t>
            </a:r>
            <a:r>
              <a:rPr lang="fr-BE" sz="1400" dirty="0"/>
              <a:t>)</a:t>
            </a:r>
          </a:p>
        </p:txBody>
      </p:sp>
      <p:sp>
        <p:nvSpPr>
          <p:cNvPr id="22546" name="TextBox 22545">
            <a:extLst>
              <a:ext uri="{FF2B5EF4-FFF2-40B4-BE49-F238E27FC236}">
                <a16:creationId xmlns:a16="http://schemas.microsoft.com/office/drawing/2014/main" id="{FD00F3C4-97FB-786D-C1E7-42C026761F11}"/>
              </a:ext>
            </a:extLst>
          </p:cNvPr>
          <p:cNvSpPr txBox="1"/>
          <p:nvPr/>
        </p:nvSpPr>
        <p:spPr>
          <a:xfrm>
            <a:off x="2014186" y="4113737"/>
            <a:ext cx="950260" cy="523220"/>
          </a:xfrm>
          <a:prstGeom prst="rect">
            <a:avLst/>
          </a:prstGeom>
          <a:noFill/>
        </p:spPr>
        <p:txBody>
          <a:bodyPr wrap="none" rtlCol="0">
            <a:spAutoFit/>
          </a:bodyPr>
          <a:lstStyle/>
          <a:p>
            <a:pPr algn="ctr"/>
            <a:r>
              <a:rPr lang="fr-BE" sz="1400" dirty="0" err="1"/>
              <a:t>Operate</a:t>
            </a:r>
            <a:endParaRPr lang="fr-BE" sz="1400" dirty="0"/>
          </a:p>
          <a:p>
            <a:pPr algn="ctr"/>
            <a:r>
              <a:rPr lang="fr-BE" sz="1400" dirty="0"/>
              <a:t>(</a:t>
            </a:r>
            <a:r>
              <a:rPr lang="fr-BE" sz="1400" dirty="0" err="1"/>
              <a:t>Maintain</a:t>
            </a:r>
            <a:r>
              <a:rPr lang="fr-BE" sz="1400" dirty="0"/>
              <a:t>)</a:t>
            </a:r>
          </a:p>
        </p:txBody>
      </p:sp>
      <p:sp>
        <p:nvSpPr>
          <p:cNvPr id="22547" name="TextBox 22546">
            <a:extLst>
              <a:ext uri="{FF2B5EF4-FFF2-40B4-BE49-F238E27FC236}">
                <a16:creationId xmlns:a16="http://schemas.microsoft.com/office/drawing/2014/main" id="{60EAAFF9-EAB6-F7EF-D00D-D2ED60102F75}"/>
              </a:ext>
            </a:extLst>
          </p:cNvPr>
          <p:cNvSpPr txBox="1"/>
          <p:nvPr/>
        </p:nvSpPr>
        <p:spPr>
          <a:xfrm>
            <a:off x="2010339" y="2275300"/>
            <a:ext cx="954107" cy="523220"/>
          </a:xfrm>
          <a:prstGeom prst="rect">
            <a:avLst/>
          </a:prstGeom>
          <a:noFill/>
        </p:spPr>
        <p:txBody>
          <a:bodyPr wrap="none" rtlCol="0">
            <a:spAutoFit/>
          </a:bodyPr>
          <a:lstStyle/>
          <a:p>
            <a:pPr algn="ctr"/>
            <a:r>
              <a:rPr lang="fr-BE" sz="1400" dirty="0" err="1"/>
              <a:t>Improve</a:t>
            </a:r>
            <a:endParaRPr lang="fr-BE" sz="1400" dirty="0"/>
          </a:p>
          <a:p>
            <a:pPr algn="ctr"/>
            <a:r>
              <a:rPr lang="fr-BE" sz="1400" dirty="0"/>
              <a:t>or Dispose</a:t>
            </a:r>
          </a:p>
        </p:txBody>
      </p:sp>
      <p:sp>
        <p:nvSpPr>
          <p:cNvPr id="13" name="TextBox 12">
            <a:extLst>
              <a:ext uri="{FF2B5EF4-FFF2-40B4-BE49-F238E27FC236}">
                <a16:creationId xmlns:a16="http://schemas.microsoft.com/office/drawing/2014/main" id="{9A4BBB1B-17D2-043E-0573-1F911B0C247A}"/>
              </a:ext>
            </a:extLst>
          </p:cNvPr>
          <p:cNvSpPr txBox="1"/>
          <p:nvPr/>
        </p:nvSpPr>
        <p:spPr>
          <a:xfrm>
            <a:off x="7365556" y="15471"/>
            <a:ext cx="4826444" cy="6863417"/>
          </a:xfrm>
          <a:prstGeom prst="rect">
            <a:avLst/>
          </a:prstGeom>
          <a:noFill/>
        </p:spPr>
        <p:txBody>
          <a:bodyPr wrap="square">
            <a:spAutoFit/>
          </a:bodyPr>
          <a:lstStyle/>
          <a:p>
            <a:r>
              <a:rPr lang="fr-BE" sz="2000" b="1" dirty="0"/>
              <a:t>1st Line </a:t>
            </a:r>
            <a:r>
              <a:rPr lang="fr-BE" sz="2000" b="1" dirty="0">
                <a:solidFill>
                  <a:schemeClr val="tx2">
                    <a:lumMod val="50000"/>
                    <a:lumOff val="50000"/>
                  </a:schemeClr>
                </a:solidFill>
              </a:rPr>
              <a:t>Of </a:t>
            </a:r>
            <a:r>
              <a:rPr lang="fr-BE" sz="2000" b="1" dirty="0" err="1">
                <a:solidFill>
                  <a:schemeClr val="tx2">
                    <a:lumMod val="50000"/>
                    <a:lumOff val="50000"/>
                  </a:schemeClr>
                </a:solidFill>
              </a:rPr>
              <a:t>Defense</a:t>
            </a:r>
            <a:r>
              <a:rPr lang="fr-BE" sz="2000" b="1" dirty="0">
                <a:solidFill>
                  <a:schemeClr val="tx2">
                    <a:lumMod val="50000"/>
                    <a:lumOff val="50000"/>
                  </a:schemeClr>
                </a:solidFill>
              </a:rPr>
              <a:t> (LOD-1)</a:t>
            </a:r>
          </a:p>
          <a:p>
            <a:endParaRPr lang="fr-BE" sz="600" dirty="0"/>
          </a:p>
          <a:p>
            <a:r>
              <a:rPr lang="fr-BE" sz="1400" u="sng" dirty="0">
                <a:solidFill>
                  <a:srgbClr val="00B0F0"/>
                </a:solidFill>
              </a:rPr>
              <a:t>ESSENTIAL</a:t>
            </a:r>
          </a:p>
          <a:p>
            <a:r>
              <a:rPr lang="fr-BE" sz="1400" b="1" dirty="0">
                <a:solidFill>
                  <a:srgbClr val="CB0538"/>
                </a:solidFill>
              </a:rPr>
              <a:t>Cyber Incident </a:t>
            </a:r>
            <a:r>
              <a:rPr lang="fr-BE" sz="1400" b="1" dirty="0" err="1">
                <a:solidFill>
                  <a:srgbClr val="CB0538"/>
                </a:solidFill>
              </a:rPr>
              <a:t>Responder</a:t>
            </a:r>
            <a:r>
              <a:rPr lang="fr-BE" sz="1400" b="1" dirty="0">
                <a:solidFill>
                  <a:srgbClr val="CB0538"/>
                </a:solidFill>
              </a:rPr>
              <a:t> </a:t>
            </a:r>
            <a:r>
              <a:rPr lang="fr-BE" sz="1400" dirty="0"/>
              <a:t>(Art. 23)</a:t>
            </a:r>
          </a:p>
          <a:p>
            <a:r>
              <a:rPr lang="fr-BE" sz="1400" b="1" dirty="0" err="1">
                <a:solidFill>
                  <a:srgbClr val="004F9F"/>
                </a:solidFill>
              </a:rPr>
              <a:t>Cybersecurity</a:t>
            </a:r>
            <a:r>
              <a:rPr lang="fr-BE" sz="1400" b="1" dirty="0">
                <a:solidFill>
                  <a:srgbClr val="004F9F"/>
                </a:solidFill>
              </a:rPr>
              <a:t> </a:t>
            </a:r>
            <a:r>
              <a:rPr lang="fr-BE" sz="1400" b="1" dirty="0" err="1">
                <a:solidFill>
                  <a:srgbClr val="004F9F"/>
                </a:solidFill>
              </a:rPr>
              <a:t>Implementer</a:t>
            </a:r>
            <a:r>
              <a:rPr lang="fr-BE" sz="1400" b="1" dirty="0">
                <a:solidFill>
                  <a:srgbClr val="004F9F"/>
                </a:solidFill>
              </a:rPr>
              <a:t> </a:t>
            </a:r>
            <a:r>
              <a:rPr lang="fr-BE" sz="1400" dirty="0"/>
              <a:t>(Art. 21)</a:t>
            </a:r>
          </a:p>
          <a:p>
            <a:r>
              <a:rPr lang="fr-BE" sz="1400" dirty="0"/>
              <a:t>--</a:t>
            </a:r>
          </a:p>
          <a:p>
            <a:r>
              <a:rPr lang="fr-BE" sz="1400" u="sng" dirty="0"/>
              <a:t>IMPORTANT</a:t>
            </a:r>
          </a:p>
          <a:p>
            <a:r>
              <a:rPr lang="fr-BE" sz="1400" b="1" dirty="0">
                <a:solidFill>
                  <a:srgbClr val="F9B233"/>
                </a:solidFill>
              </a:rPr>
              <a:t>Cyber </a:t>
            </a:r>
            <a:r>
              <a:rPr lang="fr-BE" sz="1400" b="1" dirty="0" err="1">
                <a:solidFill>
                  <a:srgbClr val="F9B233"/>
                </a:solidFill>
              </a:rPr>
              <a:t>Threat</a:t>
            </a:r>
            <a:r>
              <a:rPr lang="fr-BE" sz="1400" b="1" dirty="0">
                <a:solidFill>
                  <a:srgbClr val="F9B233"/>
                </a:solidFill>
              </a:rPr>
              <a:t> Intelligence </a:t>
            </a:r>
            <a:r>
              <a:rPr lang="fr-BE" sz="1400" b="1" dirty="0" err="1">
                <a:solidFill>
                  <a:srgbClr val="F9B233"/>
                </a:solidFill>
              </a:rPr>
              <a:t>Specialist</a:t>
            </a:r>
            <a:endParaRPr lang="fr-BE" sz="1400" b="1" dirty="0">
              <a:solidFill>
                <a:srgbClr val="F9B233"/>
              </a:solidFill>
            </a:endParaRPr>
          </a:p>
          <a:p>
            <a:r>
              <a:rPr lang="fr-BE" sz="1400" b="1" dirty="0" err="1">
                <a:solidFill>
                  <a:srgbClr val="95C11F"/>
                </a:solidFill>
              </a:rPr>
              <a:t>Cybersecurity</a:t>
            </a:r>
            <a:r>
              <a:rPr lang="fr-BE" sz="1400" b="1" dirty="0">
                <a:solidFill>
                  <a:srgbClr val="95C11F"/>
                </a:solidFill>
              </a:rPr>
              <a:t> Architect </a:t>
            </a:r>
            <a:r>
              <a:rPr lang="fr-BE" sz="1400" dirty="0"/>
              <a:t>(Art. 21)</a:t>
            </a:r>
          </a:p>
          <a:p>
            <a:r>
              <a:rPr lang="fr-BE" sz="1400" dirty="0"/>
              <a:t>______________</a:t>
            </a:r>
          </a:p>
          <a:p>
            <a:r>
              <a:rPr lang="fr-BE" sz="2000" b="1" dirty="0"/>
              <a:t>2nd Line </a:t>
            </a:r>
            <a:r>
              <a:rPr lang="fr-BE" sz="2000" b="1" dirty="0">
                <a:solidFill>
                  <a:schemeClr val="tx2">
                    <a:lumMod val="50000"/>
                    <a:lumOff val="50000"/>
                  </a:schemeClr>
                </a:solidFill>
              </a:rPr>
              <a:t>Of </a:t>
            </a:r>
            <a:r>
              <a:rPr lang="fr-BE" sz="2000" b="1" dirty="0" err="1">
                <a:solidFill>
                  <a:schemeClr val="tx2">
                    <a:lumMod val="50000"/>
                    <a:lumOff val="50000"/>
                  </a:schemeClr>
                </a:solidFill>
              </a:rPr>
              <a:t>Defense</a:t>
            </a:r>
            <a:r>
              <a:rPr lang="fr-BE" sz="2000" b="1" dirty="0">
                <a:solidFill>
                  <a:schemeClr val="tx2">
                    <a:lumMod val="50000"/>
                    <a:lumOff val="50000"/>
                  </a:schemeClr>
                </a:solidFill>
              </a:rPr>
              <a:t> (LOD-2)</a:t>
            </a:r>
          </a:p>
          <a:p>
            <a:endParaRPr lang="fr-BE" sz="600" dirty="0"/>
          </a:p>
          <a:p>
            <a:r>
              <a:rPr lang="fr-BE" sz="1400" u="sng" dirty="0">
                <a:solidFill>
                  <a:srgbClr val="00B0F0"/>
                </a:solidFill>
              </a:rPr>
              <a:t>ESSENTIAL</a:t>
            </a:r>
          </a:p>
          <a:p>
            <a:r>
              <a:rPr lang="fr-BE" sz="1400" b="1" dirty="0">
                <a:solidFill>
                  <a:srgbClr val="004F9F"/>
                </a:solidFill>
              </a:rPr>
              <a:t>Chief Information Security </a:t>
            </a:r>
            <a:r>
              <a:rPr lang="fr-BE" sz="1400" b="1" dirty="0" err="1">
                <a:solidFill>
                  <a:srgbClr val="004F9F"/>
                </a:solidFill>
              </a:rPr>
              <a:t>Officer</a:t>
            </a:r>
            <a:r>
              <a:rPr lang="fr-BE" sz="1400" b="1" dirty="0"/>
              <a:t> </a:t>
            </a:r>
            <a:r>
              <a:rPr lang="fr-BE" sz="1400" dirty="0"/>
              <a:t>(Art. 20-21)</a:t>
            </a:r>
          </a:p>
          <a:p>
            <a:r>
              <a:rPr lang="fr-BE" sz="1400" b="1" dirty="0">
                <a:solidFill>
                  <a:srgbClr val="004F9F"/>
                </a:solidFill>
              </a:rPr>
              <a:t>Cyber Legal, Policy &amp; Compliance </a:t>
            </a:r>
            <a:r>
              <a:rPr lang="fr-BE" sz="1400" b="1" dirty="0" err="1">
                <a:solidFill>
                  <a:srgbClr val="004F9F"/>
                </a:solidFill>
              </a:rPr>
              <a:t>Officer</a:t>
            </a:r>
            <a:r>
              <a:rPr lang="fr-BE" sz="1400" b="1" dirty="0">
                <a:solidFill>
                  <a:srgbClr val="004F9F"/>
                </a:solidFill>
              </a:rPr>
              <a:t>  </a:t>
            </a:r>
            <a:r>
              <a:rPr lang="fr-BE" sz="1400" dirty="0"/>
              <a:t>(Art. 20-21) (Art. 23)</a:t>
            </a:r>
          </a:p>
          <a:p>
            <a:r>
              <a:rPr lang="fr-BE" sz="1400" b="1" dirty="0" err="1">
                <a:solidFill>
                  <a:srgbClr val="95C11F"/>
                </a:solidFill>
              </a:rPr>
              <a:t>Cybersecurity</a:t>
            </a:r>
            <a:r>
              <a:rPr lang="fr-BE" sz="1400" b="1" dirty="0">
                <a:solidFill>
                  <a:srgbClr val="95C11F"/>
                </a:solidFill>
              </a:rPr>
              <a:t> </a:t>
            </a:r>
            <a:r>
              <a:rPr lang="fr-BE" sz="1400" b="1" dirty="0" err="1">
                <a:solidFill>
                  <a:srgbClr val="95C11F"/>
                </a:solidFill>
              </a:rPr>
              <a:t>Educator</a:t>
            </a:r>
            <a:r>
              <a:rPr lang="fr-BE" sz="1400" b="1" dirty="0">
                <a:solidFill>
                  <a:srgbClr val="95C11F"/>
                </a:solidFill>
              </a:rPr>
              <a:t> </a:t>
            </a:r>
            <a:r>
              <a:rPr lang="fr-BE" sz="1400" dirty="0"/>
              <a:t>(Art. 21)</a:t>
            </a:r>
          </a:p>
          <a:p>
            <a:r>
              <a:rPr lang="fr-BE" sz="1400" b="1" dirty="0" err="1">
                <a:solidFill>
                  <a:srgbClr val="CB0538"/>
                </a:solidFill>
              </a:rPr>
              <a:t>Cybersecurity</a:t>
            </a:r>
            <a:r>
              <a:rPr lang="fr-BE" sz="1400" b="1" dirty="0">
                <a:solidFill>
                  <a:srgbClr val="CB0538"/>
                </a:solidFill>
              </a:rPr>
              <a:t> Risk Manager </a:t>
            </a:r>
            <a:r>
              <a:rPr lang="fr-BE" sz="1400" dirty="0"/>
              <a:t>(Art. 21)</a:t>
            </a:r>
          </a:p>
          <a:p>
            <a:r>
              <a:rPr lang="fr-BE" sz="1400" dirty="0"/>
              <a:t>--</a:t>
            </a:r>
          </a:p>
          <a:p>
            <a:r>
              <a:rPr lang="fr-BE" sz="1400" u="sng" dirty="0"/>
              <a:t>IMPORTANT</a:t>
            </a:r>
          </a:p>
          <a:p>
            <a:r>
              <a:rPr lang="fr-BE" sz="1400" b="1" dirty="0" err="1">
                <a:solidFill>
                  <a:srgbClr val="CB0538"/>
                </a:solidFill>
              </a:rPr>
              <a:t>Penetration</a:t>
            </a:r>
            <a:r>
              <a:rPr lang="fr-BE" sz="1400" b="1" dirty="0">
                <a:solidFill>
                  <a:srgbClr val="CB0538"/>
                </a:solidFill>
              </a:rPr>
              <a:t> Tester</a:t>
            </a:r>
          </a:p>
          <a:p>
            <a:r>
              <a:rPr lang="fr-BE" sz="1400" dirty="0"/>
              <a:t>______________</a:t>
            </a:r>
          </a:p>
          <a:p>
            <a:r>
              <a:rPr lang="fr-BE" sz="2000" b="1" dirty="0"/>
              <a:t>3rd Line</a:t>
            </a:r>
            <a:r>
              <a:rPr lang="fr-BE" sz="2000" b="1" dirty="0">
                <a:solidFill>
                  <a:schemeClr val="tx2">
                    <a:lumMod val="50000"/>
                    <a:lumOff val="50000"/>
                  </a:schemeClr>
                </a:solidFill>
              </a:rPr>
              <a:t> Of </a:t>
            </a:r>
            <a:r>
              <a:rPr lang="fr-BE" sz="2000" b="1" dirty="0" err="1">
                <a:solidFill>
                  <a:schemeClr val="tx2">
                    <a:lumMod val="50000"/>
                    <a:lumOff val="50000"/>
                  </a:schemeClr>
                </a:solidFill>
              </a:rPr>
              <a:t>Defense</a:t>
            </a:r>
            <a:r>
              <a:rPr lang="fr-BE" sz="2000" b="1" dirty="0">
                <a:solidFill>
                  <a:schemeClr val="tx2">
                    <a:lumMod val="50000"/>
                    <a:lumOff val="50000"/>
                  </a:schemeClr>
                </a:solidFill>
              </a:rPr>
              <a:t> (LOD-3)</a:t>
            </a:r>
          </a:p>
          <a:p>
            <a:endParaRPr lang="fr-BE" sz="600" dirty="0"/>
          </a:p>
          <a:p>
            <a:r>
              <a:rPr lang="fr-BE" sz="1400" u="sng" dirty="0"/>
              <a:t>IMPORTANT</a:t>
            </a:r>
          </a:p>
          <a:p>
            <a:r>
              <a:rPr lang="fr-BE" sz="1400" b="1" dirty="0" err="1">
                <a:solidFill>
                  <a:srgbClr val="F9B233"/>
                </a:solidFill>
              </a:rPr>
              <a:t>Cybersecurity</a:t>
            </a:r>
            <a:r>
              <a:rPr lang="fr-BE" sz="1400" b="1" dirty="0">
                <a:solidFill>
                  <a:srgbClr val="F9B233"/>
                </a:solidFill>
              </a:rPr>
              <a:t> Auditor</a:t>
            </a:r>
          </a:p>
          <a:p>
            <a:r>
              <a:rPr lang="fr-BE" sz="1400" dirty="0"/>
              <a:t>______________</a:t>
            </a:r>
          </a:p>
          <a:p>
            <a:r>
              <a:rPr lang="fr-BE" sz="2000" b="1" dirty="0" err="1">
                <a:solidFill>
                  <a:schemeClr val="tx2">
                    <a:lumMod val="50000"/>
                    <a:lumOff val="50000"/>
                  </a:schemeClr>
                </a:solidFill>
              </a:rPr>
              <a:t>Special</a:t>
            </a:r>
            <a:r>
              <a:rPr lang="fr-BE" sz="2000" b="1" dirty="0">
                <a:solidFill>
                  <a:schemeClr val="tx2">
                    <a:lumMod val="50000"/>
                    <a:lumOff val="50000"/>
                  </a:schemeClr>
                </a:solidFill>
              </a:rPr>
              <a:t> Expertise &amp; Support</a:t>
            </a:r>
          </a:p>
          <a:p>
            <a:endParaRPr lang="fr-BE" sz="600" dirty="0"/>
          </a:p>
          <a:p>
            <a:r>
              <a:rPr lang="fr-BE" sz="1400" u="sng" dirty="0"/>
              <a:t>OPTIONAL</a:t>
            </a:r>
          </a:p>
          <a:p>
            <a:r>
              <a:rPr lang="fr-BE" sz="1400" b="1" dirty="0">
                <a:solidFill>
                  <a:srgbClr val="F9B233"/>
                </a:solidFill>
              </a:rPr>
              <a:t>Digital </a:t>
            </a:r>
            <a:r>
              <a:rPr lang="fr-BE" sz="1400" b="1" dirty="0" err="1">
                <a:solidFill>
                  <a:srgbClr val="F9B233"/>
                </a:solidFill>
              </a:rPr>
              <a:t>Forensics</a:t>
            </a:r>
            <a:r>
              <a:rPr lang="fr-BE" sz="1400" b="1" dirty="0">
                <a:solidFill>
                  <a:srgbClr val="F9B233"/>
                </a:solidFill>
              </a:rPr>
              <a:t> </a:t>
            </a:r>
            <a:r>
              <a:rPr lang="fr-BE" sz="1400" b="1" dirty="0" err="1">
                <a:solidFill>
                  <a:srgbClr val="F9B233"/>
                </a:solidFill>
              </a:rPr>
              <a:t>Investigator</a:t>
            </a:r>
            <a:endParaRPr lang="fr-BE" sz="1400" b="1" dirty="0">
              <a:solidFill>
                <a:srgbClr val="F9B233"/>
              </a:solidFill>
            </a:endParaRPr>
          </a:p>
          <a:p>
            <a:r>
              <a:rPr lang="fr-BE" sz="1400" b="1" dirty="0">
                <a:solidFill>
                  <a:srgbClr val="95C11F"/>
                </a:solidFill>
              </a:rPr>
              <a:t>(</a:t>
            </a:r>
            <a:r>
              <a:rPr lang="fr-BE" sz="1400" b="1" dirty="0" err="1">
                <a:solidFill>
                  <a:srgbClr val="95C11F"/>
                </a:solidFill>
              </a:rPr>
              <a:t>Cybersecurity</a:t>
            </a:r>
            <a:r>
              <a:rPr lang="fr-BE" sz="1400" b="1" dirty="0">
                <a:solidFill>
                  <a:srgbClr val="95C11F"/>
                </a:solidFill>
              </a:rPr>
              <a:t> </a:t>
            </a:r>
            <a:r>
              <a:rPr lang="fr-BE" sz="1400" b="1" dirty="0" err="1">
                <a:solidFill>
                  <a:srgbClr val="95C11F"/>
                </a:solidFill>
              </a:rPr>
              <a:t>Researcher</a:t>
            </a:r>
            <a:r>
              <a:rPr lang="fr-BE" sz="1400" b="1" dirty="0">
                <a:solidFill>
                  <a:srgbClr val="95C11F"/>
                </a:solidFill>
              </a:rPr>
              <a:t>)</a:t>
            </a:r>
          </a:p>
        </p:txBody>
      </p:sp>
    </p:spTree>
    <p:extLst>
      <p:ext uri="{BB962C8B-B14F-4D97-AF65-F5344CB8AC3E}">
        <p14:creationId xmlns:p14="http://schemas.microsoft.com/office/powerpoint/2010/main" val="1651286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07077-7E29-C2FC-3E3D-D2B74666493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EBD9428-B407-09A9-B222-884E5EFDBA48}"/>
              </a:ext>
            </a:extLst>
          </p:cNvPr>
          <p:cNvSpPr txBox="1"/>
          <p:nvPr/>
        </p:nvSpPr>
        <p:spPr>
          <a:xfrm>
            <a:off x="1219152" y="558117"/>
            <a:ext cx="1423670" cy="350930"/>
          </a:xfrm>
          <a:prstGeom prst="rect">
            <a:avLst/>
          </a:prstGeom>
        </p:spPr>
        <p:txBody>
          <a:bodyPr vert="horz" wrap="square" lIns="0" tIns="12700" rIns="0" bIns="0" rtlCol="0">
            <a:spAutoFit/>
          </a:bodyPr>
          <a:lstStyle/>
          <a:p>
            <a:pPr marL="12700" marR="5080" lvl="0" indent="137160" algn="l"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Chief</a:t>
            </a:r>
            <a:r>
              <a:rPr kumimoji="0" sz="1000" b="0" i="0" u="none" strike="noStrike" kern="0" cap="none" spc="-40"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 </a:t>
            </a:r>
            <a:r>
              <a:rPr kumimoji="0" sz="1000" b="0" i="0" u="none" strike="noStrike" kern="0" cap="none" spc="-10"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Information </a:t>
            </a:r>
            <a:r>
              <a:rPr kumimoji="0" sz="1000" b="0" i="0" u="none" strike="noStrike" kern="0" cap="none" spc="-70"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Security</a:t>
            </a:r>
            <a:r>
              <a:rPr kumimoji="0" sz="1000" b="0" i="0" u="none" strike="noStrike" kern="0" cap="none" spc="-40"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 </a:t>
            </a:r>
            <a:r>
              <a:rPr kumimoji="0" sz="1000" b="0" i="0" u="none" strike="noStrike" kern="0" cap="none" spc="-55"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Officer</a:t>
            </a:r>
            <a:r>
              <a:rPr kumimoji="0" sz="1000" b="0" i="0" u="none" strike="noStrike" kern="0" cap="none" spc="-35"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 </a:t>
            </a:r>
            <a:r>
              <a:rPr kumimoji="0" sz="1000" b="0" i="0" u="none" strike="noStrike" kern="0" cap="none" spc="-85"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(CISO)</a:t>
            </a:r>
            <a:endParaRPr kumimoji="0" sz="1000" b="0" i="0" u="none" strike="noStrike" kern="0" cap="none" spc="0" normalizeH="0" baseline="0" noProof="0" dirty="0">
              <a:ln>
                <a:noFill/>
              </a:ln>
              <a:solidFill>
                <a:srgbClr val="004F9F"/>
              </a:solidFill>
              <a:effectLst/>
              <a:uLnTx/>
              <a:uFillTx/>
              <a:latin typeface="Arial Black"/>
              <a:ea typeface="+mn-ea"/>
              <a:cs typeface="Arial Black"/>
            </a:endParaRPr>
          </a:p>
        </p:txBody>
      </p:sp>
      <p:pic>
        <p:nvPicPr>
          <p:cNvPr id="5" name="object 5">
            <a:extLst>
              <a:ext uri="{FF2B5EF4-FFF2-40B4-BE49-F238E27FC236}">
                <a16:creationId xmlns:a16="http://schemas.microsoft.com/office/drawing/2014/main" id="{FDBDCC70-9109-5D74-BB5A-3330824497D8}"/>
              </a:ext>
            </a:extLst>
          </p:cNvPr>
          <p:cNvPicPr/>
          <p:nvPr/>
        </p:nvPicPr>
        <p:blipFill>
          <a:blip r:embed="rId2" cstate="print"/>
          <a:stretch>
            <a:fillRect/>
          </a:stretch>
        </p:blipFill>
        <p:spPr>
          <a:xfrm>
            <a:off x="568700" y="482234"/>
            <a:ext cx="360705" cy="521971"/>
          </a:xfrm>
          <a:prstGeom prst="rect">
            <a:avLst/>
          </a:prstGeom>
        </p:spPr>
      </p:pic>
      <p:sp>
        <p:nvSpPr>
          <p:cNvPr id="6" name="object 8">
            <a:extLst>
              <a:ext uri="{FF2B5EF4-FFF2-40B4-BE49-F238E27FC236}">
                <a16:creationId xmlns:a16="http://schemas.microsoft.com/office/drawing/2014/main" id="{1C09AA43-2F43-81C1-DC76-23150422B9EF}"/>
              </a:ext>
            </a:extLst>
          </p:cNvPr>
          <p:cNvSpPr txBox="1"/>
          <p:nvPr/>
        </p:nvSpPr>
        <p:spPr>
          <a:xfrm>
            <a:off x="1194387" y="1573423"/>
            <a:ext cx="1473200" cy="350930"/>
          </a:xfrm>
          <a:prstGeom prst="rect">
            <a:avLst/>
          </a:prstGeom>
        </p:spPr>
        <p:txBody>
          <a:bodyPr vert="horz" wrap="square" lIns="0" tIns="12700" rIns="0" bIns="0" rtlCol="0">
            <a:spAutoFit/>
          </a:bodyPr>
          <a:lstStyle/>
          <a:p>
            <a:pPr marL="12700" marR="5080" indent="137160">
              <a:lnSpc>
                <a:spcPct val="112999"/>
              </a:lnSpc>
              <a:spcBef>
                <a:spcPts val="100"/>
              </a:spcBef>
              <a:defRPr/>
            </a:pPr>
            <a:r>
              <a:rPr sz="1000" kern="0" spc="-65" dirty="0">
                <a:solidFill>
                  <a:srgbClr val="004F9F"/>
                </a:solidFill>
                <a:latin typeface="Arial Black"/>
                <a:hlinkClick r:id="" action="ppaction://noaction">
                  <a:extLst>
                    <a:ext uri="{A12FA001-AC4F-418D-AE19-62706E023703}">
                      <ahyp:hlinkClr xmlns:ahyp="http://schemas.microsoft.com/office/drawing/2018/hyperlinkcolor" val="tx"/>
                    </a:ext>
                  </a:extLst>
                </a:hlinkClick>
              </a:rPr>
              <a:t>Cyber Legal, Policy and Compliance Officer</a:t>
            </a:r>
            <a:endParaRPr sz="1000" kern="0" spc="-65" dirty="0">
              <a:solidFill>
                <a:srgbClr val="004F9F"/>
              </a:solidFill>
              <a:latin typeface="Arial Black"/>
            </a:endParaRPr>
          </a:p>
        </p:txBody>
      </p:sp>
      <p:pic>
        <p:nvPicPr>
          <p:cNvPr id="7" name="object 9">
            <a:extLst>
              <a:ext uri="{FF2B5EF4-FFF2-40B4-BE49-F238E27FC236}">
                <a16:creationId xmlns:a16="http://schemas.microsoft.com/office/drawing/2014/main" id="{FC0E1989-FB6F-7108-6F2F-E06EDF74E451}"/>
              </a:ext>
            </a:extLst>
          </p:cNvPr>
          <p:cNvPicPr/>
          <p:nvPr/>
        </p:nvPicPr>
        <p:blipFill>
          <a:blip r:embed="rId3" cstate="print"/>
          <a:stretch>
            <a:fillRect/>
          </a:stretch>
        </p:blipFill>
        <p:spPr>
          <a:xfrm>
            <a:off x="351339" y="1503333"/>
            <a:ext cx="795427" cy="510384"/>
          </a:xfrm>
          <a:prstGeom prst="rect">
            <a:avLst/>
          </a:prstGeom>
        </p:spPr>
      </p:pic>
      <p:sp>
        <p:nvSpPr>
          <p:cNvPr id="8" name="object 18">
            <a:extLst>
              <a:ext uri="{FF2B5EF4-FFF2-40B4-BE49-F238E27FC236}">
                <a16:creationId xmlns:a16="http://schemas.microsoft.com/office/drawing/2014/main" id="{D036A157-D29F-075C-9A7D-7BFD05FD9ECC}"/>
              </a:ext>
            </a:extLst>
          </p:cNvPr>
          <p:cNvSpPr txBox="1"/>
          <p:nvPr/>
        </p:nvSpPr>
        <p:spPr>
          <a:xfrm>
            <a:off x="1480771" y="2664732"/>
            <a:ext cx="1404241" cy="350930"/>
          </a:xfrm>
          <a:prstGeom prst="rect">
            <a:avLst/>
          </a:prstGeom>
        </p:spPr>
        <p:txBody>
          <a:bodyPr vert="horz" wrap="square" lIns="0" tIns="12700" rIns="0" bIns="0" rtlCol="0">
            <a:spAutoFit/>
          </a:bodyPr>
          <a:lstStyle/>
          <a:p>
            <a:pPr marL="12700" marR="5080" indent="137160">
              <a:lnSpc>
                <a:spcPct val="112999"/>
              </a:lnSpc>
              <a:spcBef>
                <a:spcPts val="100"/>
              </a:spcBef>
              <a:defRPr/>
            </a:pPr>
            <a:r>
              <a:rPr sz="1000" kern="0" spc="-65" dirty="0">
                <a:solidFill>
                  <a:srgbClr val="004F9F"/>
                </a:solidFill>
                <a:latin typeface="Arial Black"/>
                <a:hlinkClick r:id="" action="ppaction://noaction">
                  <a:extLst>
                    <a:ext uri="{A12FA001-AC4F-418D-AE19-62706E023703}">
                      <ahyp:hlinkClr xmlns:ahyp="http://schemas.microsoft.com/office/drawing/2018/hyperlinkcolor" val="tx"/>
                    </a:ext>
                  </a:extLst>
                </a:hlinkClick>
              </a:rPr>
              <a:t>Cybersecurity Implementer</a:t>
            </a:r>
            <a:endParaRPr sz="1000" kern="0" spc="-65" dirty="0">
              <a:solidFill>
                <a:srgbClr val="004F9F"/>
              </a:solidFill>
              <a:latin typeface="Arial Black"/>
            </a:endParaRPr>
          </a:p>
        </p:txBody>
      </p:sp>
      <p:pic>
        <p:nvPicPr>
          <p:cNvPr id="9" name="object 19">
            <a:extLst>
              <a:ext uri="{FF2B5EF4-FFF2-40B4-BE49-F238E27FC236}">
                <a16:creationId xmlns:a16="http://schemas.microsoft.com/office/drawing/2014/main" id="{A4E8A793-D2F0-CE4F-AFBB-E00CD1477DDF}"/>
              </a:ext>
            </a:extLst>
          </p:cNvPr>
          <p:cNvPicPr/>
          <p:nvPr/>
        </p:nvPicPr>
        <p:blipFill>
          <a:blip r:embed="rId4" cstate="print"/>
          <a:stretch>
            <a:fillRect/>
          </a:stretch>
        </p:blipFill>
        <p:spPr>
          <a:xfrm>
            <a:off x="462939" y="2566024"/>
            <a:ext cx="572226" cy="570796"/>
          </a:xfrm>
          <a:prstGeom prst="rect">
            <a:avLst/>
          </a:prstGeom>
        </p:spPr>
      </p:pic>
      <p:pic>
        <p:nvPicPr>
          <p:cNvPr id="10" name="object 22">
            <a:extLst>
              <a:ext uri="{FF2B5EF4-FFF2-40B4-BE49-F238E27FC236}">
                <a16:creationId xmlns:a16="http://schemas.microsoft.com/office/drawing/2014/main" id="{A5CAC76D-D2F0-DACE-90A3-33D5B1DE0238}"/>
              </a:ext>
            </a:extLst>
          </p:cNvPr>
          <p:cNvPicPr/>
          <p:nvPr/>
        </p:nvPicPr>
        <p:blipFill>
          <a:blip r:embed="rId5" cstate="print"/>
          <a:stretch>
            <a:fillRect/>
          </a:stretch>
        </p:blipFill>
        <p:spPr>
          <a:xfrm>
            <a:off x="493183" y="4129412"/>
            <a:ext cx="511738" cy="510384"/>
          </a:xfrm>
          <a:prstGeom prst="rect">
            <a:avLst/>
          </a:prstGeom>
        </p:spPr>
      </p:pic>
      <p:sp>
        <p:nvSpPr>
          <p:cNvPr id="11" name="object 23">
            <a:extLst>
              <a:ext uri="{FF2B5EF4-FFF2-40B4-BE49-F238E27FC236}">
                <a16:creationId xmlns:a16="http://schemas.microsoft.com/office/drawing/2014/main" id="{EDF68079-D21C-BE33-1882-8C70792A5059}"/>
              </a:ext>
            </a:extLst>
          </p:cNvPr>
          <p:cNvSpPr txBox="1"/>
          <p:nvPr/>
        </p:nvSpPr>
        <p:spPr>
          <a:xfrm>
            <a:off x="1332182" y="4207793"/>
            <a:ext cx="1197610" cy="353623"/>
          </a:xfrm>
          <a:prstGeom prst="rect">
            <a:avLst/>
          </a:prstGeom>
        </p:spPr>
        <p:txBody>
          <a:bodyPr vert="horz" wrap="square" lIns="0" tIns="12700" rIns="0" bIns="0" rtlCol="0">
            <a:spAutoFit/>
          </a:bodyPr>
          <a:lstStyle/>
          <a:p>
            <a:pPr marL="318770" marR="5080" lvl="0" indent="-306705"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CB0538"/>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Cybersecurity</a:t>
            </a:r>
            <a:r>
              <a:rPr kumimoji="0" sz="1000" b="0" i="0" u="none" strike="noStrike" kern="0" cap="none" spc="-15" normalizeH="0" baseline="0" noProof="0" dirty="0">
                <a:ln>
                  <a:noFill/>
                </a:ln>
                <a:solidFill>
                  <a:srgbClr val="CB0538"/>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 </a:t>
            </a:r>
            <a:r>
              <a:rPr kumimoji="0" sz="1000" b="0" i="0" u="none" strike="noStrike" kern="0" cap="none" spc="-80" normalizeH="0" baseline="0" noProof="0" dirty="0">
                <a:ln>
                  <a:noFill/>
                </a:ln>
                <a:solidFill>
                  <a:srgbClr val="CB0538"/>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Risk </a:t>
            </a:r>
            <a:r>
              <a:rPr kumimoji="0" sz="1000" b="0" i="0" u="none" strike="noStrike" kern="0" cap="none" spc="-10" normalizeH="0" baseline="0" noProof="0" dirty="0">
                <a:ln>
                  <a:noFill/>
                </a:ln>
                <a:solidFill>
                  <a:srgbClr val="CB0538"/>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Manager</a:t>
            </a:r>
            <a:endParaRPr kumimoji="0" sz="1000" b="0" i="0" u="none" strike="noStrike" kern="0" cap="none" spc="0" normalizeH="0" baseline="0" noProof="0" dirty="0">
              <a:ln>
                <a:noFill/>
              </a:ln>
              <a:solidFill>
                <a:srgbClr val="CB0538"/>
              </a:solidFill>
              <a:effectLst/>
              <a:uLnTx/>
              <a:uFillTx/>
              <a:latin typeface="Arial Black"/>
              <a:ea typeface="+mn-ea"/>
              <a:cs typeface="Arial Black"/>
            </a:endParaRPr>
          </a:p>
        </p:txBody>
      </p:sp>
      <p:pic>
        <p:nvPicPr>
          <p:cNvPr id="12" name="object 6">
            <a:extLst>
              <a:ext uri="{FF2B5EF4-FFF2-40B4-BE49-F238E27FC236}">
                <a16:creationId xmlns:a16="http://schemas.microsoft.com/office/drawing/2014/main" id="{12B2EFD4-F9AC-D5E6-05D9-E148A7AF2A6B}"/>
              </a:ext>
            </a:extLst>
          </p:cNvPr>
          <p:cNvPicPr/>
          <p:nvPr/>
        </p:nvPicPr>
        <p:blipFill>
          <a:blip r:embed="rId6" cstate="print"/>
          <a:stretch>
            <a:fillRect/>
          </a:stretch>
        </p:blipFill>
        <p:spPr>
          <a:xfrm>
            <a:off x="504546" y="5055388"/>
            <a:ext cx="489012" cy="517154"/>
          </a:xfrm>
          <a:prstGeom prst="rect">
            <a:avLst/>
          </a:prstGeom>
        </p:spPr>
      </p:pic>
      <p:sp>
        <p:nvSpPr>
          <p:cNvPr id="13" name="object 7">
            <a:extLst>
              <a:ext uri="{FF2B5EF4-FFF2-40B4-BE49-F238E27FC236}">
                <a16:creationId xmlns:a16="http://schemas.microsoft.com/office/drawing/2014/main" id="{A87E3CE5-85DB-3D80-FE48-174C097DE75D}"/>
              </a:ext>
            </a:extLst>
          </p:cNvPr>
          <p:cNvSpPr txBox="1"/>
          <p:nvPr/>
        </p:nvSpPr>
        <p:spPr>
          <a:xfrm>
            <a:off x="1456960" y="5138500"/>
            <a:ext cx="948055" cy="350930"/>
          </a:xfrm>
          <a:prstGeom prst="rect">
            <a:avLst/>
          </a:prstGeom>
        </p:spPr>
        <p:txBody>
          <a:bodyPr vert="horz" wrap="square" lIns="0" tIns="12700" rIns="0" bIns="0" rtlCol="0">
            <a:spAutoFit/>
          </a:bodyPr>
          <a:lstStyle/>
          <a:p>
            <a:pPr marL="133985" marR="5080" lvl="0" indent="-121920" algn="l"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CB0538"/>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Cyber</a:t>
            </a:r>
            <a:r>
              <a:rPr kumimoji="0" sz="1000" b="0" i="0" u="none" strike="noStrike" kern="0" cap="none" spc="-55" normalizeH="0" baseline="0" noProof="0" dirty="0">
                <a:ln>
                  <a:noFill/>
                </a:ln>
                <a:solidFill>
                  <a:srgbClr val="CB0538"/>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 Incident </a:t>
            </a:r>
            <a:r>
              <a:rPr kumimoji="0" sz="1000" b="0" i="0" u="none" strike="noStrike" kern="0" cap="none" spc="-10" normalizeH="0" baseline="0" noProof="0" dirty="0">
                <a:ln>
                  <a:noFill/>
                </a:ln>
                <a:solidFill>
                  <a:srgbClr val="CB0538"/>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Responder</a:t>
            </a:r>
            <a:endParaRPr kumimoji="0" sz="1000" b="0" i="0" u="none" strike="noStrike" kern="0" cap="none" spc="0" normalizeH="0" baseline="0" noProof="0" dirty="0">
              <a:ln>
                <a:noFill/>
              </a:ln>
              <a:solidFill>
                <a:srgbClr val="CB0538"/>
              </a:solidFill>
              <a:effectLst/>
              <a:uLnTx/>
              <a:uFillTx/>
              <a:latin typeface="Arial Black"/>
              <a:ea typeface="+mn-ea"/>
              <a:cs typeface="Arial Black"/>
            </a:endParaRPr>
          </a:p>
        </p:txBody>
      </p:sp>
      <p:pic>
        <p:nvPicPr>
          <p:cNvPr id="14" name="object 26">
            <a:extLst>
              <a:ext uri="{FF2B5EF4-FFF2-40B4-BE49-F238E27FC236}">
                <a16:creationId xmlns:a16="http://schemas.microsoft.com/office/drawing/2014/main" id="{1DF978F8-6421-A2A8-9878-584CE0AB89F8}"/>
              </a:ext>
            </a:extLst>
          </p:cNvPr>
          <p:cNvPicPr/>
          <p:nvPr/>
        </p:nvPicPr>
        <p:blipFill>
          <a:blip r:embed="rId7" cstate="print"/>
          <a:stretch>
            <a:fillRect/>
          </a:stretch>
        </p:blipFill>
        <p:spPr>
          <a:xfrm>
            <a:off x="410385" y="5729399"/>
            <a:ext cx="677334" cy="558586"/>
          </a:xfrm>
          <a:prstGeom prst="rect">
            <a:avLst/>
          </a:prstGeom>
        </p:spPr>
      </p:pic>
      <p:sp>
        <p:nvSpPr>
          <p:cNvPr id="15" name="object 27">
            <a:extLst>
              <a:ext uri="{FF2B5EF4-FFF2-40B4-BE49-F238E27FC236}">
                <a16:creationId xmlns:a16="http://schemas.microsoft.com/office/drawing/2014/main" id="{70A29C29-B46B-8733-E7AD-74788D242B7A}"/>
              </a:ext>
            </a:extLst>
          </p:cNvPr>
          <p:cNvSpPr txBox="1"/>
          <p:nvPr/>
        </p:nvSpPr>
        <p:spPr>
          <a:xfrm>
            <a:off x="1539827" y="5934362"/>
            <a:ext cx="782320" cy="353623"/>
          </a:xfrm>
          <a:prstGeom prst="rect">
            <a:avLst/>
          </a:prstGeom>
        </p:spPr>
        <p:txBody>
          <a:bodyPr vert="horz" wrap="square" lIns="0" tIns="12700" rIns="0" bIns="0" rtlCol="0">
            <a:spAutoFit/>
          </a:bodyPr>
          <a:lstStyle/>
          <a:p>
            <a:pPr marL="192405" marR="5080" lvl="0" indent="-18034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50" normalizeH="0" baseline="0" noProof="0" dirty="0">
                <a:ln>
                  <a:noFill/>
                </a:ln>
                <a:solidFill>
                  <a:srgbClr val="CB0538"/>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Penetration </a:t>
            </a:r>
            <a:r>
              <a:rPr kumimoji="0" sz="1000" b="0" i="0" u="none" strike="noStrike" kern="0" cap="none" spc="-10" normalizeH="0" baseline="0" noProof="0" dirty="0">
                <a:ln>
                  <a:noFill/>
                </a:ln>
                <a:solidFill>
                  <a:srgbClr val="CB0538"/>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Tester</a:t>
            </a:r>
            <a:endParaRPr kumimoji="0" sz="1000" b="0" i="0" u="none" strike="noStrike" kern="0" cap="none" spc="0" normalizeH="0" baseline="0" noProof="0" dirty="0">
              <a:ln>
                <a:noFill/>
              </a:ln>
              <a:solidFill>
                <a:srgbClr val="CB0538"/>
              </a:solidFill>
              <a:effectLst/>
              <a:uLnTx/>
              <a:uFillTx/>
              <a:latin typeface="Arial Black"/>
              <a:ea typeface="+mn-ea"/>
              <a:cs typeface="Arial Black"/>
            </a:endParaRPr>
          </a:p>
        </p:txBody>
      </p:sp>
      <p:pic>
        <p:nvPicPr>
          <p:cNvPr id="16" name="object 14">
            <a:extLst>
              <a:ext uri="{FF2B5EF4-FFF2-40B4-BE49-F238E27FC236}">
                <a16:creationId xmlns:a16="http://schemas.microsoft.com/office/drawing/2014/main" id="{413680C1-CFBF-636D-F93F-891F76FDB07D}"/>
              </a:ext>
            </a:extLst>
          </p:cNvPr>
          <p:cNvPicPr/>
          <p:nvPr/>
        </p:nvPicPr>
        <p:blipFill>
          <a:blip r:embed="rId8" cstate="print"/>
          <a:stretch>
            <a:fillRect/>
          </a:stretch>
        </p:blipFill>
        <p:spPr>
          <a:xfrm>
            <a:off x="9377413" y="371976"/>
            <a:ext cx="700333" cy="642654"/>
          </a:xfrm>
          <a:prstGeom prst="rect">
            <a:avLst/>
          </a:prstGeom>
        </p:spPr>
      </p:pic>
      <p:sp>
        <p:nvSpPr>
          <p:cNvPr id="17" name="object 15">
            <a:extLst>
              <a:ext uri="{FF2B5EF4-FFF2-40B4-BE49-F238E27FC236}">
                <a16:creationId xmlns:a16="http://schemas.microsoft.com/office/drawing/2014/main" id="{3E8507E4-52F9-584E-05F9-73E6C54DCE39}"/>
              </a:ext>
            </a:extLst>
          </p:cNvPr>
          <p:cNvSpPr txBox="1"/>
          <p:nvPr/>
        </p:nvSpPr>
        <p:spPr>
          <a:xfrm>
            <a:off x="10578758" y="517838"/>
            <a:ext cx="900430" cy="350930"/>
          </a:xfrm>
          <a:prstGeom prst="rect">
            <a:avLst/>
          </a:prstGeom>
        </p:spPr>
        <p:txBody>
          <a:bodyPr vert="horz" wrap="square" lIns="0" tIns="12700" rIns="0" bIns="0" rtlCol="0">
            <a:spAutoFit/>
          </a:bodyPr>
          <a:lstStyle/>
          <a:p>
            <a:pPr marL="210820" marR="5080" lvl="0" indent="-198120" algn="l"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F9B233"/>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Cybersecurity </a:t>
            </a:r>
            <a:r>
              <a:rPr kumimoji="0" sz="1000" b="0" i="0" u="none" strike="noStrike" kern="0" cap="none" spc="-10" normalizeH="0" baseline="0" noProof="0" dirty="0">
                <a:ln>
                  <a:noFill/>
                </a:ln>
                <a:solidFill>
                  <a:srgbClr val="F9B233"/>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Auditor</a:t>
            </a:r>
            <a:endParaRPr kumimoji="0" sz="1000" b="0" i="0" u="none" strike="noStrike" kern="0" cap="none" spc="0" normalizeH="0" baseline="0" noProof="0" dirty="0">
              <a:ln>
                <a:noFill/>
              </a:ln>
              <a:solidFill>
                <a:srgbClr val="F9B233"/>
              </a:solidFill>
              <a:effectLst/>
              <a:uLnTx/>
              <a:uFillTx/>
              <a:latin typeface="Arial Black"/>
              <a:ea typeface="+mn-ea"/>
              <a:cs typeface="Arial Black"/>
            </a:endParaRPr>
          </a:p>
        </p:txBody>
      </p:sp>
      <p:pic>
        <p:nvPicPr>
          <p:cNvPr id="18" name="object 10">
            <a:extLst>
              <a:ext uri="{FF2B5EF4-FFF2-40B4-BE49-F238E27FC236}">
                <a16:creationId xmlns:a16="http://schemas.microsoft.com/office/drawing/2014/main" id="{B968A095-6D43-A329-70E7-AE5FF7CDA23A}"/>
              </a:ext>
            </a:extLst>
          </p:cNvPr>
          <p:cNvPicPr/>
          <p:nvPr/>
        </p:nvPicPr>
        <p:blipFill>
          <a:blip r:embed="rId9" cstate="print"/>
          <a:stretch>
            <a:fillRect/>
          </a:stretch>
        </p:blipFill>
        <p:spPr>
          <a:xfrm>
            <a:off x="9424693" y="1376624"/>
            <a:ext cx="605772" cy="663970"/>
          </a:xfrm>
          <a:prstGeom prst="rect">
            <a:avLst/>
          </a:prstGeom>
        </p:spPr>
      </p:pic>
      <p:sp>
        <p:nvSpPr>
          <p:cNvPr id="19" name="object 11">
            <a:extLst>
              <a:ext uri="{FF2B5EF4-FFF2-40B4-BE49-F238E27FC236}">
                <a16:creationId xmlns:a16="http://schemas.microsoft.com/office/drawing/2014/main" id="{30523ED0-C817-E205-12FF-EB71E82AF617}"/>
              </a:ext>
            </a:extLst>
          </p:cNvPr>
          <p:cNvSpPr txBox="1"/>
          <p:nvPr/>
        </p:nvSpPr>
        <p:spPr>
          <a:xfrm>
            <a:off x="10328886" y="1533144"/>
            <a:ext cx="1400175" cy="350930"/>
          </a:xfrm>
          <a:prstGeom prst="rect">
            <a:avLst/>
          </a:prstGeom>
        </p:spPr>
        <p:txBody>
          <a:bodyPr vert="horz" wrap="square" lIns="0" tIns="12700" rIns="0" bIns="0" rtlCol="0">
            <a:spAutoFit/>
          </a:bodyPr>
          <a:lstStyle/>
          <a:p>
            <a:pPr marL="12700" marR="5080" lvl="0" indent="278765" algn="l"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F9B233"/>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Cyber</a:t>
            </a:r>
            <a:r>
              <a:rPr kumimoji="0" sz="1000" b="0" i="0" u="none" strike="noStrike" kern="0" cap="none" spc="-55" normalizeH="0" baseline="0" noProof="0" dirty="0">
                <a:ln>
                  <a:noFill/>
                </a:ln>
                <a:solidFill>
                  <a:srgbClr val="F9B233"/>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 </a:t>
            </a:r>
            <a:r>
              <a:rPr kumimoji="0" sz="1000" b="0" i="0" u="none" strike="noStrike" kern="0" cap="none" spc="-10" normalizeH="0" baseline="0" noProof="0" dirty="0">
                <a:ln>
                  <a:noFill/>
                </a:ln>
                <a:solidFill>
                  <a:srgbClr val="F9B233"/>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Threat </a:t>
            </a:r>
            <a:r>
              <a:rPr kumimoji="0" sz="1000" b="0" i="0" u="none" strike="noStrike" kern="0" cap="none" spc="-70" normalizeH="0" baseline="0" noProof="0" dirty="0">
                <a:ln>
                  <a:noFill/>
                </a:ln>
                <a:solidFill>
                  <a:srgbClr val="F9B233"/>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Intelligence</a:t>
            </a:r>
            <a:r>
              <a:rPr kumimoji="0" sz="1000" b="0" i="0" u="none" strike="noStrike" kern="0" cap="none" spc="25" normalizeH="0" baseline="0" noProof="0" dirty="0">
                <a:ln>
                  <a:noFill/>
                </a:ln>
                <a:solidFill>
                  <a:srgbClr val="F9B233"/>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 </a:t>
            </a:r>
            <a:r>
              <a:rPr kumimoji="0" sz="1000" b="0" i="0" u="none" strike="noStrike" kern="0" cap="none" spc="-75" normalizeH="0" baseline="0" noProof="0" dirty="0">
                <a:ln>
                  <a:noFill/>
                </a:ln>
                <a:solidFill>
                  <a:srgbClr val="F9B233"/>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Specialist</a:t>
            </a:r>
            <a:endParaRPr kumimoji="0" sz="1000" b="0" i="0" u="none" strike="noStrike" kern="0" cap="none" spc="0" normalizeH="0" baseline="0" noProof="0" dirty="0">
              <a:ln>
                <a:noFill/>
              </a:ln>
              <a:solidFill>
                <a:srgbClr val="F9B233"/>
              </a:solidFill>
              <a:effectLst/>
              <a:uLnTx/>
              <a:uFillTx/>
              <a:latin typeface="Arial Black"/>
              <a:ea typeface="+mn-ea"/>
              <a:cs typeface="Arial Black"/>
            </a:endParaRPr>
          </a:p>
        </p:txBody>
      </p:sp>
      <p:pic>
        <p:nvPicPr>
          <p:cNvPr id="20" name="object 24">
            <a:extLst>
              <a:ext uri="{FF2B5EF4-FFF2-40B4-BE49-F238E27FC236}">
                <a16:creationId xmlns:a16="http://schemas.microsoft.com/office/drawing/2014/main" id="{061643C6-635D-B057-2DC4-A04C4F312B19}"/>
              </a:ext>
            </a:extLst>
          </p:cNvPr>
          <p:cNvPicPr/>
          <p:nvPr/>
        </p:nvPicPr>
        <p:blipFill>
          <a:blip r:embed="rId10" cstate="print"/>
          <a:stretch>
            <a:fillRect/>
          </a:stretch>
        </p:blipFill>
        <p:spPr>
          <a:xfrm>
            <a:off x="9388882" y="2564900"/>
            <a:ext cx="677394" cy="473212"/>
          </a:xfrm>
          <a:prstGeom prst="rect">
            <a:avLst/>
          </a:prstGeom>
        </p:spPr>
      </p:pic>
      <p:sp>
        <p:nvSpPr>
          <p:cNvPr id="21" name="object 25">
            <a:extLst>
              <a:ext uri="{FF2B5EF4-FFF2-40B4-BE49-F238E27FC236}">
                <a16:creationId xmlns:a16="http://schemas.microsoft.com/office/drawing/2014/main" id="{74448D77-206E-AAE2-EA76-D871E315D0A9}"/>
              </a:ext>
            </a:extLst>
          </p:cNvPr>
          <p:cNvSpPr txBox="1"/>
          <p:nvPr/>
        </p:nvSpPr>
        <p:spPr>
          <a:xfrm>
            <a:off x="10496208" y="2624695"/>
            <a:ext cx="1065530" cy="353623"/>
          </a:xfrm>
          <a:prstGeom prst="rect">
            <a:avLst/>
          </a:prstGeom>
        </p:spPr>
        <p:txBody>
          <a:bodyPr vert="horz" wrap="square" lIns="0" tIns="12700" rIns="0" bIns="0" rtlCol="0">
            <a:spAutoFit/>
          </a:bodyPr>
          <a:lstStyle/>
          <a:p>
            <a:pPr marL="147955" marR="5080" lvl="0" indent="-13589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55" normalizeH="0" baseline="0" noProof="0" dirty="0">
                <a:ln>
                  <a:noFill/>
                </a:ln>
                <a:solidFill>
                  <a:srgbClr val="F9B233"/>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Digital</a:t>
            </a:r>
            <a:r>
              <a:rPr kumimoji="0" sz="1000" b="0" i="0" u="none" strike="noStrike" kern="0" cap="none" spc="-30" normalizeH="0" baseline="0" noProof="0" dirty="0">
                <a:ln>
                  <a:noFill/>
                </a:ln>
                <a:solidFill>
                  <a:srgbClr val="F9B233"/>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 </a:t>
            </a:r>
            <a:r>
              <a:rPr kumimoji="0" sz="1000" b="0" i="0" u="none" strike="noStrike" kern="0" cap="none" spc="-80" normalizeH="0" baseline="0" noProof="0" dirty="0">
                <a:ln>
                  <a:noFill/>
                </a:ln>
                <a:solidFill>
                  <a:srgbClr val="F9B233"/>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Forensics </a:t>
            </a:r>
            <a:r>
              <a:rPr kumimoji="0" sz="1000" b="0" i="0" u="none" strike="noStrike" kern="0" cap="none" spc="-10" normalizeH="0" baseline="0" noProof="0" dirty="0">
                <a:ln>
                  <a:noFill/>
                </a:ln>
                <a:solidFill>
                  <a:srgbClr val="F9B233"/>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Investigator</a:t>
            </a:r>
            <a:endParaRPr kumimoji="0" sz="1000" b="0" i="0" u="none" strike="noStrike" kern="0" cap="none" spc="0" normalizeH="0" baseline="0" noProof="0" dirty="0">
              <a:ln>
                <a:noFill/>
              </a:ln>
              <a:solidFill>
                <a:srgbClr val="F9B233"/>
              </a:solidFill>
              <a:effectLst/>
              <a:uLnTx/>
              <a:uFillTx/>
              <a:latin typeface="Arial Black"/>
              <a:ea typeface="+mn-ea"/>
              <a:cs typeface="Arial Black"/>
            </a:endParaRPr>
          </a:p>
        </p:txBody>
      </p:sp>
      <p:pic>
        <p:nvPicPr>
          <p:cNvPr id="22" name="object 20">
            <a:extLst>
              <a:ext uri="{FF2B5EF4-FFF2-40B4-BE49-F238E27FC236}">
                <a16:creationId xmlns:a16="http://schemas.microsoft.com/office/drawing/2014/main" id="{A774E8A6-F298-0606-E23D-B603EB5B79E7}"/>
              </a:ext>
            </a:extLst>
          </p:cNvPr>
          <p:cNvPicPr/>
          <p:nvPr/>
        </p:nvPicPr>
        <p:blipFill>
          <a:blip r:embed="rId11" cstate="print"/>
          <a:stretch>
            <a:fillRect/>
          </a:stretch>
        </p:blipFill>
        <p:spPr>
          <a:xfrm>
            <a:off x="9457840" y="4095619"/>
            <a:ext cx="539479" cy="478138"/>
          </a:xfrm>
          <a:prstGeom prst="rect">
            <a:avLst/>
          </a:prstGeom>
        </p:spPr>
      </p:pic>
      <p:sp>
        <p:nvSpPr>
          <p:cNvPr id="23" name="object 21">
            <a:extLst>
              <a:ext uri="{FF2B5EF4-FFF2-40B4-BE49-F238E27FC236}">
                <a16:creationId xmlns:a16="http://schemas.microsoft.com/office/drawing/2014/main" id="{488FC764-F893-859F-5FD3-10EA0E4BB3A1}"/>
              </a:ext>
            </a:extLst>
          </p:cNvPr>
          <p:cNvSpPr txBox="1"/>
          <p:nvPr/>
        </p:nvSpPr>
        <p:spPr>
          <a:xfrm>
            <a:off x="10578758" y="4157877"/>
            <a:ext cx="900430" cy="353623"/>
          </a:xfrm>
          <a:prstGeom prst="rect">
            <a:avLst/>
          </a:prstGeom>
        </p:spPr>
        <p:txBody>
          <a:bodyPr vert="horz" wrap="square" lIns="0" tIns="12700" rIns="0" bIns="0" rtlCol="0">
            <a:spAutoFit/>
          </a:bodyPr>
          <a:lstStyle/>
          <a:p>
            <a:pPr marL="93345" marR="5080" lvl="0" indent="-8128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95C11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Cybersecurity </a:t>
            </a:r>
            <a:r>
              <a:rPr kumimoji="0" sz="1000" b="0" i="0" u="none" strike="noStrike" kern="0" cap="none" spc="-10" normalizeH="0" baseline="0" noProof="0" dirty="0">
                <a:ln>
                  <a:noFill/>
                </a:ln>
                <a:solidFill>
                  <a:srgbClr val="95C11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Researcher</a:t>
            </a:r>
            <a:endParaRPr kumimoji="0" sz="1000" b="0" i="0" u="none" strike="noStrike" kern="0" cap="none" spc="0" normalizeH="0" baseline="0" noProof="0" dirty="0">
              <a:ln>
                <a:noFill/>
              </a:ln>
              <a:solidFill>
                <a:srgbClr val="95C11F"/>
              </a:solidFill>
              <a:effectLst/>
              <a:uLnTx/>
              <a:uFillTx/>
              <a:latin typeface="Arial Black"/>
              <a:ea typeface="+mn-ea"/>
              <a:cs typeface="Arial Black"/>
            </a:endParaRPr>
          </a:p>
        </p:txBody>
      </p:sp>
      <p:pic>
        <p:nvPicPr>
          <p:cNvPr id="24" name="object 12">
            <a:extLst>
              <a:ext uri="{FF2B5EF4-FFF2-40B4-BE49-F238E27FC236}">
                <a16:creationId xmlns:a16="http://schemas.microsoft.com/office/drawing/2014/main" id="{0A0C4FCA-CB3A-5F32-AE45-4C44495BE897}"/>
              </a:ext>
            </a:extLst>
          </p:cNvPr>
          <p:cNvPicPr/>
          <p:nvPr/>
        </p:nvPicPr>
        <p:blipFill>
          <a:blip r:embed="rId12" cstate="print"/>
          <a:stretch>
            <a:fillRect/>
          </a:stretch>
        </p:blipFill>
        <p:spPr>
          <a:xfrm>
            <a:off x="9397183" y="4947682"/>
            <a:ext cx="660792" cy="632734"/>
          </a:xfrm>
          <a:prstGeom prst="rect">
            <a:avLst/>
          </a:prstGeom>
        </p:spPr>
      </p:pic>
      <p:sp>
        <p:nvSpPr>
          <p:cNvPr id="25" name="object 13">
            <a:extLst>
              <a:ext uri="{FF2B5EF4-FFF2-40B4-BE49-F238E27FC236}">
                <a16:creationId xmlns:a16="http://schemas.microsoft.com/office/drawing/2014/main" id="{8C247BCC-C0E1-8DD8-4CEC-7B9FFAD86F49}"/>
              </a:ext>
            </a:extLst>
          </p:cNvPr>
          <p:cNvSpPr txBox="1"/>
          <p:nvPr/>
        </p:nvSpPr>
        <p:spPr>
          <a:xfrm>
            <a:off x="10578758" y="5087238"/>
            <a:ext cx="900430" cy="353623"/>
          </a:xfrm>
          <a:prstGeom prst="rect">
            <a:avLst/>
          </a:prstGeom>
        </p:spPr>
        <p:txBody>
          <a:bodyPr vert="horz" wrap="square" lIns="0" tIns="12700" rIns="0" bIns="0" rtlCol="0">
            <a:spAutoFit/>
          </a:bodyPr>
          <a:lstStyle/>
          <a:p>
            <a:pPr marL="157480" marR="5080" lvl="0" indent="-14478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95C11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Cybersecurity </a:t>
            </a:r>
            <a:r>
              <a:rPr kumimoji="0" sz="1000" b="0" i="0" u="none" strike="noStrike" kern="0" cap="none" spc="-10" normalizeH="0" baseline="0" noProof="0" dirty="0">
                <a:ln>
                  <a:noFill/>
                </a:ln>
                <a:solidFill>
                  <a:srgbClr val="95C11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Architect</a:t>
            </a:r>
            <a:endParaRPr kumimoji="0" sz="1000" b="0" i="0" u="none" strike="noStrike" kern="0" cap="none" spc="0" normalizeH="0" baseline="0" noProof="0" dirty="0">
              <a:ln>
                <a:noFill/>
              </a:ln>
              <a:solidFill>
                <a:srgbClr val="95C11F"/>
              </a:solidFill>
              <a:effectLst/>
              <a:uLnTx/>
              <a:uFillTx/>
              <a:latin typeface="Arial Black"/>
              <a:ea typeface="+mn-ea"/>
              <a:cs typeface="Arial Black"/>
            </a:endParaRPr>
          </a:p>
        </p:txBody>
      </p:sp>
      <p:sp>
        <p:nvSpPr>
          <p:cNvPr id="26" name="object 16">
            <a:extLst>
              <a:ext uri="{FF2B5EF4-FFF2-40B4-BE49-F238E27FC236}">
                <a16:creationId xmlns:a16="http://schemas.microsoft.com/office/drawing/2014/main" id="{0C708D30-4D69-5BBF-43D0-2745F9B43593}"/>
              </a:ext>
            </a:extLst>
          </p:cNvPr>
          <p:cNvSpPr txBox="1"/>
          <p:nvPr/>
        </p:nvSpPr>
        <p:spPr>
          <a:xfrm>
            <a:off x="10578758" y="5988746"/>
            <a:ext cx="900430" cy="353623"/>
          </a:xfrm>
          <a:prstGeom prst="rect">
            <a:avLst/>
          </a:prstGeom>
        </p:spPr>
        <p:txBody>
          <a:bodyPr vert="horz" wrap="square" lIns="0" tIns="12700" rIns="0" bIns="0" rtlCol="0">
            <a:spAutoFit/>
          </a:bodyPr>
          <a:lstStyle/>
          <a:p>
            <a:pPr marL="165100" marR="5080" lvl="0" indent="-15240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95C11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Cybersecurity </a:t>
            </a:r>
            <a:r>
              <a:rPr kumimoji="0" sz="1000" b="0" i="0" u="none" strike="noStrike" kern="0" cap="none" spc="-10" normalizeH="0" baseline="0" noProof="0" dirty="0">
                <a:ln>
                  <a:noFill/>
                </a:ln>
                <a:solidFill>
                  <a:srgbClr val="95C11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Educator</a:t>
            </a:r>
            <a:endParaRPr kumimoji="0" sz="1000" b="0" i="0" u="none" strike="noStrike" kern="0" cap="none" spc="0" normalizeH="0" baseline="0" noProof="0" dirty="0">
              <a:ln>
                <a:noFill/>
              </a:ln>
              <a:solidFill>
                <a:srgbClr val="95C11F"/>
              </a:solidFill>
              <a:effectLst/>
              <a:uLnTx/>
              <a:uFillTx/>
              <a:latin typeface="Arial Black"/>
              <a:ea typeface="+mn-ea"/>
              <a:cs typeface="Arial Black"/>
            </a:endParaRPr>
          </a:p>
        </p:txBody>
      </p:sp>
      <p:pic>
        <p:nvPicPr>
          <p:cNvPr id="27" name="object 17">
            <a:extLst>
              <a:ext uri="{FF2B5EF4-FFF2-40B4-BE49-F238E27FC236}">
                <a16:creationId xmlns:a16="http://schemas.microsoft.com/office/drawing/2014/main" id="{48FF5C2A-2ABF-EFF4-0015-A1B7D6A22D52}"/>
              </a:ext>
            </a:extLst>
          </p:cNvPr>
          <p:cNvPicPr/>
          <p:nvPr/>
        </p:nvPicPr>
        <p:blipFill>
          <a:blip r:embed="rId13" cstate="print"/>
          <a:stretch>
            <a:fillRect/>
          </a:stretch>
        </p:blipFill>
        <p:spPr>
          <a:xfrm>
            <a:off x="9448028" y="5965923"/>
            <a:ext cx="559102" cy="427300"/>
          </a:xfrm>
          <a:prstGeom prst="rect">
            <a:avLst/>
          </a:prstGeom>
        </p:spPr>
      </p:pic>
      <p:sp>
        <p:nvSpPr>
          <p:cNvPr id="28" name="TextBox 27">
            <a:extLst>
              <a:ext uri="{FF2B5EF4-FFF2-40B4-BE49-F238E27FC236}">
                <a16:creationId xmlns:a16="http://schemas.microsoft.com/office/drawing/2014/main" id="{F811126F-B541-904B-0AC1-E30ACA74785D}"/>
              </a:ext>
            </a:extLst>
          </p:cNvPr>
          <p:cNvSpPr txBox="1"/>
          <p:nvPr/>
        </p:nvSpPr>
        <p:spPr>
          <a:xfrm>
            <a:off x="3984541" y="371976"/>
            <a:ext cx="4373771" cy="6001643"/>
          </a:xfrm>
          <a:prstGeom prst="rect">
            <a:avLst/>
          </a:prstGeom>
          <a:noFill/>
        </p:spPr>
        <p:txBody>
          <a:bodyPr wrap="square">
            <a:spAutoFit/>
          </a:bodyPr>
          <a:lstStyle/>
          <a:p>
            <a:r>
              <a:rPr lang="fr-BE" sz="1600" dirty="0"/>
              <a:t>1. </a:t>
            </a:r>
            <a:r>
              <a:rPr lang="en-US" sz="1600" b="1" dirty="0"/>
              <a:t>Blue</a:t>
            </a:r>
            <a:r>
              <a:rPr lang="en-US" sz="1600" dirty="0"/>
              <a:t>: </a:t>
            </a:r>
            <a:r>
              <a:rPr lang="en-US" sz="1600" dirty="0">
                <a:solidFill>
                  <a:srgbClr val="0070C0"/>
                </a:solidFill>
              </a:rPr>
              <a:t>roles involving the management and implementation of security policies.</a:t>
            </a:r>
            <a:br>
              <a:rPr lang="fr-BE" sz="1600" dirty="0"/>
            </a:br>
            <a:r>
              <a:rPr lang="fr-BE" sz="1600" i="1" dirty="0">
                <a:solidFill>
                  <a:schemeClr val="bg1">
                    <a:lumMod val="65000"/>
                  </a:schemeClr>
                </a:solidFill>
              </a:rPr>
              <a:t>* Chief Information Security </a:t>
            </a:r>
            <a:r>
              <a:rPr lang="fr-BE" sz="1600" i="1" dirty="0" err="1">
                <a:solidFill>
                  <a:schemeClr val="bg1">
                    <a:lumMod val="65000"/>
                  </a:schemeClr>
                </a:solidFill>
              </a:rPr>
              <a:t>Officer</a:t>
            </a:r>
            <a:r>
              <a:rPr lang="fr-BE" sz="1600" i="1" dirty="0">
                <a:solidFill>
                  <a:schemeClr val="bg1">
                    <a:lumMod val="65000"/>
                  </a:schemeClr>
                </a:solidFill>
              </a:rPr>
              <a:t> (CISO) </a:t>
            </a:r>
            <a:br>
              <a:rPr lang="fr-BE" sz="1600" i="1" dirty="0">
                <a:solidFill>
                  <a:schemeClr val="bg1">
                    <a:lumMod val="65000"/>
                  </a:schemeClr>
                </a:solidFill>
              </a:rPr>
            </a:br>
            <a:r>
              <a:rPr lang="fr-BE" sz="1600" i="1" dirty="0">
                <a:solidFill>
                  <a:schemeClr val="bg1">
                    <a:lumMod val="65000"/>
                  </a:schemeClr>
                </a:solidFill>
              </a:rPr>
              <a:t>* Cyber Legal, Policy &amp; Compliance </a:t>
            </a:r>
            <a:r>
              <a:rPr lang="fr-BE" sz="1600" i="1" dirty="0" err="1">
                <a:solidFill>
                  <a:schemeClr val="bg1">
                    <a:lumMod val="65000"/>
                  </a:schemeClr>
                </a:solidFill>
              </a:rPr>
              <a:t>Officer</a:t>
            </a:r>
            <a:r>
              <a:rPr lang="fr-BE" sz="1600" i="1" dirty="0">
                <a:solidFill>
                  <a:schemeClr val="bg1">
                    <a:lumMod val="65000"/>
                  </a:schemeClr>
                </a:solidFill>
              </a:rPr>
              <a:t> </a:t>
            </a:r>
            <a:br>
              <a:rPr lang="fr-BE" sz="1600" i="1" dirty="0">
                <a:solidFill>
                  <a:schemeClr val="bg1">
                    <a:lumMod val="65000"/>
                  </a:schemeClr>
                </a:solidFill>
              </a:rPr>
            </a:br>
            <a:r>
              <a:rPr lang="fr-BE" sz="1600" i="1" dirty="0">
                <a:solidFill>
                  <a:schemeClr val="bg1">
                    <a:lumMod val="65000"/>
                  </a:schemeClr>
                </a:solidFill>
              </a:rPr>
              <a:t>* </a:t>
            </a:r>
            <a:r>
              <a:rPr lang="fr-BE" sz="1600" i="1" dirty="0" err="1">
                <a:solidFill>
                  <a:schemeClr val="bg1">
                    <a:lumMod val="65000"/>
                  </a:schemeClr>
                </a:solidFill>
              </a:rPr>
              <a:t>Cybersecurity</a:t>
            </a:r>
            <a:r>
              <a:rPr lang="fr-BE" sz="1600" i="1" dirty="0">
                <a:solidFill>
                  <a:schemeClr val="bg1">
                    <a:lumMod val="65000"/>
                  </a:schemeClr>
                </a:solidFill>
              </a:rPr>
              <a:t> </a:t>
            </a:r>
            <a:r>
              <a:rPr lang="fr-BE" sz="1600" i="1" dirty="0" err="1">
                <a:solidFill>
                  <a:schemeClr val="bg1">
                    <a:lumMod val="65000"/>
                  </a:schemeClr>
                </a:solidFill>
              </a:rPr>
              <a:t>Implementer</a:t>
            </a:r>
            <a:endParaRPr lang="fr-BE" sz="1600" i="1" dirty="0">
              <a:solidFill>
                <a:schemeClr val="bg1">
                  <a:lumMod val="65000"/>
                </a:schemeClr>
              </a:solidFill>
            </a:endParaRPr>
          </a:p>
          <a:p>
            <a:endParaRPr lang="fr-BE" sz="1600" dirty="0"/>
          </a:p>
          <a:p>
            <a:r>
              <a:rPr lang="en-US" sz="1600" dirty="0"/>
              <a:t>2. </a:t>
            </a:r>
            <a:r>
              <a:rPr lang="en-US" sz="1600" b="1" dirty="0"/>
              <a:t>Red</a:t>
            </a:r>
            <a:r>
              <a:rPr lang="en-US" sz="1600" dirty="0"/>
              <a:t>: </a:t>
            </a:r>
            <a:r>
              <a:rPr lang="en-US" sz="1600" dirty="0">
                <a:solidFill>
                  <a:srgbClr val="FF0000"/>
                </a:solidFill>
              </a:rPr>
              <a:t>roles requiring rapid intervention and incident management.</a:t>
            </a:r>
            <a:br>
              <a:rPr lang="fr-BE" sz="1600" dirty="0"/>
            </a:br>
            <a:r>
              <a:rPr lang="fr-BE" sz="1600" i="1" dirty="0">
                <a:solidFill>
                  <a:schemeClr val="bg1">
                    <a:lumMod val="65000"/>
                  </a:schemeClr>
                </a:solidFill>
              </a:rPr>
              <a:t>* Cyber Incident </a:t>
            </a:r>
            <a:r>
              <a:rPr lang="fr-BE" sz="1600" i="1" dirty="0" err="1">
                <a:solidFill>
                  <a:schemeClr val="bg1">
                    <a:lumMod val="65000"/>
                  </a:schemeClr>
                </a:solidFill>
              </a:rPr>
              <a:t>Responder</a:t>
            </a:r>
            <a:r>
              <a:rPr lang="fr-BE" sz="1600" i="1" dirty="0">
                <a:solidFill>
                  <a:schemeClr val="bg1">
                    <a:lumMod val="65000"/>
                  </a:schemeClr>
                </a:solidFill>
              </a:rPr>
              <a:t>  </a:t>
            </a:r>
            <a:br>
              <a:rPr lang="fr-BE" sz="1600" i="1" dirty="0">
                <a:solidFill>
                  <a:schemeClr val="bg1">
                    <a:lumMod val="65000"/>
                  </a:schemeClr>
                </a:solidFill>
              </a:rPr>
            </a:br>
            <a:r>
              <a:rPr lang="fr-BE" sz="1600" i="1" dirty="0">
                <a:solidFill>
                  <a:schemeClr val="bg1">
                    <a:lumMod val="65000"/>
                  </a:schemeClr>
                </a:solidFill>
              </a:rPr>
              <a:t>* </a:t>
            </a:r>
            <a:r>
              <a:rPr lang="fr-BE" sz="1600" i="1" dirty="0" err="1">
                <a:solidFill>
                  <a:schemeClr val="bg1">
                    <a:lumMod val="65000"/>
                  </a:schemeClr>
                </a:solidFill>
              </a:rPr>
              <a:t>Cybersecurity</a:t>
            </a:r>
            <a:r>
              <a:rPr lang="fr-BE" sz="1600" i="1" dirty="0">
                <a:solidFill>
                  <a:schemeClr val="bg1">
                    <a:lumMod val="65000"/>
                  </a:schemeClr>
                </a:solidFill>
              </a:rPr>
              <a:t> Risk Manager </a:t>
            </a:r>
            <a:br>
              <a:rPr lang="fr-BE" sz="1600" i="1" dirty="0">
                <a:solidFill>
                  <a:schemeClr val="bg1">
                    <a:lumMod val="65000"/>
                  </a:schemeClr>
                </a:solidFill>
              </a:rPr>
            </a:br>
            <a:r>
              <a:rPr lang="fr-BE" sz="1600" i="1" dirty="0">
                <a:solidFill>
                  <a:schemeClr val="bg1">
                    <a:lumMod val="65000"/>
                  </a:schemeClr>
                </a:solidFill>
              </a:rPr>
              <a:t>* </a:t>
            </a:r>
            <a:r>
              <a:rPr lang="fr-BE" sz="1600" i="1" dirty="0" err="1">
                <a:solidFill>
                  <a:schemeClr val="bg1">
                    <a:lumMod val="65000"/>
                  </a:schemeClr>
                </a:solidFill>
              </a:rPr>
              <a:t>Penetration</a:t>
            </a:r>
            <a:r>
              <a:rPr lang="fr-BE" sz="1600" i="1" dirty="0">
                <a:solidFill>
                  <a:schemeClr val="bg1">
                    <a:lumMod val="65000"/>
                  </a:schemeClr>
                </a:solidFill>
              </a:rPr>
              <a:t> Tester</a:t>
            </a:r>
          </a:p>
          <a:p>
            <a:endParaRPr lang="fr-BE" sz="1600" dirty="0"/>
          </a:p>
          <a:p>
            <a:r>
              <a:rPr lang="en-US" sz="1600" dirty="0"/>
              <a:t>3. </a:t>
            </a:r>
            <a:r>
              <a:rPr lang="en-US" sz="1600" b="1" dirty="0"/>
              <a:t>Yellow</a:t>
            </a:r>
            <a:r>
              <a:rPr lang="en-US" sz="1600" dirty="0"/>
              <a:t>: </a:t>
            </a:r>
            <a:r>
              <a:rPr lang="en-US" sz="1600" dirty="0">
                <a:solidFill>
                  <a:srgbClr val="FFC000"/>
                </a:solidFill>
              </a:rPr>
              <a:t>analytical and research roles, often involved in threat assessment and auditing.</a:t>
            </a:r>
            <a:br>
              <a:rPr lang="fr-BE" sz="1600" b="1" dirty="0">
                <a:solidFill>
                  <a:srgbClr val="FFC000"/>
                </a:solidFill>
              </a:rPr>
            </a:br>
            <a:r>
              <a:rPr lang="fr-BE" sz="1600" i="1" dirty="0">
                <a:solidFill>
                  <a:schemeClr val="bg1">
                    <a:lumMod val="65000"/>
                  </a:schemeClr>
                </a:solidFill>
              </a:rPr>
              <a:t>* Cyber </a:t>
            </a:r>
            <a:r>
              <a:rPr lang="fr-BE" sz="1600" i="1" dirty="0" err="1">
                <a:solidFill>
                  <a:schemeClr val="bg1">
                    <a:lumMod val="65000"/>
                  </a:schemeClr>
                </a:solidFill>
              </a:rPr>
              <a:t>Threat</a:t>
            </a:r>
            <a:r>
              <a:rPr lang="fr-BE" sz="1600" i="1" dirty="0">
                <a:solidFill>
                  <a:schemeClr val="bg1">
                    <a:lumMod val="65000"/>
                  </a:schemeClr>
                </a:solidFill>
              </a:rPr>
              <a:t> Intelligence </a:t>
            </a:r>
            <a:r>
              <a:rPr lang="fr-BE" sz="1600" i="1" dirty="0" err="1">
                <a:solidFill>
                  <a:schemeClr val="bg1">
                    <a:lumMod val="65000"/>
                  </a:schemeClr>
                </a:solidFill>
              </a:rPr>
              <a:t>Specialist</a:t>
            </a:r>
            <a:r>
              <a:rPr lang="fr-BE" sz="1600" i="1" dirty="0">
                <a:solidFill>
                  <a:schemeClr val="bg1">
                    <a:lumMod val="65000"/>
                  </a:schemeClr>
                </a:solidFill>
              </a:rPr>
              <a:t> </a:t>
            </a:r>
            <a:br>
              <a:rPr lang="fr-BE" sz="1600" i="1" dirty="0">
                <a:solidFill>
                  <a:schemeClr val="bg1">
                    <a:lumMod val="65000"/>
                  </a:schemeClr>
                </a:solidFill>
              </a:rPr>
            </a:br>
            <a:r>
              <a:rPr lang="fr-BE" sz="1600" i="1" dirty="0">
                <a:solidFill>
                  <a:schemeClr val="bg1">
                    <a:lumMod val="65000"/>
                  </a:schemeClr>
                </a:solidFill>
              </a:rPr>
              <a:t>* </a:t>
            </a:r>
            <a:r>
              <a:rPr lang="fr-BE" sz="1600" i="1" dirty="0" err="1">
                <a:solidFill>
                  <a:schemeClr val="bg1">
                    <a:lumMod val="65000"/>
                  </a:schemeClr>
                </a:solidFill>
              </a:rPr>
              <a:t>Cybersecurity</a:t>
            </a:r>
            <a:r>
              <a:rPr lang="fr-BE" sz="1600" i="1" dirty="0">
                <a:solidFill>
                  <a:schemeClr val="bg1">
                    <a:lumMod val="65000"/>
                  </a:schemeClr>
                </a:solidFill>
              </a:rPr>
              <a:t> Auditor  </a:t>
            </a:r>
            <a:br>
              <a:rPr lang="fr-BE" sz="1600" i="1" dirty="0">
                <a:solidFill>
                  <a:schemeClr val="bg1">
                    <a:lumMod val="65000"/>
                  </a:schemeClr>
                </a:solidFill>
              </a:rPr>
            </a:br>
            <a:r>
              <a:rPr lang="fr-BE" sz="1600" i="1" dirty="0">
                <a:solidFill>
                  <a:schemeClr val="bg1">
                    <a:lumMod val="65000"/>
                  </a:schemeClr>
                </a:solidFill>
              </a:rPr>
              <a:t>* Digital </a:t>
            </a:r>
            <a:r>
              <a:rPr lang="fr-BE" sz="1600" i="1" dirty="0" err="1">
                <a:solidFill>
                  <a:schemeClr val="bg1">
                    <a:lumMod val="65000"/>
                  </a:schemeClr>
                </a:solidFill>
              </a:rPr>
              <a:t>Forensics</a:t>
            </a:r>
            <a:r>
              <a:rPr lang="fr-BE" sz="1600" i="1" dirty="0">
                <a:solidFill>
                  <a:schemeClr val="bg1">
                    <a:lumMod val="65000"/>
                  </a:schemeClr>
                </a:solidFill>
              </a:rPr>
              <a:t> </a:t>
            </a:r>
            <a:r>
              <a:rPr lang="fr-BE" sz="1600" i="1" dirty="0" err="1">
                <a:solidFill>
                  <a:schemeClr val="bg1">
                    <a:lumMod val="65000"/>
                  </a:schemeClr>
                </a:solidFill>
              </a:rPr>
              <a:t>Investigator</a:t>
            </a:r>
            <a:endParaRPr lang="fr-BE" sz="1600" i="1" dirty="0">
              <a:solidFill>
                <a:schemeClr val="bg1">
                  <a:lumMod val="65000"/>
                </a:schemeClr>
              </a:solidFill>
            </a:endParaRPr>
          </a:p>
          <a:p>
            <a:endParaRPr lang="fr-BE" sz="1600" dirty="0"/>
          </a:p>
          <a:p>
            <a:r>
              <a:rPr lang="en-US" sz="1600" dirty="0"/>
              <a:t>4. </a:t>
            </a:r>
            <a:r>
              <a:rPr lang="en-US" sz="1600" b="1" dirty="0"/>
              <a:t>Green</a:t>
            </a:r>
            <a:r>
              <a:rPr lang="en-US" sz="1600" dirty="0"/>
              <a:t>: </a:t>
            </a:r>
            <a:r>
              <a:rPr lang="en-US" sz="1600" dirty="0">
                <a:solidFill>
                  <a:srgbClr val="92D050"/>
                </a:solidFill>
              </a:rPr>
              <a:t>roles in cybersecurity design, architecture, and education.</a:t>
            </a:r>
          </a:p>
          <a:p>
            <a:br>
              <a:rPr lang="fr-BE" sz="1600" dirty="0"/>
            </a:br>
            <a:r>
              <a:rPr lang="fr-BE" sz="1600" i="1" dirty="0">
                <a:solidFill>
                  <a:schemeClr val="bg1">
                    <a:lumMod val="65000"/>
                  </a:schemeClr>
                </a:solidFill>
              </a:rPr>
              <a:t>* </a:t>
            </a:r>
            <a:r>
              <a:rPr lang="fr-BE" sz="1600" i="1" dirty="0" err="1">
                <a:solidFill>
                  <a:schemeClr val="bg1">
                    <a:lumMod val="65000"/>
                  </a:schemeClr>
                </a:solidFill>
              </a:rPr>
              <a:t>Cybersecurity</a:t>
            </a:r>
            <a:r>
              <a:rPr lang="fr-BE" sz="1600" i="1" dirty="0">
                <a:solidFill>
                  <a:schemeClr val="bg1">
                    <a:lumMod val="65000"/>
                  </a:schemeClr>
                </a:solidFill>
              </a:rPr>
              <a:t> Architect  </a:t>
            </a:r>
            <a:br>
              <a:rPr lang="fr-BE" sz="1600" i="1" dirty="0">
                <a:solidFill>
                  <a:schemeClr val="bg1">
                    <a:lumMod val="65000"/>
                  </a:schemeClr>
                </a:solidFill>
              </a:rPr>
            </a:br>
            <a:r>
              <a:rPr lang="fr-BE" sz="1600" i="1" dirty="0">
                <a:solidFill>
                  <a:schemeClr val="bg1">
                    <a:lumMod val="65000"/>
                  </a:schemeClr>
                </a:solidFill>
              </a:rPr>
              <a:t>* </a:t>
            </a:r>
            <a:r>
              <a:rPr lang="fr-BE" sz="1600" i="1" dirty="0" err="1">
                <a:solidFill>
                  <a:schemeClr val="bg1">
                    <a:lumMod val="65000"/>
                  </a:schemeClr>
                </a:solidFill>
              </a:rPr>
              <a:t>Cybersecurity</a:t>
            </a:r>
            <a:r>
              <a:rPr lang="fr-BE" sz="1600" i="1" dirty="0">
                <a:solidFill>
                  <a:schemeClr val="bg1">
                    <a:lumMod val="65000"/>
                  </a:schemeClr>
                </a:solidFill>
              </a:rPr>
              <a:t> </a:t>
            </a:r>
            <a:r>
              <a:rPr lang="fr-BE" sz="1600" i="1" dirty="0" err="1">
                <a:solidFill>
                  <a:schemeClr val="bg1">
                    <a:lumMod val="65000"/>
                  </a:schemeClr>
                </a:solidFill>
              </a:rPr>
              <a:t>Educator</a:t>
            </a:r>
            <a:r>
              <a:rPr lang="fr-BE" sz="1600" i="1" dirty="0">
                <a:solidFill>
                  <a:schemeClr val="bg1">
                    <a:lumMod val="65000"/>
                  </a:schemeClr>
                </a:solidFill>
              </a:rPr>
              <a:t>  </a:t>
            </a:r>
            <a:br>
              <a:rPr lang="fr-BE" sz="1600" i="1" dirty="0">
                <a:solidFill>
                  <a:schemeClr val="bg1">
                    <a:lumMod val="65000"/>
                  </a:schemeClr>
                </a:solidFill>
              </a:rPr>
            </a:br>
            <a:r>
              <a:rPr lang="fr-BE" sz="1600" i="1" dirty="0">
                <a:solidFill>
                  <a:schemeClr val="bg1">
                    <a:lumMod val="65000"/>
                  </a:schemeClr>
                </a:solidFill>
              </a:rPr>
              <a:t>* </a:t>
            </a:r>
            <a:r>
              <a:rPr lang="fr-BE" sz="1600" i="1" dirty="0" err="1">
                <a:solidFill>
                  <a:schemeClr val="bg1">
                    <a:lumMod val="65000"/>
                  </a:schemeClr>
                </a:solidFill>
              </a:rPr>
              <a:t>Cybersecurity</a:t>
            </a:r>
            <a:r>
              <a:rPr lang="fr-BE" sz="1600" i="1" dirty="0">
                <a:solidFill>
                  <a:schemeClr val="bg1">
                    <a:lumMod val="65000"/>
                  </a:schemeClr>
                </a:solidFill>
              </a:rPr>
              <a:t> </a:t>
            </a:r>
            <a:r>
              <a:rPr lang="fr-BE" sz="1600" i="1" dirty="0" err="1">
                <a:solidFill>
                  <a:schemeClr val="bg1">
                    <a:lumMod val="65000"/>
                  </a:schemeClr>
                </a:solidFill>
              </a:rPr>
              <a:t>Researcher</a:t>
            </a:r>
            <a:endParaRPr lang="fr-BE" sz="1600" i="1" dirty="0">
              <a:solidFill>
                <a:schemeClr val="bg1">
                  <a:lumMod val="65000"/>
                </a:schemeClr>
              </a:solidFill>
            </a:endParaRPr>
          </a:p>
        </p:txBody>
      </p:sp>
    </p:spTree>
    <p:extLst>
      <p:ext uri="{BB962C8B-B14F-4D97-AF65-F5344CB8AC3E}">
        <p14:creationId xmlns:p14="http://schemas.microsoft.com/office/powerpoint/2010/main" val="4283242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71544-3578-3A63-F917-C5762079DA0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57186D2-A580-F201-BE98-0D0751E5BD50}"/>
              </a:ext>
            </a:extLst>
          </p:cNvPr>
          <p:cNvPicPr>
            <a:picLocks noChangeAspect="1"/>
          </p:cNvPicPr>
          <p:nvPr/>
        </p:nvPicPr>
        <p:blipFill>
          <a:blip r:embed="rId3"/>
          <a:stretch>
            <a:fillRect/>
          </a:stretch>
        </p:blipFill>
        <p:spPr>
          <a:xfrm>
            <a:off x="84380" y="0"/>
            <a:ext cx="5853793" cy="6858000"/>
          </a:xfrm>
          <a:prstGeom prst="rect">
            <a:avLst/>
          </a:prstGeom>
        </p:spPr>
      </p:pic>
      <p:pic>
        <p:nvPicPr>
          <p:cNvPr id="7" name="Picture 6">
            <a:extLst>
              <a:ext uri="{FF2B5EF4-FFF2-40B4-BE49-F238E27FC236}">
                <a16:creationId xmlns:a16="http://schemas.microsoft.com/office/drawing/2014/main" id="{114CC75D-7847-450F-7055-71903F3B8839}"/>
              </a:ext>
            </a:extLst>
          </p:cNvPr>
          <p:cNvPicPr>
            <a:picLocks noChangeAspect="1"/>
          </p:cNvPicPr>
          <p:nvPr/>
        </p:nvPicPr>
        <p:blipFill>
          <a:blip r:embed="rId4"/>
          <a:stretch>
            <a:fillRect/>
          </a:stretch>
        </p:blipFill>
        <p:spPr>
          <a:xfrm rot="16200000">
            <a:off x="5695612" y="867187"/>
            <a:ext cx="6858000" cy="5123627"/>
          </a:xfrm>
          <a:prstGeom prst="rect">
            <a:avLst/>
          </a:prstGeom>
        </p:spPr>
      </p:pic>
    </p:spTree>
    <p:extLst>
      <p:ext uri="{BB962C8B-B14F-4D97-AF65-F5344CB8AC3E}">
        <p14:creationId xmlns:p14="http://schemas.microsoft.com/office/powerpoint/2010/main" val="3213234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0205D939-00C4-4F2E-9797-3170DD040D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E4E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8EE4E44-1403-472B-8C01-D354CB8F5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6866" y="480060"/>
            <a:ext cx="5458122"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0C71D9E5-4F98-BFDC-3879-89B686421D2F}"/>
              </a:ext>
            </a:extLst>
          </p:cNvPr>
          <p:cNvPicPr>
            <a:picLocks noChangeAspect="1"/>
          </p:cNvPicPr>
          <p:nvPr/>
        </p:nvPicPr>
        <p:blipFill>
          <a:blip r:embed="rId2"/>
          <a:srcRect l="3741" r="4176" b="-4"/>
          <a:stretch>
            <a:fillRect/>
          </a:stretch>
        </p:blipFill>
        <p:spPr>
          <a:xfrm>
            <a:off x="6421035" y="643467"/>
            <a:ext cx="5129784" cy="5571066"/>
          </a:xfrm>
          <a:prstGeom prst="rect">
            <a:avLst/>
          </a:prstGeom>
        </p:spPr>
      </p:pic>
      <p:sp>
        <p:nvSpPr>
          <p:cNvPr id="33" name="Rectangle 32">
            <a:extLst>
              <a:ext uri="{FF2B5EF4-FFF2-40B4-BE49-F238E27FC236}">
                <a16:creationId xmlns:a16="http://schemas.microsoft.com/office/drawing/2014/main" id="{583CCE40-4C5F-42D3-86D9-7892AD1E98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5458121"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4933F36-D326-B0F2-9B48-2203FB1AE3EF}"/>
              </a:ext>
            </a:extLst>
          </p:cNvPr>
          <p:cNvPicPr>
            <a:picLocks noChangeAspect="1"/>
          </p:cNvPicPr>
          <p:nvPr/>
        </p:nvPicPr>
        <p:blipFill>
          <a:blip r:embed="rId3"/>
          <a:srcRect t="23435" r="2" b="2"/>
          <a:stretch>
            <a:fillRect/>
          </a:stretch>
        </p:blipFill>
        <p:spPr>
          <a:xfrm>
            <a:off x="641180" y="643467"/>
            <a:ext cx="5129784" cy="5571066"/>
          </a:xfrm>
          <a:prstGeom prst="rect">
            <a:avLst/>
          </a:prstGeom>
        </p:spPr>
      </p:pic>
      <p:sp>
        <p:nvSpPr>
          <p:cNvPr id="5" name="TextBox 4">
            <a:extLst>
              <a:ext uri="{FF2B5EF4-FFF2-40B4-BE49-F238E27FC236}">
                <a16:creationId xmlns:a16="http://schemas.microsoft.com/office/drawing/2014/main" id="{0AD0B5A1-01CA-0400-E577-8DFFA644915D}"/>
              </a:ext>
            </a:extLst>
          </p:cNvPr>
          <p:cNvSpPr txBox="1"/>
          <p:nvPr/>
        </p:nvSpPr>
        <p:spPr>
          <a:xfrm>
            <a:off x="6256866" y="5908953"/>
            <a:ext cx="5458121" cy="468987"/>
          </a:xfrm>
          <a:prstGeom prst="rect">
            <a:avLst/>
          </a:prstGeom>
        </p:spPr>
        <p:txBody>
          <a:bodyPr vert="horz" lIns="91440" tIns="45720" rIns="91440" bIns="45720" rtlCol="0" anchor="t">
            <a:normAutofit/>
          </a:bodyPr>
          <a:lstStyle/>
          <a:p>
            <a:pPr indent="-228600" algn="ctr">
              <a:lnSpc>
                <a:spcPct val="90000"/>
              </a:lnSpc>
              <a:spcAft>
                <a:spcPts val="600"/>
              </a:spcAft>
              <a:buFont typeface="Arial" panose="020B0604020202020204" pitchFamily="34" charset="0"/>
              <a:buChar char="•"/>
            </a:pPr>
            <a:r>
              <a:rPr lang="en-US" sz="1200" dirty="0">
                <a:solidFill>
                  <a:srgbClr val="FFFFFF"/>
                </a:solidFill>
                <a:hlinkClick r:id="rId4"/>
              </a:rPr>
              <a:t>https://www.enisa.europa.eu/sites/default/files/2025-06/Mapping%20NIS%202%20obligations%20with%20ECSF%20role%20profiles.pdf</a:t>
            </a:r>
            <a:r>
              <a:rPr lang="en-US" sz="1200" dirty="0">
                <a:solidFill>
                  <a:srgbClr val="FFFFFF"/>
                </a:solidFill>
              </a:rPr>
              <a:t> </a:t>
            </a:r>
          </a:p>
        </p:txBody>
      </p:sp>
      <p:pic>
        <p:nvPicPr>
          <p:cNvPr id="10" name="Picture 9">
            <a:extLst>
              <a:ext uri="{FF2B5EF4-FFF2-40B4-BE49-F238E27FC236}">
                <a16:creationId xmlns:a16="http://schemas.microsoft.com/office/drawing/2014/main" id="{2E3627C8-4C28-FE5D-EEBC-86BEC78036B4}"/>
              </a:ext>
            </a:extLst>
          </p:cNvPr>
          <p:cNvPicPr>
            <a:picLocks noChangeAspect="1"/>
          </p:cNvPicPr>
          <p:nvPr/>
        </p:nvPicPr>
        <p:blipFill>
          <a:blip r:embed="rId5"/>
          <a:stretch>
            <a:fillRect/>
          </a:stretch>
        </p:blipFill>
        <p:spPr>
          <a:xfrm>
            <a:off x="-1381181" y="6003012"/>
            <a:ext cx="904169" cy="838200"/>
          </a:xfrm>
          <a:prstGeom prst="rect">
            <a:avLst/>
          </a:prstGeom>
        </p:spPr>
      </p:pic>
    </p:spTree>
    <p:extLst>
      <p:ext uri="{BB962C8B-B14F-4D97-AF65-F5344CB8AC3E}">
        <p14:creationId xmlns:p14="http://schemas.microsoft.com/office/powerpoint/2010/main" val="2553237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205D939-00C4-4F2E-9797-3170DD040D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E4E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8EE4E44-1403-472B-8C01-D354CB8F5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6866" y="480060"/>
            <a:ext cx="5458122"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181DEF7C-32E8-BBCB-C540-A6D696DC5A32}"/>
              </a:ext>
            </a:extLst>
          </p:cNvPr>
          <p:cNvPicPr>
            <a:picLocks noChangeAspect="1"/>
          </p:cNvPicPr>
          <p:nvPr/>
        </p:nvPicPr>
        <p:blipFill>
          <a:blip r:embed="rId2"/>
          <a:srcRect l="6061" r="1862" b="2"/>
          <a:stretch>
            <a:fillRect/>
          </a:stretch>
        </p:blipFill>
        <p:spPr>
          <a:xfrm>
            <a:off x="6421035" y="643467"/>
            <a:ext cx="5129784" cy="5571066"/>
          </a:xfrm>
          <a:prstGeom prst="rect">
            <a:avLst/>
          </a:prstGeom>
        </p:spPr>
      </p:pic>
      <p:sp>
        <p:nvSpPr>
          <p:cNvPr id="20" name="Rectangle 19">
            <a:extLst>
              <a:ext uri="{FF2B5EF4-FFF2-40B4-BE49-F238E27FC236}">
                <a16:creationId xmlns:a16="http://schemas.microsoft.com/office/drawing/2014/main" id="{583CCE40-4C5F-42D3-86D9-7892AD1E98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5458121"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F193A87B-E8F9-387B-8D2F-612BF341370C}"/>
              </a:ext>
            </a:extLst>
          </p:cNvPr>
          <p:cNvPicPr>
            <a:picLocks noChangeAspect="1"/>
          </p:cNvPicPr>
          <p:nvPr/>
        </p:nvPicPr>
        <p:blipFill>
          <a:blip r:embed="rId3"/>
          <a:srcRect t="18058" r="-2" b="5104"/>
          <a:stretch>
            <a:fillRect/>
          </a:stretch>
        </p:blipFill>
        <p:spPr>
          <a:xfrm>
            <a:off x="641180" y="643467"/>
            <a:ext cx="5129784" cy="5571066"/>
          </a:xfrm>
          <a:prstGeom prst="rect">
            <a:avLst/>
          </a:prstGeom>
        </p:spPr>
      </p:pic>
      <p:sp>
        <p:nvSpPr>
          <p:cNvPr id="7" name="TextBox 6">
            <a:extLst>
              <a:ext uri="{FF2B5EF4-FFF2-40B4-BE49-F238E27FC236}">
                <a16:creationId xmlns:a16="http://schemas.microsoft.com/office/drawing/2014/main" id="{DF6B06FE-A7ED-E759-1F3A-6694E5BBCD10}"/>
              </a:ext>
            </a:extLst>
          </p:cNvPr>
          <p:cNvSpPr txBox="1"/>
          <p:nvPr/>
        </p:nvSpPr>
        <p:spPr>
          <a:xfrm>
            <a:off x="6642777" y="5887372"/>
            <a:ext cx="4686300" cy="723275"/>
          </a:xfrm>
          <a:prstGeom prst="rect">
            <a:avLst/>
          </a:prstGeom>
          <a:noFill/>
        </p:spPr>
        <p:txBody>
          <a:bodyPr wrap="square">
            <a:spAutoFit/>
          </a:bodyPr>
          <a:lstStyle/>
          <a:p>
            <a:pPr>
              <a:spcAft>
                <a:spcPts val="600"/>
              </a:spcAft>
            </a:pPr>
            <a:r>
              <a:rPr lang="fr-BE" sz="1200" dirty="0">
                <a:hlinkClick r:id="rId4"/>
              </a:rPr>
              <a:t>https://www.enisa.europa.eu/sites/default/files/publications/European%20Cybersecurity%20Skills%20Framework%20Role%20Profiles.pdf</a:t>
            </a:r>
            <a:endParaRPr lang="fr-BE" sz="1200" dirty="0"/>
          </a:p>
          <a:p>
            <a:pPr>
              <a:spcAft>
                <a:spcPts val="600"/>
              </a:spcAft>
            </a:pPr>
            <a:endParaRPr lang="fr-BE" sz="1200" dirty="0"/>
          </a:p>
        </p:txBody>
      </p:sp>
    </p:spTree>
    <p:extLst>
      <p:ext uri="{BB962C8B-B14F-4D97-AF65-F5344CB8AC3E}">
        <p14:creationId xmlns:p14="http://schemas.microsoft.com/office/powerpoint/2010/main" val="1174626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8F721-AEEB-7076-4A52-06EF8529F2C9}"/>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E2B6A15D-0DD1-810E-C677-9FC41B10CDDD}"/>
              </a:ext>
            </a:extLst>
          </p:cNvPr>
          <p:cNvGrpSpPr/>
          <p:nvPr/>
        </p:nvGrpSpPr>
        <p:grpSpPr>
          <a:xfrm>
            <a:off x="2752853" y="2521465"/>
            <a:ext cx="1929442" cy="1988188"/>
            <a:chOff x="6004434" y="4231109"/>
            <a:chExt cx="2218287" cy="2213811"/>
          </a:xfrm>
          <a:solidFill>
            <a:schemeClr val="bg1">
              <a:lumMod val="50000"/>
            </a:schemeClr>
          </a:solidFill>
        </p:grpSpPr>
        <p:sp>
          <p:nvSpPr>
            <p:cNvPr id="7" name="Oval 6">
              <a:extLst>
                <a:ext uri="{FF2B5EF4-FFF2-40B4-BE49-F238E27FC236}">
                  <a16:creationId xmlns:a16="http://schemas.microsoft.com/office/drawing/2014/main" id="{1F630ACF-BC38-A39B-220F-16225F8CAECD}"/>
                </a:ext>
              </a:extLst>
            </p:cNvPr>
            <p:cNvSpPr/>
            <p:nvPr/>
          </p:nvSpPr>
          <p:spPr>
            <a:xfrm>
              <a:off x="6004434" y="4231109"/>
              <a:ext cx="2218287" cy="2213811"/>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a:p>
          </p:txBody>
        </p:sp>
        <p:pic>
          <p:nvPicPr>
            <p:cNvPr id="9" name="Picture 8">
              <a:extLst>
                <a:ext uri="{FF2B5EF4-FFF2-40B4-BE49-F238E27FC236}">
                  <a16:creationId xmlns:a16="http://schemas.microsoft.com/office/drawing/2014/main" id="{E36B3CD6-11BE-A569-6E46-111A3A7BA952}"/>
                </a:ext>
              </a:extLst>
            </p:cNvPr>
            <p:cNvPicPr>
              <a:picLocks noChangeAspect="1"/>
            </p:cNvPicPr>
            <p:nvPr/>
          </p:nvPicPr>
          <p:blipFill>
            <a:blip r:embed="rId3"/>
            <a:stretch>
              <a:fillRect/>
            </a:stretch>
          </p:blipFill>
          <p:spPr>
            <a:xfrm>
              <a:off x="6036183" y="4414337"/>
              <a:ext cx="2106663" cy="1440191"/>
            </a:xfrm>
            <a:prstGeom prst="rect">
              <a:avLst/>
            </a:prstGeom>
            <a:grpFill/>
          </p:spPr>
        </p:pic>
      </p:grpSp>
      <p:sp>
        <p:nvSpPr>
          <p:cNvPr id="14" name="object 4">
            <a:extLst>
              <a:ext uri="{FF2B5EF4-FFF2-40B4-BE49-F238E27FC236}">
                <a16:creationId xmlns:a16="http://schemas.microsoft.com/office/drawing/2014/main" id="{16FF1568-BDB1-758B-C8FB-2DD6C7DB8C69}"/>
              </a:ext>
            </a:extLst>
          </p:cNvPr>
          <p:cNvSpPr txBox="1"/>
          <p:nvPr/>
        </p:nvSpPr>
        <p:spPr>
          <a:xfrm>
            <a:off x="4004262" y="75525"/>
            <a:ext cx="1423670" cy="350930"/>
          </a:xfrm>
          <a:prstGeom prst="rect">
            <a:avLst/>
          </a:prstGeom>
        </p:spPr>
        <p:txBody>
          <a:bodyPr vert="horz" wrap="square" lIns="0" tIns="12700" rIns="0" bIns="0" rtlCol="0">
            <a:spAutoFit/>
          </a:bodyPr>
          <a:lstStyle/>
          <a:p>
            <a:pPr marL="12700" marR="5080" lvl="0" indent="137160" algn="l"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Chief</a:t>
            </a:r>
            <a:r>
              <a:rPr kumimoji="0" sz="1000" b="0" i="0" u="none" strike="noStrike" kern="0" cap="none" spc="-40"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 </a:t>
            </a:r>
            <a:r>
              <a:rPr kumimoji="0" sz="1000" b="0" i="0" u="none" strike="noStrike" kern="0" cap="none" spc="-10"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Information </a:t>
            </a:r>
            <a:r>
              <a:rPr kumimoji="0" sz="1000" b="0" i="0" u="none" strike="noStrike" kern="0" cap="none" spc="-70"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Security</a:t>
            </a:r>
            <a:r>
              <a:rPr kumimoji="0" sz="1000" b="0" i="0" u="none" strike="noStrike" kern="0" cap="none" spc="-40"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 </a:t>
            </a:r>
            <a:r>
              <a:rPr kumimoji="0" sz="1000" b="0" i="0" u="none" strike="noStrike" kern="0" cap="none" spc="-55"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Officer</a:t>
            </a:r>
            <a:r>
              <a:rPr kumimoji="0" sz="1000" b="0" i="0" u="none" strike="noStrike" kern="0" cap="none" spc="-35"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 </a:t>
            </a:r>
            <a:r>
              <a:rPr kumimoji="0" sz="1000" b="0" i="0" u="none" strike="noStrike" kern="0" cap="none" spc="-85"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(CISO)</a:t>
            </a:r>
            <a:endParaRPr kumimoji="0" sz="1000" b="0" i="0" u="none" strike="noStrike" kern="0" cap="none" spc="0" normalizeH="0" baseline="0" noProof="0" dirty="0">
              <a:ln>
                <a:noFill/>
              </a:ln>
              <a:solidFill>
                <a:srgbClr val="004F9F"/>
              </a:solidFill>
              <a:effectLst/>
              <a:uLnTx/>
              <a:uFillTx/>
              <a:latin typeface="Arial Black"/>
              <a:ea typeface="+mn-ea"/>
              <a:cs typeface="Arial Black"/>
            </a:endParaRPr>
          </a:p>
        </p:txBody>
      </p:sp>
      <p:pic>
        <p:nvPicPr>
          <p:cNvPr id="15" name="object 5">
            <a:extLst>
              <a:ext uri="{FF2B5EF4-FFF2-40B4-BE49-F238E27FC236}">
                <a16:creationId xmlns:a16="http://schemas.microsoft.com/office/drawing/2014/main" id="{931E8921-12ED-6172-679F-3F1E4C077E25}"/>
              </a:ext>
            </a:extLst>
          </p:cNvPr>
          <p:cNvPicPr/>
          <p:nvPr/>
        </p:nvPicPr>
        <p:blipFill>
          <a:blip r:embed="rId4" cstate="print"/>
          <a:stretch>
            <a:fillRect/>
          </a:stretch>
        </p:blipFill>
        <p:spPr>
          <a:xfrm>
            <a:off x="4524641" y="512986"/>
            <a:ext cx="360705" cy="521971"/>
          </a:xfrm>
          <a:prstGeom prst="rect">
            <a:avLst/>
          </a:prstGeom>
        </p:spPr>
      </p:pic>
      <p:pic>
        <p:nvPicPr>
          <p:cNvPr id="16" name="object 6">
            <a:extLst>
              <a:ext uri="{FF2B5EF4-FFF2-40B4-BE49-F238E27FC236}">
                <a16:creationId xmlns:a16="http://schemas.microsoft.com/office/drawing/2014/main" id="{EB74CDC4-299B-5DDC-8D93-A86979495C05}"/>
              </a:ext>
            </a:extLst>
          </p:cNvPr>
          <p:cNvPicPr/>
          <p:nvPr/>
        </p:nvPicPr>
        <p:blipFill>
          <a:blip r:embed="rId5" cstate="print"/>
          <a:stretch>
            <a:fillRect/>
          </a:stretch>
        </p:blipFill>
        <p:spPr>
          <a:xfrm>
            <a:off x="1958795" y="5724302"/>
            <a:ext cx="489012" cy="517154"/>
          </a:xfrm>
          <a:prstGeom prst="rect">
            <a:avLst/>
          </a:prstGeom>
        </p:spPr>
      </p:pic>
      <p:sp>
        <p:nvSpPr>
          <p:cNvPr id="17" name="object 7">
            <a:extLst>
              <a:ext uri="{FF2B5EF4-FFF2-40B4-BE49-F238E27FC236}">
                <a16:creationId xmlns:a16="http://schemas.microsoft.com/office/drawing/2014/main" id="{4FF60344-BEFA-84EB-1C86-BA2F9F7B765B}"/>
              </a:ext>
            </a:extLst>
          </p:cNvPr>
          <p:cNvSpPr txBox="1"/>
          <p:nvPr/>
        </p:nvSpPr>
        <p:spPr>
          <a:xfrm>
            <a:off x="1749130" y="6313496"/>
            <a:ext cx="1031338" cy="353623"/>
          </a:xfrm>
          <a:prstGeom prst="rect">
            <a:avLst/>
          </a:prstGeom>
        </p:spPr>
        <p:txBody>
          <a:bodyPr vert="horz" wrap="square" lIns="0" tIns="12700" rIns="0" bIns="0" rtlCol="0">
            <a:spAutoFit/>
          </a:bodyPr>
          <a:lstStyle/>
          <a:p>
            <a:pPr marL="318770" marR="5080" indent="-306705" algn="ctr">
              <a:lnSpc>
                <a:spcPct val="113999"/>
              </a:lnSpc>
              <a:spcBef>
                <a:spcPts val="100"/>
              </a:spcBef>
              <a:defRPr/>
            </a:pPr>
            <a:r>
              <a:rPr sz="1000" kern="0" spc="-65" dirty="0">
                <a:solidFill>
                  <a:srgbClr val="CB0538"/>
                </a:solidFill>
                <a:latin typeface="Arial Black"/>
                <a:hlinkClick r:id="" action="ppaction://noaction">
                  <a:extLst>
                    <a:ext uri="{A12FA001-AC4F-418D-AE19-62706E023703}">
                      <ahyp:hlinkClr xmlns:ahyp="http://schemas.microsoft.com/office/drawing/2018/hyperlinkcolor" val="tx"/>
                    </a:ext>
                  </a:extLst>
                </a:hlinkClick>
              </a:rPr>
              <a:t>Cyber Incident</a:t>
            </a:r>
            <a:r>
              <a:rPr lang="fr-BE" sz="1000" kern="0" spc="-65" dirty="0">
                <a:solidFill>
                  <a:srgbClr val="CB0538"/>
                </a:solidFill>
                <a:latin typeface="Arial Black"/>
                <a:hlinkClick r:id="" action="ppaction://noaction">
                  <a:extLst>
                    <a:ext uri="{A12FA001-AC4F-418D-AE19-62706E023703}">
                      <ahyp:hlinkClr xmlns:ahyp="http://schemas.microsoft.com/office/drawing/2018/hyperlinkcolor" val="tx"/>
                    </a:ext>
                  </a:extLst>
                </a:hlinkClick>
              </a:rPr>
              <a:t> </a:t>
            </a:r>
            <a:r>
              <a:rPr sz="1000" kern="0" spc="-65" dirty="0">
                <a:solidFill>
                  <a:srgbClr val="CB0538"/>
                </a:solidFill>
                <a:latin typeface="Arial Black"/>
                <a:hlinkClick r:id="" action="ppaction://noaction">
                  <a:extLst>
                    <a:ext uri="{A12FA001-AC4F-418D-AE19-62706E023703}">
                      <ahyp:hlinkClr xmlns:ahyp="http://schemas.microsoft.com/office/drawing/2018/hyperlinkcolor" val="tx"/>
                    </a:ext>
                  </a:extLst>
                </a:hlinkClick>
              </a:rPr>
              <a:t>Responder</a:t>
            </a:r>
            <a:endParaRPr sz="1000" kern="0" spc="-65" dirty="0">
              <a:solidFill>
                <a:srgbClr val="CB0538"/>
              </a:solidFill>
              <a:latin typeface="Arial Black"/>
            </a:endParaRPr>
          </a:p>
        </p:txBody>
      </p:sp>
      <p:sp>
        <p:nvSpPr>
          <p:cNvPr id="18" name="object 8">
            <a:extLst>
              <a:ext uri="{FF2B5EF4-FFF2-40B4-BE49-F238E27FC236}">
                <a16:creationId xmlns:a16="http://schemas.microsoft.com/office/drawing/2014/main" id="{003B2DE6-D3D4-B583-38FF-2D48AB5EEE40}"/>
              </a:ext>
            </a:extLst>
          </p:cNvPr>
          <p:cNvSpPr txBox="1"/>
          <p:nvPr/>
        </p:nvSpPr>
        <p:spPr>
          <a:xfrm>
            <a:off x="5224490" y="753001"/>
            <a:ext cx="1473200" cy="350930"/>
          </a:xfrm>
          <a:prstGeom prst="rect">
            <a:avLst/>
          </a:prstGeom>
        </p:spPr>
        <p:txBody>
          <a:bodyPr vert="horz" wrap="square" lIns="0" tIns="12700" rIns="0" bIns="0" rtlCol="0">
            <a:spAutoFit/>
          </a:bodyPr>
          <a:lstStyle/>
          <a:p>
            <a:pPr marL="12700" marR="5080" indent="137160">
              <a:lnSpc>
                <a:spcPct val="112999"/>
              </a:lnSpc>
              <a:spcBef>
                <a:spcPts val="100"/>
              </a:spcBef>
              <a:defRPr/>
            </a:pPr>
            <a:r>
              <a:rPr sz="1000" kern="0" spc="-65" dirty="0">
                <a:solidFill>
                  <a:srgbClr val="004F9F"/>
                </a:solidFill>
                <a:latin typeface="Arial Black"/>
                <a:hlinkClick r:id="" action="ppaction://noaction">
                  <a:extLst>
                    <a:ext uri="{A12FA001-AC4F-418D-AE19-62706E023703}">
                      <ahyp:hlinkClr xmlns:ahyp="http://schemas.microsoft.com/office/drawing/2018/hyperlinkcolor" val="tx"/>
                    </a:ext>
                  </a:extLst>
                </a:hlinkClick>
              </a:rPr>
              <a:t>Cyber Legal, Policy and Compliance Officer</a:t>
            </a:r>
            <a:endParaRPr sz="1000" kern="0" spc="-65" dirty="0">
              <a:solidFill>
                <a:srgbClr val="004F9F"/>
              </a:solidFill>
              <a:latin typeface="Arial Black"/>
            </a:endParaRPr>
          </a:p>
        </p:txBody>
      </p:sp>
      <p:pic>
        <p:nvPicPr>
          <p:cNvPr id="19" name="object 9">
            <a:extLst>
              <a:ext uri="{FF2B5EF4-FFF2-40B4-BE49-F238E27FC236}">
                <a16:creationId xmlns:a16="http://schemas.microsoft.com/office/drawing/2014/main" id="{ACF16E73-A9A1-1EBF-25C9-7D7AC1993F6D}"/>
              </a:ext>
            </a:extLst>
          </p:cNvPr>
          <p:cNvPicPr/>
          <p:nvPr/>
        </p:nvPicPr>
        <p:blipFill>
          <a:blip r:embed="rId6" cstate="print"/>
          <a:stretch>
            <a:fillRect/>
          </a:stretch>
        </p:blipFill>
        <p:spPr>
          <a:xfrm>
            <a:off x="5485057" y="1156925"/>
            <a:ext cx="795427" cy="510384"/>
          </a:xfrm>
          <a:prstGeom prst="rect">
            <a:avLst/>
          </a:prstGeom>
        </p:spPr>
      </p:pic>
      <p:pic>
        <p:nvPicPr>
          <p:cNvPr id="20" name="object 10">
            <a:extLst>
              <a:ext uri="{FF2B5EF4-FFF2-40B4-BE49-F238E27FC236}">
                <a16:creationId xmlns:a16="http://schemas.microsoft.com/office/drawing/2014/main" id="{8919CD40-232F-50E7-B1CC-916A55A039E2}"/>
              </a:ext>
            </a:extLst>
          </p:cNvPr>
          <p:cNvPicPr/>
          <p:nvPr/>
        </p:nvPicPr>
        <p:blipFill>
          <a:blip r:embed="rId7" cstate="print"/>
          <a:stretch>
            <a:fillRect/>
          </a:stretch>
        </p:blipFill>
        <p:spPr>
          <a:xfrm>
            <a:off x="564723" y="3602782"/>
            <a:ext cx="605772" cy="663970"/>
          </a:xfrm>
          <a:prstGeom prst="rect">
            <a:avLst/>
          </a:prstGeom>
        </p:spPr>
      </p:pic>
      <p:sp>
        <p:nvSpPr>
          <p:cNvPr id="21" name="object 11">
            <a:extLst>
              <a:ext uri="{FF2B5EF4-FFF2-40B4-BE49-F238E27FC236}">
                <a16:creationId xmlns:a16="http://schemas.microsoft.com/office/drawing/2014/main" id="{C8A8C5E8-F13C-3712-B10A-4AFD4C675168}"/>
              </a:ext>
            </a:extLst>
          </p:cNvPr>
          <p:cNvSpPr txBox="1"/>
          <p:nvPr/>
        </p:nvSpPr>
        <p:spPr>
          <a:xfrm>
            <a:off x="98710" y="4266752"/>
            <a:ext cx="1437991" cy="524824"/>
          </a:xfrm>
          <a:prstGeom prst="rect">
            <a:avLst/>
          </a:prstGeom>
        </p:spPr>
        <p:txBody>
          <a:bodyPr vert="horz" wrap="square" lIns="0" tIns="12700" rIns="0" bIns="0" rtlCol="0">
            <a:spAutoFit/>
          </a:bodyPr>
          <a:lstStyle/>
          <a:p>
            <a:pPr marL="210820" marR="5080" indent="-198120">
              <a:lnSpc>
                <a:spcPct val="112999"/>
              </a:lnSpc>
              <a:spcBef>
                <a:spcPts val="100"/>
              </a:spcBef>
              <a:defRPr/>
            </a:pPr>
            <a:r>
              <a:rPr sz="1000" kern="0" spc="-65" dirty="0">
                <a:solidFill>
                  <a:srgbClr val="FFC000"/>
                </a:solidFill>
                <a:latin typeface="Arial Black"/>
                <a:hlinkClick r:id="" action="ppaction://noaction">
                  <a:extLst>
                    <a:ext uri="{A12FA001-AC4F-418D-AE19-62706E023703}">
                      <ahyp:hlinkClr xmlns:ahyp="http://schemas.microsoft.com/office/drawing/2018/hyperlinkcolor" val="tx"/>
                    </a:ext>
                  </a:extLst>
                </a:hlinkClick>
              </a:rPr>
              <a:t>Cyber Threat Intelligence Specialist</a:t>
            </a:r>
            <a:endParaRPr sz="1000" kern="0" spc="-65" dirty="0">
              <a:solidFill>
                <a:srgbClr val="FFC000"/>
              </a:solidFill>
              <a:latin typeface="Arial Black"/>
            </a:endParaRPr>
          </a:p>
        </p:txBody>
      </p:sp>
      <p:pic>
        <p:nvPicPr>
          <p:cNvPr id="22" name="object 12">
            <a:extLst>
              <a:ext uri="{FF2B5EF4-FFF2-40B4-BE49-F238E27FC236}">
                <a16:creationId xmlns:a16="http://schemas.microsoft.com/office/drawing/2014/main" id="{44DC1AE2-CFB9-FE99-BC2D-E1741FB86B58}"/>
              </a:ext>
            </a:extLst>
          </p:cNvPr>
          <p:cNvPicPr/>
          <p:nvPr/>
        </p:nvPicPr>
        <p:blipFill>
          <a:blip r:embed="rId8" cstate="print"/>
          <a:stretch>
            <a:fillRect/>
          </a:stretch>
        </p:blipFill>
        <p:spPr>
          <a:xfrm>
            <a:off x="6377711" y="2816130"/>
            <a:ext cx="660792" cy="632734"/>
          </a:xfrm>
          <a:prstGeom prst="rect">
            <a:avLst/>
          </a:prstGeom>
        </p:spPr>
      </p:pic>
      <p:sp>
        <p:nvSpPr>
          <p:cNvPr id="23" name="object 13">
            <a:extLst>
              <a:ext uri="{FF2B5EF4-FFF2-40B4-BE49-F238E27FC236}">
                <a16:creationId xmlns:a16="http://schemas.microsoft.com/office/drawing/2014/main" id="{88833B1C-E143-5802-AB27-E55C7F95A102}"/>
              </a:ext>
            </a:extLst>
          </p:cNvPr>
          <p:cNvSpPr txBox="1"/>
          <p:nvPr/>
        </p:nvSpPr>
        <p:spPr>
          <a:xfrm>
            <a:off x="6238051" y="3502545"/>
            <a:ext cx="900430" cy="353623"/>
          </a:xfrm>
          <a:prstGeom prst="rect">
            <a:avLst/>
          </a:prstGeom>
        </p:spPr>
        <p:txBody>
          <a:bodyPr vert="horz" wrap="square" lIns="0" tIns="12700" rIns="0" bIns="0" rtlCol="0">
            <a:spAutoFit/>
          </a:bodyPr>
          <a:lstStyle/>
          <a:p>
            <a:pPr marL="93345" marR="5080" indent="-81280">
              <a:lnSpc>
                <a:spcPct val="113999"/>
              </a:lnSpc>
              <a:spcBef>
                <a:spcPts val="100"/>
              </a:spcBef>
              <a:defRPr/>
            </a:pPr>
            <a:r>
              <a:rPr sz="1000" kern="0" spc="-65" dirty="0">
                <a:solidFill>
                  <a:srgbClr val="95C11F"/>
                </a:solidFill>
                <a:latin typeface="Arial Black"/>
                <a:hlinkClick r:id="" action="ppaction://noaction">
                  <a:extLst>
                    <a:ext uri="{A12FA001-AC4F-418D-AE19-62706E023703}">
                      <ahyp:hlinkClr xmlns:ahyp="http://schemas.microsoft.com/office/drawing/2018/hyperlinkcolor" val="tx"/>
                    </a:ext>
                  </a:extLst>
                </a:hlinkClick>
              </a:rPr>
              <a:t>Cybersecurity Architect</a:t>
            </a:r>
            <a:endParaRPr sz="1000" kern="0" spc="-65" dirty="0">
              <a:solidFill>
                <a:srgbClr val="95C11F"/>
              </a:solidFill>
              <a:latin typeface="Arial Black"/>
            </a:endParaRPr>
          </a:p>
        </p:txBody>
      </p:sp>
      <p:pic>
        <p:nvPicPr>
          <p:cNvPr id="24" name="object 14">
            <a:extLst>
              <a:ext uri="{FF2B5EF4-FFF2-40B4-BE49-F238E27FC236}">
                <a16:creationId xmlns:a16="http://schemas.microsoft.com/office/drawing/2014/main" id="{7C3CD17E-49FB-0BCA-B014-6DB486FBEE71}"/>
              </a:ext>
            </a:extLst>
          </p:cNvPr>
          <p:cNvPicPr/>
          <p:nvPr/>
        </p:nvPicPr>
        <p:blipFill>
          <a:blip r:embed="rId9" cstate="print"/>
          <a:stretch>
            <a:fillRect/>
          </a:stretch>
        </p:blipFill>
        <p:spPr>
          <a:xfrm>
            <a:off x="1144254" y="1210389"/>
            <a:ext cx="700333" cy="642654"/>
          </a:xfrm>
          <a:prstGeom prst="rect">
            <a:avLst/>
          </a:prstGeom>
        </p:spPr>
      </p:pic>
      <p:sp>
        <p:nvSpPr>
          <p:cNvPr id="25" name="object 15">
            <a:extLst>
              <a:ext uri="{FF2B5EF4-FFF2-40B4-BE49-F238E27FC236}">
                <a16:creationId xmlns:a16="http://schemas.microsoft.com/office/drawing/2014/main" id="{9B5807D8-3102-F28B-06B1-128E034BC35D}"/>
              </a:ext>
            </a:extLst>
          </p:cNvPr>
          <p:cNvSpPr txBox="1"/>
          <p:nvPr/>
        </p:nvSpPr>
        <p:spPr>
          <a:xfrm>
            <a:off x="1173700" y="840185"/>
            <a:ext cx="900430" cy="350930"/>
          </a:xfrm>
          <a:prstGeom prst="rect">
            <a:avLst/>
          </a:prstGeom>
        </p:spPr>
        <p:txBody>
          <a:bodyPr vert="horz" wrap="square" lIns="0" tIns="12700" rIns="0" bIns="0" rtlCol="0">
            <a:spAutoFit/>
          </a:bodyPr>
          <a:lstStyle/>
          <a:p>
            <a:pPr marL="210820" marR="5080" lvl="0" indent="-198120" algn="l"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FFC000"/>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Cybersecurity </a:t>
            </a:r>
            <a:r>
              <a:rPr kumimoji="0" sz="1000" b="0" i="0" u="none" strike="noStrike" kern="0" cap="none" spc="-10" normalizeH="0" baseline="0" noProof="0" dirty="0">
                <a:ln>
                  <a:noFill/>
                </a:ln>
                <a:solidFill>
                  <a:srgbClr val="FFC000"/>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Auditor</a:t>
            </a:r>
            <a:endParaRPr kumimoji="0" sz="1000" b="0" i="0" u="none" strike="noStrike" kern="0" cap="none" spc="0" normalizeH="0" baseline="0" noProof="0" dirty="0">
              <a:ln>
                <a:noFill/>
              </a:ln>
              <a:solidFill>
                <a:srgbClr val="FFC000"/>
              </a:solidFill>
              <a:effectLst/>
              <a:uLnTx/>
              <a:uFillTx/>
              <a:latin typeface="Arial Black"/>
              <a:ea typeface="+mn-ea"/>
              <a:cs typeface="Arial Black"/>
            </a:endParaRPr>
          </a:p>
        </p:txBody>
      </p:sp>
      <p:sp>
        <p:nvSpPr>
          <p:cNvPr id="26" name="object 16">
            <a:extLst>
              <a:ext uri="{FF2B5EF4-FFF2-40B4-BE49-F238E27FC236}">
                <a16:creationId xmlns:a16="http://schemas.microsoft.com/office/drawing/2014/main" id="{E508D84D-E341-3377-8B08-226A723D77A4}"/>
              </a:ext>
            </a:extLst>
          </p:cNvPr>
          <p:cNvSpPr txBox="1"/>
          <p:nvPr/>
        </p:nvSpPr>
        <p:spPr>
          <a:xfrm>
            <a:off x="4897887" y="6277845"/>
            <a:ext cx="900430" cy="353623"/>
          </a:xfrm>
          <a:prstGeom prst="rect">
            <a:avLst/>
          </a:prstGeom>
        </p:spPr>
        <p:txBody>
          <a:bodyPr vert="horz" wrap="square" lIns="0" tIns="12700" rIns="0" bIns="0" rtlCol="0">
            <a:spAutoFit/>
          </a:bodyPr>
          <a:lstStyle/>
          <a:p>
            <a:pPr marL="93345" marR="5080" indent="-81280">
              <a:lnSpc>
                <a:spcPct val="113999"/>
              </a:lnSpc>
              <a:spcBef>
                <a:spcPts val="100"/>
              </a:spcBef>
              <a:defRPr/>
            </a:pPr>
            <a:r>
              <a:rPr sz="1000" kern="0" spc="-65" dirty="0">
                <a:solidFill>
                  <a:srgbClr val="95C11F"/>
                </a:solidFill>
                <a:latin typeface="Arial Black"/>
                <a:hlinkClick r:id="" action="ppaction://noaction">
                  <a:extLst>
                    <a:ext uri="{A12FA001-AC4F-418D-AE19-62706E023703}">
                      <ahyp:hlinkClr xmlns:ahyp="http://schemas.microsoft.com/office/drawing/2018/hyperlinkcolor" val="tx"/>
                    </a:ext>
                  </a:extLst>
                </a:hlinkClick>
              </a:rPr>
              <a:t>Cybersecurity Educator</a:t>
            </a:r>
            <a:endParaRPr sz="1000" kern="0" spc="-65" dirty="0">
              <a:solidFill>
                <a:srgbClr val="95C11F"/>
              </a:solidFill>
              <a:latin typeface="Arial Black"/>
            </a:endParaRPr>
          </a:p>
        </p:txBody>
      </p:sp>
      <p:pic>
        <p:nvPicPr>
          <p:cNvPr id="27" name="object 17">
            <a:extLst>
              <a:ext uri="{FF2B5EF4-FFF2-40B4-BE49-F238E27FC236}">
                <a16:creationId xmlns:a16="http://schemas.microsoft.com/office/drawing/2014/main" id="{ACFA55BD-52B0-324F-64A6-8DFC2986EDC7}"/>
              </a:ext>
            </a:extLst>
          </p:cNvPr>
          <p:cNvPicPr/>
          <p:nvPr/>
        </p:nvPicPr>
        <p:blipFill>
          <a:blip r:embed="rId10" cstate="print"/>
          <a:stretch>
            <a:fillRect/>
          </a:stretch>
        </p:blipFill>
        <p:spPr>
          <a:xfrm>
            <a:off x="5023986" y="5759492"/>
            <a:ext cx="559102" cy="427300"/>
          </a:xfrm>
          <a:prstGeom prst="rect">
            <a:avLst/>
          </a:prstGeom>
        </p:spPr>
      </p:pic>
      <p:sp>
        <p:nvSpPr>
          <p:cNvPr id="28" name="object 18">
            <a:extLst>
              <a:ext uri="{FF2B5EF4-FFF2-40B4-BE49-F238E27FC236}">
                <a16:creationId xmlns:a16="http://schemas.microsoft.com/office/drawing/2014/main" id="{E423E6EB-C88E-D4F2-507A-81A953887E25}"/>
              </a:ext>
            </a:extLst>
          </p:cNvPr>
          <p:cNvSpPr txBox="1"/>
          <p:nvPr/>
        </p:nvSpPr>
        <p:spPr>
          <a:xfrm>
            <a:off x="5989403" y="5035422"/>
            <a:ext cx="1046596" cy="350930"/>
          </a:xfrm>
          <a:prstGeom prst="rect">
            <a:avLst/>
          </a:prstGeom>
        </p:spPr>
        <p:txBody>
          <a:bodyPr vert="horz" wrap="square" lIns="0" tIns="12700" rIns="0" bIns="0" rtlCol="0">
            <a:spAutoFit/>
          </a:bodyPr>
          <a:lstStyle/>
          <a:p>
            <a:pPr marL="12700" marR="5080" indent="137160">
              <a:lnSpc>
                <a:spcPct val="112999"/>
              </a:lnSpc>
              <a:spcBef>
                <a:spcPts val="100"/>
              </a:spcBef>
              <a:defRPr/>
            </a:pPr>
            <a:r>
              <a:rPr sz="1000" kern="0" spc="-65" dirty="0">
                <a:solidFill>
                  <a:srgbClr val="004F9F"/>
                </a:solidFill>
                <a:latin typeface="Arial Black"/>
                <a:hlinkClick r:id="" action="ppaction://noaction">
                  <a:extLst>
                    <a:ext uri="{A12FA001-AC4F-418D-AE19-62706E023703}">
                      <ahyp:hlinkClr xmlns:ahyp="http://schemas.microsoft.com/office/drawing/2018/hyperlinkcolor" val="tx"/>
                    </a:ext>
                  </a:extLst>
                </a:hlinkClick>
              </a:rPr>
              <a:t>Cybersecurity Implementer</a:t>
            </a:r>
            <a:endParaRPr sz="1000" kern="0" spc="-65" dirty="0">
              <a:solidFill>
                <a:srgbClr val="004F9F"/>
              </a:solidFill>
              <a:latin typeface="Arial Black"/>
            </a:endParaRPr>
          </a:p>
        </p:txBody>
      </p:sp>
      <p:pic>
        <p:nvPicPr>
          <p:cNvPr id="29" name="object 19">
            <a:extLst>
              <a:ext uri="{FF2B5EF4-FFF2-40B4-BE49-F238E27FC236}">
                <a16:creationId xmlns:a16="http://schemas.microsoft.com/office/drawing/2014/main" id="{6F79C4C2-4318-4CE9-8227-8836EEBBC836}"/>
              </a:ext>
            </a:extLst>
          </p:cNvPr>
          <p:cNvPicPr/>
          <p:nvPr/>
        </p:nvPicPr>
        <p:blipFill>
          <a:blip r:embed="rId11" cstate="print"/>
          <a:stretch>
            <a:fillRect/>
          </a:stretch>
        </p:blipFill>
        <p:spPr>
          <a:xfrm>
            <a:off x="6155430" y="4509653"/>
            <a:ext cx="572226" cy="570796"/>
          </a:xfrm>
          <a:prstGeom prst="rect">
            <a:avLst/>
          </a:prstGeom>
        </p:spPr>
      </p:pic>
      <p:pic>
        <p:nvPicPr>
          <p:cNvPr id="30" name="object 20">
            <a:extLst>
              <a:ext uri="{FF2B5EF4-FFF2-40B4-BE49-F238E27FC236}">
                <a16:creationId xmlns:a16="http://schemas.microsoft.com/office/drawing/2014/main" id="{926729D2-A3FC-F388-AE97-550DF5B4E853}"/>
              </a:ext>
            </a:extLst>
          </p:cNvPr>
          <p:cNvPicPr/>
          <p:nvPr/>
        </p:nvPicPr>
        <p:blipFill>
          <a:blip r:embed="rId12" cstate="print"/>
          <a:stretch>
            <a:fillRect/>
          </a:stretch>
        </p:blipFill>
        <p:spPr>
          <a:xfrm>
            <a:off x="2358881" y="549471"/>
            <a:ext cx="539479" cy="478138"/>
          </a:xfrm>
          <a:prstGeom prst="rect">
            <a:avLst/>
          </a:prstGeom>
        </p:spPr>
      </p:pic>
      <p:sp>
        <p:nvSpPr>
          <p:cNvPr id="31" name="object 21">
            <a:extLst>
              <a:ext uri="{FF2B5EF4-FFF2-40B4-BE49-F238E27FC236}">
                <a16:creationId xmlns:a16="http://schemas.microsoft.com/office/drawing/2014/main" id="{8DFAD513-4C1D-7D11-AF42-F63403408FB5}"/>
              </a:ext>
            </a:extLst>
          </p:cNvPr>
          <p:cNvSpPr txBox="1"/>
          <p:nvPr/>
        </p:nvSpPr>
        <p:spPr>
          <a:xfrm>
            <a:off x="2135617" y="152132"/>
            <a:ext cx="900430" cy="353623"/>
          </a:xfrm>
          <a:prstGeom prst="rect">
            <a:avLst/>
          </a:prstGeom>
        </p:spPr>
        <p:txBody>
          <a:bodyPr vert="horz" wrap="square" lIns="0" tIns="12700" rIns="0" bIns="0" rtlCol="0">
            <a:spAutoFit/>
          </a:bodyPr>
          <a:lstStyle/>
          <a:p>
            <a:pPr marL="93345" marR="5080" lvl="0" indent="-8128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95C11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Cybersecurity </a:t>
            </a:r>
            <a:r>
              <a:rPr kumimoji="0" sz="1000" b="0" i="0" u="none" strike="noStrike" kern="0" cap="none" spc="-10" normalizeH="0" baseline="0" noProof="0" dirty="0">
                <a:ln>
                  <a:noFill/>
                </a:ln>
                <a:solidFill>
                  <a:srgbClr val="95C11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Researcher</a:t>
            </a:r>
            <a:endParaRPr kumimoji="0" sz="1000" b="0" i="0" u="none" strike="noStrike" kern="0" cap="none" spc="0" normalizeH="0" baseline="0" noProof="0" dirty="0">
              <a:ln>
                <a:noFill/>
              </a:ln>
              <a:solidFill>
                <a:srgbClr val="95C11F"/>
              </a:solidFill>
              <a:effectLst/>
              <a:uLnTx/>
              <a:uFillTx/>
              <a:latin typeface="Arial Black"/>
              <a:ea typeface="+mn-ea"/>
              <a:cs typeface="Arial Black"/>
            </a:endParaRPr>
          </a:p>
        </p:txBody>
      </p:sp>
      <p:pic>
        <p:nvPicPr>
          <p:cNvPr id="22528" name="object 22">
            <a:extLst>
              <a:ext uri="{FF2B5EF4-FFF2-40B4-BE49-F238E27FC236}">
                <a16:creationId xmlns:a16="http://schemas.microsoft.com/office/drawing/2014/main" id="{E9ACBAB3-B387-82D2-744A-33810C827EAC}"/>
              </a:ext>
            </a:extLst>
          </p:cNvPr>
          <p:cNvPicPr/>
          <p:nvPr/>
        </p:nvPicPr>
        <p:blipFill>
          <a:blip r:embed="rId13" cstate="print"/>
          <a:stretch>
            <a:fillRect/>
          </a:stretch>
        </p:blipFill>
        <p:spPr>
          <a:xfrm>
            <a:off x="6251039" y="2111556"/>
            <a:ext cx="511738" cy="510384"/>
          </a:xfrm>
          <a:prstGeom prst="rect">
            <a:avLst/>
          </a:prstGeom>
        </p:spPr>
      </p:pic>
      <p:sp>
        <p:nvSpPr>
          <p:cNvPr id="22529" name="object 23">
            <a:extLst>
              <a:ext uri="{FF2B5EF4-FFF2-40B4-BE49-F238E27FC236}">
                <a16:creationId xmlns:a16="http://schemas.microsoft.com/office/drawing/2014/main" id="{DD463D1A-5FE8-3A67-6907-45C5782FD3B9}"/>
              </a:ext>
            </a:extLst>
          </p:cNvPr>
          <p:cNvSpPr txBox="1"/>
          <p:nvPr/>
        </p:nvSpPr>
        <p:spPr>
          <a:xfrm>
            <a:off x="5908103" y="1782978"/>
            <a:ext cx="1197610" cy="353623"/>
          </a:xfrm>
          <a:prstGeom prst="rect">
            <a:avLst/>
          </a:prstGeom>
        </p:spPr>
        <p:txBody>
          <a:bodyPr vert="horz" wrap="square" lIns="0" tIns="12700" rIns="0" bIns="0" rtlCol="0">
            <a:spAutoFit/>
          </a:bodyPr>
          <a:lstStyle/>
          <a:p>
            <a:pPr marL="318770" marR="5080" lvl="0" indent="-306705"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CB0538"/>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Cybersecurity</a:t>
            </a:r>
            <a:r>
              <a:rPr kumimoji="0" sz="1000" b="0" i="0" u="none" strike="noStrike" kern="0" cap="none" spc="-15" normalizeH="0" baseline="0" noProof="0" dirty="0">
                <a:ln>
                  <a:noFill/>
                </a:ln>
                <a:solidFill>
                  <a:srgbClr val="CB0538"/>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 </a:t>
            </a:r>
            <a:r>
              <a:rPr kumimoji="0" sz="1000" b="0" i="0" u="none" strike="noStrike" kern="0" cap="none" spc="-80" normalizeH="0" baseline="0" noProof="0" dirty="0">
                <a:ln>
                  <a:noFill/>
                </a:ln>
                <a:solidFill>
                  <a:srgbClr val="CB0538"/>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Risk </a:t>
            </a:r>
            <a:r>
              <a:rPr kumimoji="0" sz="1000" b="0" i="0" u="none" strike="noStrike" kern="0" cap="none" spc="-10" normalizeH="0" baseline="0" noProof="0" dirty="0">
                <a:ln>
                  <a:noFill/>
                </a:ln>
                <a:solidFill>
                  <a:srgbClr val="CB0538"/>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Manager</a:t>
            </a:r>
            <a:endParaRPr kumimoji="0" sz="1000" b="0" i="0" u="none" strike="noStrike" kern="0" cap="none" spc="0" normalizeH="0" baseline="0" noProof="0" dirty="0">
              <a:ln>
                <a:noFill/>
              </a:ln>
              <a:solidFill>
                <a:srgbClr val="CB0538"/>
              </a:solidFill>
              <a:effectLst/>
              <a:uLnTx/>
              <a:uFillTx/>
              <a:latin typeface="Arial Black"/>
              <a:ea typeface="+mn-ea"/>
              <a:cs typeface="Arial Black"/>
            </a:endParaRPr>
          </a:p>
        </p:txBody>
      </p:sp>
      <p:pic>
        <p:nvPicPr>
          <p:cNvPr id="22531" name="object 24">
            <a:extLst>
              <a:ext uri="{FF2B5EF4-FFF2-40B4-BE49-F238E27FC236}">
                <a16:creationId xmlns:a16="http://schemas.microsoft.com/office/drawing/2014/main" id="{F8A7F6EA-44BE-3A35-60EE-57093BA63BA5}"/>
              </a:ext>
            </a:extLst>
          </p:cNvPr>
          <p:cNvPicPr/>
          <p:nvPr/>
        </p:nvPicPr>
        <p:blipFill>
          <a:blip r:embed="rId14" cstate="print"/>
          <a:stretch>
            <a:fillRect/>
          </a:stretch>
        </p:blipFill>
        <p:spPr>
          <a:xfrm>
            <a:off x="759669" y="4844746"/>
            <a:ext cx="677394" cy="473212"/>
          </a:xfrm>
          <a:prstGeom prst="rect">
            <a:avLst/>
          </a:prstGeom>
        </p:spPr>
      </p:pic>
      <p:sp>
        <p:nvSpPr>
          <p:cNvPr id="22532" name="object 25">
            <a:extLst>
              <a:ext uri="{FF2B5EF4-FFF2-40B4-BE49-F238E27FC236}">
                <a16:creationId xmlns:a16="http://schemas.microsoft.com/office/drawing/2014/main" id="{010AD2C4-5F81-843D-8257-104449AACF3D}"/>
              </a:ext>
            </a:extLst>
          </p:cNvPr>
          <p:cNvSpPr txBox="1"/>
          <p:nvPr/>
        </p:nvSpPr>
        <p:spPr>
          <a:xfrm>
            <a:off x="715872" y="5337912"/>
            <a:ext cx="1065530" cy="350930"/>
          </a:xfrm>
          <a:prstGeom prst="rect">
            <a:avLst/>
          </a:prstGeom>
        </p:spPr>
        <p:txBody>
          <a:bodyPr vert="horz" wrap="square" lIns="0" tIns="12700" rIns="0" bIns="0" rtlCol="0">
            <a:spAutoFit/>
          </a:bodyPr>
          <a:lstStyle/>
          <a:p>
            <a:pPr marL="210820" marR="5080" indent="-198120">
              <a:lnSpc>
                <a:spcPct val="112999"/>
              </a:lnSpc>
              <a:spcBef>
                <a:spcPts val="100"/>
              </a:spcBef>
              <a:defRPr/>
            </a:pPr>
            <a:r>
              <a:rPr sz="1000" kern="0" spc="-65" dirty="0">
                <a:solidFill>
                  <a:srgbClr val="FFC000"/>
                </a:solidFill>
                <a:latin typeface="Arial Black"/>
                <a:hlinkClick r:id="" action="ppaction://noaction">
                  <a:extLst>
                    <a:ext uri="{A12FA001-AC4F-418D-AE19-62706E023703}">
                      <ahyp:hlinkClr xmlns:ahyp="http://schemas.microsoft.com/office/drawing/2018/hyperlinkcolor" val="tx"/>
                    </a:ext>
                  </a:extLst>
                </a:hlinkClick>
              </a:rPr>
              <a:t>Digital Forensics Investigator</a:t>
            </a:r>
            <a:endParaRPr sz="1000" kern="0" spc="-65" dirty="0">
              <a:solidFill>
                <a:srgbClr val="FFC000"/>
              </a:solidFill>
              <a:latin typeface="Arial Black"/>
            </a:endParaRPr>
          </a:p>
        </p:txBody>
      </p:sp>
      <p:pic>
        <p:nvPicPr>
          <p:cNvPr id="22533" name="object 26">
            <a:extLst>
              <a:ext uri="{FF2B5EF4-FFF2-40B4-BE49-F238E27FC236}">
                <a16:creationId xmlns:a16="http://schemas.microsoft.com/office/drawing/2014/main" id="{80CEF7E2-190F-789C-ACEB-7E3BDA466E48}"/>
              </a:ext>
            </a:extLst>
          </p:cNvPr>
          <p:cNvPicPr/>
          <p:nvPr/>
        </p:nvPicPr>
        <p:blipFill>
          <a:blip r:embed="rId15" cstate="print"/>
          <a:stretch>
            <a:fillRect/>
          </a:stretch>
        </p:blipFill>
        <p:spPr>
          <a:xfrm>
            <a:off x="715873" y="2223247"/>
            <a:ext cx="677334" cy="558586"/>
          </a:xfrm>
          <a:prstGeom prst="rect">
            <a:avLst/>
          </a:prstGeom>
        </p:spPr>
      </p:pic>
      <p:sp>
        <p:nvSpPr>
          <p:cNvPr id="22534" name="object 27">
            <a:extLst>
              <a:ext uri="{FF2B5EF4-FFF2-40B4-BE49-F238E27FC236}">
                <a16:creationId xmlns:a16="http://schemas.microsoft.com/office/drawing/2014/main" id="{4DD02AEE-9F34-9C28-9654-7724BE35F7F8}"/>
              </a:ext>
            </a:extLst>
          </p:cNvPr>
          <p:cNvSpPr txBox="1"/>
          <p:nvPr/>
        </p:nvSpPr>
        <p:spPr>
          <a:xfrm>
            <a:off x="509583" y="2805049"/>
            <a:ext cx="782320" cy="353623"/>
          </a:xfrm>
          <a:prstGeom prst="rect">
            <a:avLst/>
          </a:prstGeom>
        </p:spPr>
        <p:txBody>
          <a:bodyPr vert="horz" wrap="square" lIns="0" tIns="12700" rIns="0" bIns="0" rtlCol="0">
            <a:spAutoFit/>
          </a:bodyPr>
          <a:lstStyle/>
          <a:p>
            <a:pPr marL="318770" marR="5080" indent="-306705" algn="ctr">
              <a:lnSpc>
                <a:spcPct val="113999"/>
              </a:lnSpc>
              <a:spcBef>
                <a:spcPts val="100"/>
              </a:spcBef>
              <a:defRPr/>
            </a:pPr>
            <a:r>
              <a:rPr sz="1000" kern="0" spc="-65" dirty="0">
                <a:solidFill>
                  <a:srgbClr val="CB0538"/>
                </a:solidFill>
                <a:latin typeface="Arial Black"/>
                <a:hlinkClick r:id="" action="ppaction://noaction">
                  <a:extLst>
                    <a:ext uri="{A12FA001-AC4F-418D-AE19-62706E023703}">
                      <ahyp:hlinkClr xmlns:ahyp="http://schemas.microsoft.com/office/drawing/2018/hyperlinkcolor" val="tx"/>
                    </a:ext>
                  </a:extLst>
                </a:hlinkClick>
              </a:rPr>
              <a:t>Penetration Tester</a:t>
            </a:r>
            <a:endParaRPr sz="1000" kern="0" spc="-65" dirty="0">
              <a:solidFill>
                <a:srgbClr val="CB0538"/>
              </a:solidFill>
              <a:latin typeface="Arial Black"/>
            </a:endParaRPr>
          </a:p>
        </p:txBody>
      </p:sp>
      <p:grpSp>
        <p:nvGrpSpPr>
          <p:cNvPr id="22540" name="Group 22539">
            <a:extLst>
              <a:ext uri="{FF2B5EF4-FFF2-40B4-BE49-F238E27FC236}">
                <a16:creationId xmlns:a16="http://schemas.microsoft.com/office/drawing/2014/main" id="{13C5AF9D-3D2E-E095-011F-3F6F1BD9A688}"/>
              </a:ext>
            </a:extLst>
          </p:cNvPr>
          <p:cNvGrpSpPr/>
          <p:nvPr/>
        </p:nvGrpSpPr>
        <p:grpSpPr>
          <a:xfrm>
            <a:off x="1336015" y="1122245"/>
            <a:ext cx="4780888" cy="4777520"/>
            <a:chOff x="1336015" y="1122245"/>
            <a:chExt cx="4780888" cy="4777520"/>
          </a:xfrm>
        </p:grpSpPr>
        <p:sp>
          <p:nvSpPr>
            <p:cNvPr id="8" name="Freeform: Shape 7">
              <a:extLst>
                <a:ext uri="{FF2B5EF4-FFF2-40B4-BE49-F238E27FC236}">
                  <a16:creationId xmlns:a16="http://schemas.microsoft.com/office/drawing/2014/main" id="{6D51CD5F-6DC7-7F85-4988-48734C6DE894}"/>
                </a:ext>
              </a:extLst>
            </p:cNvPr>
            <p:cNvSpPr/>
            <p:nvPr/>
          </p:nvSpPr>
          <p:spPr>
            <a:xfrm>
              <a:off x="1336015" y="1133698"/>
              <a:ext cx="2375066" cy="2315166"/>
            </a:xfrm>
            <a:custGeom>
              <a:avLst/>
              <a:gdLst>
                <a:gd name="connsiteX0" fmla="*/ 2375066 w 2375066"/>
                <a:gd name="connsiteY0" fmla="*/ 0 h 2315166"/>
                <a:gd name="connsiteX1" fmla="*/ 2375066 w 2375066"/>
                <a:gd name="connsiteY1" fmla="*/ 448070 h 2315166"/>
                <a:gd name="connsiteX2" fmla="*/ 2371121 w 2375066"/>
                <a:gd name="connsiteY2" fmla="*/ 447869 h 2315166"/>
                <a:gd name="connsiteX3" fmla="*/ 451919 w 2375066"/>
                <a:gd name="connsiteY3" fmla="*/ 2198581 h 2315166"/>
                <a:gd name="connsiteX4" fmla="*/ 446095 w 2375066"/>
                <a:gd name="connsiteY4" fmla="*/ 2315166 h 2315166"/>
                <a:gd name="connsiteX5" fmla="*/ 0 w 2375066"/>
                <a:gd name="connsiteY5" fmla="*/ 2301412 h 2315166"/>
                <a:gd name="connsiteX6" fmla="*/ 2375066 w 2375066"/>
                <a:gd name="connsiteY6" fmla="*/ 0 h 231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5066" h="2315166">
                  <a:moveTo>
                    <a:pt x="2375066" y="0"/>
                  </a:moveTo>
                  <a:lnTo>
                    <a:pt x="2375066" y="448070"/>
                  </a:lnTo>
                  <a:lnTo>
                    <a:pt x="2371121" y="447869"/>
                  </a:lnTo>
                  <a:cubicBezTo>
                    <a:pt x="1372265" y="447869"/>
                    <a:pt x="550711" y="1215233"/>
                    <a:pt x="451919" y="2198581"/>
                  </a:cubicBezTo>
                  <a:lnTo>
                    <a:pt x="446095" y="2315166"/>
                  </a:lnTo>
                  <a:lnTo>
                    <a:pt x="0" y="2301412"/>
                  </a:lnTo>
                  <a:cubicBezTo>
                    <a:pt x="39590" y="1019056"/>
                    <a:pt x="1091259" y="0"/>
                    <a:pt x="2375066" y="0"/>
                  </a:cubicBezTo>
                  <a:close/>
                </a:path>
              </a:pathLst>
            </a:custGeom>
            <a:solidFill>
              <a:srgbClr val="95C11F"/>
            </a:solidFill>
            <a:ln>
              <a:solidFill>
                <a:schemeClr val="bg2"/>
              </a:solidFill>
            </a:ln>
          </p:spPr>
          <p:style>
            <a:lnRef idx="2">
              <a:schemeClr val="accent6">
                <a:shade val="15000"/>
              </a:schemeClr>
            </a:lnRef>
            <a:fillRef idx="1">
              <a:schemeClr val="accent6"/>
            </a:fillRef>
            <a:effectRef idx="0">
              <a:schemeClr val="accent6"/>
            </a:effectRef>
            <a:fontRef idx="minor">
              <a:schemeClr val="lt1"/>
            </a:fontRef>
          </p:style>
          <p:txBody>
            <a:bodyPr wrap="square" rtlCol="0" anchor="ctr">
              <a:noAutofit/>
            </a:bodyPr>
            <a:lstStyle/>
            <a:p>
              <a:pPr algn="ctr"/>
              <a:endParaRPr lang="fr-BE"/>
            </a:p>
          </p:txBody>
        </p:sp>
        <p:sp>
          <p:nvSpPr>
            <p:cNvPr id="10" name="Freeform: Shape 9">
              <a:extLst>
                <a:ext uri="{FF2B5EF4-FFF2-40B4-BE49-F238E27FC236}">
                  <a16:creationId xmlns:a16="http://schemas.microsoft.com/office/drawing/2014/main" id="{F9F5207D-F9EC-6F96-65DA-7120CD1379C4}"/>
                </a:ext>
              </a:extLst>
            </p:cNvPr>
            <p:cNvSpPr/>
            <p:nvPr/>
          </p:nvSpPr>
          <p:spPr>
            <a:xfrm rot="5400000">
              <a:off x="3743608" y="1152195"/>
              <a:ext cx="2375066" cy="2315166"/>
            </a:xfrm>
            <a:custGeom>
              <a:avLst/>
              <a:gdLst>
                <a:gd name="connsiteX0" fmla="*/ 2375066 w 2375066"/>
                <a:gd name="connsiteY0" fmla="*/ 0 h 2315166"/>
                <a:gd name="connsiteX1" fmla="*/ 2375066 w 2375066"/>
                <a:gd name="connsiteY1" fmla="*/ 448070 h 2315166"/>
                <a:gd name="connsiteX2" fmla="*/ 2371121 w 2375066"/>
                <a:gd name="connsiteY2" fmla="*/ 447869 h 2315166"/>
                <a:gd name="connsiteX3" fmla="*/ 451919 w 2375066"/>
                <a:gd name="connsiteY3" fmla="*/ 2198581 h 2315166"/>
                <a:gd name="connsiteX4" fmla="*/ 446095 w 2375066"/>
                <a:gd name="connsiteY4" fmla="*/ 2315166 h 2315166"/>
                <a:gd name="connsiteX5" fmla="*/ 0 w 2375066"/>
                <a:gd name="connsiteY5" fmla="*/ 2301412 h 2315166"/>
                <a:gd name="connsiteX6" fmla="*/ 2375066 w 2375066"/>
                <a:gd name="connsiteY6" fmla="*/ 0 h 231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5066" h="2315166">
                  <a:moveTo>
                    <a:pt x="2375066" y="0"/>
                  </a:moveTo>
                  <a:lnTo>
                    <a:pt x="2375066" y="448070"/>
                  </a:lnTo>
                  <a:lnTo>
                    <a:pt x="2371121" y="447869"/>
                  </a:lnTo>
                  <a:cubicBezTo>
                    <a:pt x="1372265" y="447869"/>
                    <a:pt x="550711" y="1215233"/>
                    <a:pt x="451919" y="2198581"/>
                  </a:cubicBezTo>
                  <a:lnTo>
                    <a:pt x="446095" y="2315166"/>
                  </a:lnTo>
                  <a:lnTo>
                    <a:pt x="0" y="2301412"/>
                  </a:lnTo>
                  <a:cubicBezTo>
                    <a:pt x="39590" y="1019056"/>
                    <a:pt x="1091259" y="0"/>
                    <a:pt x="2375066" y="0"/>
                  </a:cubicBezTo>
                  <a:close/>
                </a:path>
              </a:pathLst>
            </a:custGeom>
            <a:solidFill>
              <a:srgbClr val="004F9F"/>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BE" dirty="0"/>
            </a:p>
          </p:txBody>
        </p:sp>
        <p:sp>
          <p:nvSpPr>
            <p:cNvPr id="11" name="Freeform: Shape 10">
              <a:extLst>
                <a:ext uri="{FF2B5EF4-FFF2-40B4-BE49-F238E27FC236}">
                  <a16:creationId xmlns:a16="http://schemas.microsoft.com/office/drawing/2014/main" id="{089322D5-814E-2724-9D81-94CB13885851}"/>
                </a:ext>
              </a:extLst>
            </p:cNvPr>
            <p:cNvSpPr/>
            <p:nvPr/>
          </p:nvSpPr>
          <p:spPr>
            <a:xfrm rot="10800000">
              <a:off x="3741837" y="3584599"/>
              <a:ext cx="2375066" cy="2315166"/>
            </a:xfrm>
            <a:custGeom>
              <a:avLst/>
              <a:gdLst>
                <a:gd name="connsiteX0" fmla="*/ 2375066 w 2375066"/>
                <a:gd name="connsiteY0" fmla="*/ 0 h 2315166"/>
                <a:gd name="connsiteX1" fmla="*/ 2375066 w 2375066"/>
                <a:gd name="connsiteY1" fmla="*/ 448070 h 2315166"/>
                <a:gd name="connsiteX2" fmla="*/ 2371121 w 2375066"/>
                <a:gd name="connsiteY2" fmla="*/ 447869 h 2315166"/>
                <a:gd name="connsiteX3" fmla="*/ 451919 w 2375066"/>
                <a:gd name="connsiteY3" fmla="*/ 2198581 h 2315166"/>
                <a:gd name="connsiteX4" fmla="*/ 446095 w 2375066"/>
                <a:gd name="connsiteY4" fmla="*/ 2315166 h 2315166"/>
                <a:gd name="connsiteX5" fmla="*/ 0 w 2375066"/>
                <a:gd name="connsiteY5" fmla="*/ 2301412 h 2315166"/>
                <a:gd name="connsiteX6" fmla="*/ 2375066 w 2375066"/>
                <a:gd name="connsiteY6" fmla="*/ 0 h 231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5066" h="2315166">
                  <a:moveTo>
                    <a:pt x="2375066" y="0"/>
                  </a:moveTo>
                  <a:lnTo>
                    <a:pt x="2375066" y="448070"/>
                  </a:lnTo>
                  <a:lnTo>
                    <a:pt x="2371121" y="447869"/>
                  </a:lnTo>
                  <a:cubicBezTo>
                    <a:pt x="1372265" y="447869"/>
                    <a:pt x="550711" y="1215233"/>
                    <a:pt x="451919" y="2198581"/>
                  </a:cubicBezTo>
                  <a:lnTo>
                    <a:pt x="446095" y="2315166"/>
                  </a:lnTo>
                  <a:lnTo>
                    <a:pt x="0" y="2301412"/>
                  </a:lnTo>
                  <a:cubicBezTo>
                    <a:pt x="39590" y="1019056"/>
                    <a:pt x="1091259" y="0"/>
                    <a:pt x="2375066" y="0"/>
                  </a:cubicBezTo>
                  <a:close/>
                </a:path>
              </a:pathLst>
            </a:custGeom>
            <a:solidFill>
              <a:srgbClr val="FF0000"/>
            </a:solidFill>
            <a:ln>
              <a:solidFill>
                <a:schemeClr val="bg2"/>
              </a:solid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algn="ctr"/>
              <a:endParaRPr lang="fr-BE" dirty="0"/>
            </a:p>
          </p:txBody>
        </p:sp>
        <p:sp>
          <p:nvSpPr>
            <p:cNvPr id="12" name="Freeform: Shape 11">
              <a:extLst>
                <a:ext uri="{FF2B5EF4-FFF2-40B4-BE49-F238E27FC236}">
                  <a16:creationId xmlns:a16="http://schemas.microsoft.com/office/drawing/2014/main" id="{2E47081E-82CE-A54A-10BA-085FAE447797}"/>
                </a:ext>
              </a:extLst>
            </p:cNvPr>
            <p:cNvSpPr/>
            <p:nvPr/>
          </p:nvSpPr>
          <p:spPr>
            <a:xfrm rot="16200000">
              <a:off x="1307704" y="3551182"/>
              <a:ext cx="2375066" cy="2315166"/>
            </a:xfrm>
            <a:custGeom>
              <a:avLst/>
              <a:gdLst>
                <a:gd name="connsiteX0" fmla="*/ 2375066 w 2375066"/>
                <a:gd name="connsiteY0" fmla="*/ 0 h 2315166"/>
                <a:gd name="connsiteX1" fmla="*/ 2375066 w 2375066"/>
                <a:gd name="connsiteY1" fmla="*/ 448070 h 2315166"/>
                <a:gd name="connsiteX2" fmla="*/ 2371121 w 2375066"/>
                <a:gd name="connsiteY2" fmla="*/ 447869 h 2315166"/>
                <a:gd name="connsiteX3" fmla="*/ 451919 w 2375066"/>
                <a:gd name="connsiteY3" fmla="*/ 2198581 h 2315166"/>
                <a:gd name="connsiteX4" fmla="*/ 446095 w 2375066"/>
                <a:gd name="connsiteY4" fmla="*/ 2315166 h 2315166"/>
                <a:gd name="connsiteX5" fmla="*/ 0 w 2375066"/>
                <a:gd name="connsiteY5" fmla="*/ 2301412 h 2315166"/>
                <a:gd name="connsiteX6" fmla="*/ 2375066 w 2375066"/>
                <a:gd name="connsiteY6" fmla="*/ 0 h 231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5066" h="2315166">
                  <a:moveTo>
                    <a:pt x="2375066" y="0"/>
                  </a:moveTo>
                  <a:lnTo>
                    <a:pt x="2375066" y="448070"/>
                  </a:lnTo>
                  <a:lnTo>
                    <a:pt x="2371121" y="447869"/>
                  </a:lnTo>
                  <a:cubicBezTo>
                    <a:pt x="1372265" y="447869"/>
                    <a:pt x="550711" y="1215233"/>
                    <a:pt x="451919" y="2198581"/>
                  </a:cubicBezTo>
                  <a:lnTo>
                    <a:pt x="446095" y="2315166"/>
                  </a:lnTo>
                  <a:lnTo>
                    <a:pt x="0" y="2301412"/>
                  </a:lnTo>
                  <a:cubicBezTo>
                    <a:pt x="39590" y="1019056"/>
                    <a:pt x="1091259" y="0"/>
                    <a:pt x="2375066" y="0"/>
                  </a:cubicBezTo>
                  <a:close/>
                </a:path>
              </a:pathLst>
            </a:custGeom>
            <a:solidFill>
              <a:srgbClr val="FBB333"/>
            </a:solidFill>
            <a:ln>
              <a:solidFill>
                <a:schemeClr val="bg2"/>
              </a:solidFill>
            </a:ln>
          </p:spPr>
          <p:style>
            <a:lnRef idx="2">
              <a:schemeClr val="accent4">
                <a:shade val="15000"/>
              </a:schemeClr>
            </a:lnRef>
            <a:fillRef idx="1">
              <a:schemeClr val="accent4"/>
            </a:fillRef>
            <a:effectRef idx="0">
              <a:schemeClr val="accent4"/>
            </a:effectRef>
            <a:fontRef idx="minor">
              <a:schemeClr val="lt1"/>
            </a:fontRef>
          </p:style>
          <p:txBody>
            <a:bodyPr wrap="square" rtlCol="0" anchor="ctr">
              <a:noAutofit/>
            </a:bodyPr>
            <a:lstStyle/>
            <a:p>
              <a:pPr algn="ctr"/>
              <a:endParaRPr lang="fr-BE" dirty="0"/>
            </a:p>
          </p:txBody>
        </p:sp>
        <p:sp>
          <p:nvSpPr>
            <p:cNvPr id="3" name="Freeform: Shape 2">
              <a:extLst>
                <a:ext uri="{FF2B5EF4-FFF2-40B4-BE49-F238E27FC236}">
                  <a16:creationId xmlns:a16="http://schemas.microsoft.com/office/drawing/2014/main" id="{2AF72AEC-173A-65D3-5766-27788A81B999}"/>
                </a:ext>
              </a:extLst>
            </p:cNvPr>
            <p:cNvSpPr/>
            <p:nvPr/>
          </p:nvSpPr>
          <p:spPr>
            <a:xfrm rot="172313">
              <a:off x="3746611" y="1216339"/>
              <a:ext cx="243840" cy="251460"/>
            </a:xfrm>
            <a:custGeom>
              <a:avLst/>
              <a:gdLst>
                <a:gd name="connsiteX0" fmla="*/ 0 w 243840"/>
                <a:gd name="connsiteY0" fmla="*/ 0 h 251460"/>
                <a:gd name="connsiteX1" fmla="*/ 11430 w 243840"/>
                <a:gd name="connsiteY1" fmla="*/ 251460 h 251460"/>
                <a:gd name="connsiteX2" fmla="*/ 243840 w 243840"/>
                <a:gd name="connsiteY2" fmla="*/ 140970 h 251460"/>
                <a:gd name="connsiteX3" fmla="*/ 0 w 243840"/>
                <a:gd name="connsiteY3" fmla="*/ 0 h 251460"/>
              </a:gdLst>
              <a:ahLst/>
              <a:cxnLst>
                <a:cxn ang="0">
                  <a:pos x="connsiteX0" y="connsiteY0"/>
                </a:cxn>
                <a:cxn ang="0">
                  <a:pos x="connsiteX1" y="connsiteY1"/>
                </a:cxn>
                <a:cxn ang="0">
                  <a:pos x="connsiteX2" y="connsiteY2"/>
                </a:cxn>
                <a:cxn ang="0">
                  <a:pos x="connsiteX3" y="connsiteY3"/>
                </a:cxn>
              </a:cxnLst>
              <a:rect l="l" t="t" r="r" b="b"/>
              <a:pathLst>
                <a:path w="243840" h="251460">
                  <a:moveTo>
                    <a:pt x="0" y="0"/>
                  </a:moveTo>
                  <a:lnTo>
                    <a:pt x="11430" y="251460"/>
                  </a:lnTo>
                  <a:lnTo>
                    <a:pt x="243840" y="140970"/>
                  </a:lnTo>
                  <a:lnTo>
                    <a:pt x="0" y="0"/>
                  </a:lnTo>
                  <a:close/>
                </a:path>
              </a:pathLst>
            </a:custGeom>
            <a:solidFill>
              <a:srgbClr val="95C11F"/>
            </a:solidFill>
            <a:ln>
              <a:solidFill>
                <a:schemeClr val="bg2"/>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fr-BE"/>
            </a:p>
          </p:txBody>
        </p:sp>
        <p:sp>
          <p:nvSpPr>
            <p:cNvPr id="4" name="Freeform: Shape 3">
              <a:extLst>
                <a:ext uri="{FF2B5EF4-FFF2-40B4-BE49-F238E27FC236}">
                  <a16:creationId xmlns:a16="http://schemas.microsoft.com/office/drawing/2014/main" id="{644567C4-FC3D-599D-758B-93299FD66B83}"/>
                </a:ext>
              </a:extLst>
            </p:cNvPr>
            <p:cNvSpPr/>
            <p:nvPr/>
          </p:nvSpPr>
          <p:spPr>
            <a:xfrm rot="16350401">
              <a:off x="1446085" y="3264982"/>
              <a:ext cx="243840" cy="251460"/>
            </a:xfrm>
            <a:custGeom>
              <a:avLst/>
              <a:gdLst>
                <a:gd name="connsiteX0" fmla="*/ 0 w 243840"/>
                <a:gd name="connsiteY0" fmla="*/ 0 h 251460"/>
                <a:gd name="connsiteX1" fmla="*/ 11430 w 243840"/>
                <a:gd name="connsiteY1" fmla="*/ 251460 h 251460"/>
                <a:gd name="connsiteX2" fmla="*/ 243840 w 243840"/>
                <a:gd name="connsiteY2" fmla="*/ 140970 h 251460"/>
                <a:gd name="connsiteX3" fmla="*/ 0 w 243840"/>
                <a:gd name="connsiteY3" fmla="*/ 0 h 251460"/>
              </a:gdLst>
              <a:ahLst/>
              <a:cxnLst>
                <a:cxn ang="0">
                  <a:pos x="connsiteX0" y="connsiteY0"/>
                </a:cxn>
                <a:cxn ang="0">
                  <a:pos x="connsiteX1" y="connsiteY1"/>
                </a:cxn>
                <a:cxn ang="0">
                  <a:pos x="connsiteX2" y="connsiteY2"/>
                </a:cxn>
                <a:cxn ang="0">
                  <a:pos x="connsiteX3" y="connsiteY3"/>
                </a:cxn>
              </a:cxnLst>
              <a:rect l="l" t="t" r="r" b="b"/>
              <a:pathLst>
                <a:path w="243840" h="251460">
                  <a:moveTo>
                    <a:pt x="0" y="0"/>
                  </a:moveTo>
                  <a:lnTo>
                    <a:pt x="11430" y="251460"/>
                  </a:lnTo>
                  <a:lnTo>
                    <a:pt x="243840" y="140970"/>
                  </a:lnTo>
                  <a:lnTo>
                    <a:pt x="0" y="0"/>
                  </a:lnTo>
                  <a:close/>
                </a:path>
              </a:pathLst>
            </a:custGeom>
            <a:solidFill>
              <a:srgbClr val="FBB333"/>
            </a:solidFill>
            <a:ln>
              <a:solidFill>
                <a:schemeClr val="bg2"/>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fr-BE"/>
            </a:p>
          </p:txBody>
        </p:sp>
        <p:sp>
          <p:nvSpPr>
            <p:cNvPr id="5" name="Freeform: Shape 4">
              <a:extLst>
                <a:ext uri="{FF2B5EF4-FFF2-40B4-BE49-F238E27FC236}">
                  <a16:creationId xmlns:a16="http://schemas.microsoft.com/office/drawing/2014/main" id="{19635A7E-68C5-4339-EBF3-26B685EBB298}"/>
                </a:ext>
              </a:extLst>
            </p:cNvPr>
            <p:cNvSpPr/>
            <p:nvPr/>
          </p:nvSpPr>
          <p:spPr>
            <a:xfrm rot="5554809">
              <a:off x="5757965" y="3505474"/>
              <a:ext cx="243840" cy="251460"/>
            </a:xfrm>
            <a:custGeom>
              <a:avLst/>
              <a:gdLst>
                <a:gd name="connsiteX0" fmla="*/ 0 w 243840"/>
                <a:gd name="connsiteY0" fmla="*/ 0 h 251460"/>
                <a:gd name="connsiteX1" fmla="*/ 11430 w 243840"/>
                <a:gd name="connsiteY1" fmla="*/ 251460 h 251460"/>
                <a:gd name="connsiteX2" fmla="*/ 243840 w 243840"/>
                <a:gd name="connsiteY2" fmla="*/ 140970 h 251460"/>
                <a:gd name="connsiteX3" fmla="*/ 0 w 243840"/>
                <a:gd name="connsiteY3" fmla="*/ 0 h 251460"/>
              </a:gdLst>
              <a:ahLst/>
              <a:cxnLst>
                <a:cxn ang="0">
                  <a:pos x="connsiteX0" y="connsiteY0"/>
                </a:cxn>
                <a:cxn ang="0">
                  <a:pos x="connsiteX1" y="connsiteY1"/>
                </a:cxn>
                <a:cxn ang="0">
                  <a:pos x="connsiteX2" y="connsiteY2"/>
                </a:cxn>
                <a:cxn ang="0">
                  <a:pos x="connsiteX3" y="connsiteY3"/>
                </a:cxn>
              </a:cxnLst>
              <a:rect l="l" t="t" r="r" b="b"/>
              <a:pathLst>
                <a:path w="243840" h="251460">
                  <a:moveTo>
                    <a:pt x="0" y="0"/>
                  </a:moveTo>
                  <a:lnTo>
                    <a:pt x="11430" y="251460"/>
                  </a:lnTo>
                  <a:lnTo>
                    <a:pt x="243840" y="140970"/>
                  </a:lnTo>
                  <a:lnTo>
                    <a:pt x="0" y="0"/>
                  </a:lnTo>
                  <a:close/>
                </a:path>
              </a:pathLst>
            </a:custGeom>
            <a:solidFill>
              <a:srgbClr val="004F9F"/>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E"/>
            </a:p>
          </p:txBody>
        </p:sp>
        <p:sp>
          <p:nvSpPr>
            <p:cNvPr id="6" name="Freeform: Shape 5">
              <a:extLst>
                <a:ext uri="{FF2B5EF4-FFF2-40B4-BE49-F238E27FC236}">
                  <a16:creationId xmlns:a16="http://schemas.microsoft.com/office/drawing/2014/main" id="{49C11CEC-8C69-8084-5130-AFCE555D7CB8}"/>
                </a:ext>
              </a:extLst>
            </p:cNvPr>
            <p:cNvSpPr/>
            <p:nvPr/>
          </p:nvSpPr>
          <p:spPr>
            <a:xfrm rot="11090599">
              <a:off x="3475936" y="5562625"/>
              <a:ext cx="243840" cy="251460"/>
            </a:xfrm>
            <a:custGeom>
              <a:avLst/>
              <a:gdLst>
                <a:gd name="connsiteX0" fmla="*/ 0 w 243840"/>
                <a:gd name="connsiteY0" fmla="*/ 0 h 251460"/>
                <a:gd name="connsiteX1" fmla="*/ 11430 w 243840"/>
                <a:gd name="connsiteY1" fmla="*/ 251460 h 251460"/>
                <a:gd name="connsiteX2" fmla="*/ 243840 w 243840"/>
                <a:gd name="connsiteY2" fmla="*/ 140970 h 251460"/>
                <a:gd name="connsiteX3" fmla="*/ 0 w 243840"/>
                <a:gd name="connsiteY3" fmla="*/ 0 h 251460"/>
              </a:gdLst>
              <a:ahLst/>
              <a:cxnLst>
                <a:cxn ang="0">
                  <a:pos x="connsiteX0" y="connsiteY0"/>
                </a:cxn>
                <a:cxn ang="0">
                  <a:pos x="connsiteX1" y="connsiteY1"/>
                </a:cxn>
                <a:cxn ang="0">
                  <a:pos x="connsiteX2" y="connsiteY2"/>
                </a:cxn>
                <a:cxn ang="0">
                  <a:pos x="connsiteX3" y="connsiteY3"/>
                </a:cxn>
              </a:cxnLst>
              <a:rect l="l" t="t" r="r" b="b"/>
              <a:pathLst>
                <a:path w="243840" h="251460">
                  <a:moveTo>
                    <a:pt x="0" y="0"/>
                  </a:moveTo>
                  <a:lnTo>
                    <a:pt x="11430" y="251460"/>
                  </a:lnTo>
                  <a:lnTo>
                    <a:pt x="243840" y="140970"/>
                  </a:lnTo>
                  <a:lnTo>
                    <a:pt x="0" y="0"/>
                  </a:lnTo>
                  <a:close/>
                </a:path>
              </a:pathLst>
            </a:custGeom>
            <a:solidFill>
              <a:srgbClr val="FF0000"/>
            </a:solidFill>
            <a:ln>
              <a:solidFill>
                <a:schemeClr val="bg2"/>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fr-BE"/>
            </a:p>
          </p:txBody>
        </p:sp>
        <p:grpSp>
          <p:nvGrpSpPr>
            <p:cNvPr id="22539" name="Group 22538">
              <a:extLst>
                <a:ext uri="{FF2B5EF4-FFF2-40B4-BE49-F238E27FC236}">
                  <a16:creationId xmlns:a16="http://schemas.microsoft.com/office/drawing/2014/main" id="{94554B80-0B30-F627-12EA-99B5E0D4DA3B}"/>
                </a:ext>
              </a:extLst>
            </p:cNvPr>
            <p:cNvGrpSpPr/>
            <p:nvPr/>
          </p:nvGrpSpPr>
          <p:grpSpPr>
            <a:xfrm>
              <a:off x="2445744" y="2223247"/>
              <a:ext cx="2553392" cy="2627801"/>
              <a:chOff x="2445744" y="2223247"/>
              <a:chExt cx="2553392" cy="2627801"/>
            </a:xfrm>
          </p:grpSpPr>
          <p:sp>
            <p:nvSpPr>
              <p:cNvPr id="22537" name="Freeform: Shape 22536">
                <a:extLst>
                  <a:ext uri="{FF2B5EF4-FFF2-40B4-BE49-F238E27FC236}">
                    <a16:creationId xmlns:a16="http://schemas.microsoft.com/office/drawing/2014/main" id="{B270752A-2810-9B43-FAA4-345FB0523FE2}"/>
                  </a:ext>
                </a:extLst>
              </p:cNvPr>
              <p:cNvSpPr/>
              <p:nvPr/>
            </p:nvSpPr>
            <p:spPr>
              <a:xfrm rot="15745331">
                <a:off x="2419714" y="2271627"/>
                <a:ext cx="2605451" cy="2553392"/>
              </a:xfrm>
              <a:custGeom>
                <a:avLst/>
                <a:gdLst>
                  <a:gd name="connsiteX0" fmla="*/ 2599592 w 2605451"/>
                  <a:gd name="connsiteY0" fmla="*/ 1398411 h 2553392"/>
                  <a:gd name="connsiteX1" fmla="*/ 1432216 w 2605451"/>
                  <a:gd name="connsiteY1" fmla="*/ 2547009 h 2553392"/>
                  <a:gd name="connsiteX2" fmla="*/ 28020 w 2605451"/>
                  <a:gd name="connsiteY2" fmla="*/ 1539210 h 2553392"/>
                  <a:gd name="connsiteX3" fmla="*/ 919354 w 2605451"/>
                  <a:gd name="connsiteY3" fmla="*/ 56786 h 2553392"/>
                  <a:gd name="connsiteX4" fmla="*/ 2495693 w 2605451"/>
                  <a:gd name="connsiteY4" fmla="*/ 763892 h 2553392"/>
                  <a:gd name="connsiteX5" fmla="*/ 2220909 w 2605451"/>
                  <a:gd name="connsiteY5" fmla="*/ 882036 h 2553392"/>
                  <a:gd name="connsiteX6" fmla="*/ 2214192 w 2605451"/>
                  <a:gd name="connsiteY6" fmla="*/ 867462 h 2553392"/>
                  <a:gd name="connsiteX7" fmla="*/ 1463685 w 2605451"/>
                  <a:gd name="connsiteY7" fmla="*/ 349247 h 2553392"/>
                  <a:gd name="connsiteX8" fmla="*/ 368606 w 2605451"/>
                  <a:gd name="connsiteY8" fmla="*/ 1152487 h 2553392"/>
                  <a:gd name="connsiteX9" fmla="*/ 1215597 w 2605451"/>
                  <a:gd name="connsiteY9" fmla="*/ 2214089 h 2553392"/>
                  <a:gd name="connsiteX10" fmla="*/ 2310676 w 2605451"/>
                  <a:gd name="connsiteY10" fmla="*/ 1410849 h 2553392"/>
                  <a:gd name="connsiteX11" fmla="*/ 2318345 w 2605451"/>
                  <a:gd name="connsiteY11" fmla="*/ 1314848 h 2553392"/>
                  <a:gd name="connsiteX12" fmla="*/ 2317379 w 2605451"/>
                  <a:gd name="connsiteY12" fmla="*/ 1276770 h 2553392"/>
                  <a:gd name="connsiteX13" fmla="*/ 2605451 w 2605451"/>
                  <a:gd name="connsiteY13" fmla="*/ 1276770 h 2553392"/>
                  <a:gd name="connsiteX14" fmla="*/ 2599592 w 2605451"/>
                  <a:gd name="connsiteY14" fmla="*/ 1398411 h 255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05451" h="2553392">
                    <a:moveTo>
                      <a:pt x="2599592" y="1398411"/>
                    </a:moveTo>
                    <a:cubicBezTo>
                      <a:pt x="2541427" y="1999441"/>
                      <a:pt x="2056594" y="2485927"/>
                      <a:pt x="1432216" y="2547009"/>
                    </a:cubicBezTo>
                    <a:cubicBezTo>
                      <a:pt x="770214" y="2611771"/>
                      <a:pt x="164794" y="2177258"/>
                      <a:pt x="28020" y="1539210"/>
                    </a:cubicBezTo>
                    <a:cubicBezTo>
                      <a:pt x="-110375" y="893597"/>
                      <a:pt x="276003" y="250990"/>
                      <a:pt x="919354" y="56786"/>
                    </a:cubicBezTo>
                    <a:cubicBezTo>
                      <a:pt x="1551801" y="-134128"/>
                      <a:pt x="2229813" y="170011"/>
                      <a:pt x="2495693" y="763892"/>
                    </a:cubicBezTo>
                    <a:lnTo>
                      <a:pt x="2220909" y="882036"/>
                    </a:lnTo>
                    <a:lnTo>
                      <a:pt x="2214192" y="867462"/>
                    </a:lnTo>
                    <a:cubicBezTo>
                      <a:pt x="2072686" y="596221"/>
                      <a:pt x="1798865" y="393837"/>
                      <a:pt x="1463685" y="349247"/>
                    </a:cubicBezTo>
                    <a:cubicBezTo>
                      <a:pt x="927397" y="277902"/>
                      <a:pt x="437113" y="637525"/>
                      <a:pt x="368606" y="1152487"/>
                    </a:cubicBezTo>
                    <a:cubicBezTo>
                      <a:pt x="300098" y="1667449"/>
                      <a:pt x="679308" y="2142744"/>
                      <a:pt x="1215597" y="2214089"/>
                    </a:cubicBezTo>
                    <a:cubicBezTo>
                      <a:pt x="1751885" y="2285434"/>
                      <a:pt x="2242168" y="1925811"/>
                      <a:pt x="2310676" y="1410849"/>
                    </a:cubicBezTo>
                    <a:cubicBezTo>
                      <a:pt x="2314957" y="1378664"/>
                      <a:pt x="2317490" y="1346634"/>
                      <a:pt x="2318345" y="1314848"/>
                    </a:cubicBezTo>
                    <a:lnTo>
                      <a:pt x="2317379" y="1276770"/>
                    </a:lnTo>
                    <a:lnTo>
                      <a:pt x="2605451" y="1276770"/>
                    </a:lnTo>
                    <a:cubicBezTo>
                      <a:pt x="2605451" y="1317765"/>
                      <a:pt x="2603470" y="1358342"/>
                      <a:pt x="2599592" y="1398411"/>
                    </a:cubicBezTo>
                    <a:close/>
                  </a:path>
                </a:pathLst>
              </a:cu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BE">
                  <a:solidFill>
                    <a:schemeClr val="tx1"/>
                  </a:solidFill>
                </a:endParaRPr>
              </a:p>
            </p:txBody>
          </p:sp>
          <p:sp>
            <p:nvSpPr>
              <p:cNvPr id="22538" name="Freeform: Shape 22537">
                <a:extLst>
                  <a:ext uri="{FF2B5EF4-FFF2-40B4-BE49-F238E27FC236}">
                    <a16:creationId xmlns:a16="http://schemas.microsoft.com/office/drawing/2014/main" id="{A86656AE-24CD-B0F3-25BB-C0A9EFF0D993}"/>
                  </a:ext>
                </a:extLst>
              </p:cNvPr>
              <p:cNvSpPr/>
              <p:nvPr/>
            </p:nvSpPr>
            <p:spPr>
              <a:xfrm>
                <a:off x="3036047" y="2223247"/>
                <a:ext cx="406400" cy="735106"/>
              </a:xfrm>
              <a:custGeom>
                <a:avLst/>
                <a:gdLst>
                  <a:gd name="connsiteX0" fmla="*/ 0 w 406400"/>
                  <a:gd name="connsiteY0" fmla="*/ 0 h 735106"/>
                  <a:gd name="connsiteX1" fmla="*/ 149412 w 406400"/>
                  <a:gd name="connsiteY1" fmla="*/ 735106 h 735106"/>
                  <a:gd name="connsiteX2" fmla="*/ 406400 w 406400"/>
                  <a:gd name="connsiteY2" fmla="*/ 221129 h 735106"/>
                  <a:gd name="connsiteX3" fmla="*/ 0 w 406400"/>
                  <a:gd name="connsiteY3" fmla="*/ 0 h 735106"/>
                </a:gdLst>
                <a:ahLst/>
                <a:cxnLst>
                  <a:cxn ang="0">
                    <a:pos x="connsiteX0" y="connsiteY0"/>
                  </a:cxn>
                  <a:cxn ang="0">
                    <a:pos x="connsiteX1" y="connsiteY1"/>
                  </a:cxn>
                  <a:cxn ang="0">
                    <a:pos x="connsiteX2" y="connsiteY2"/>
                  </a:cxn>
                  <a:cxn ang="0">
                    <a:pos x="connsiteX3" y="connsiteY3"/>
                  </a:cxn>
                </a:cxnLst>
                <a:rect l="l" t="t" r="r" b="b"/>
                <a:pathLst>
                  <a:path w="406400" h="735106">
                    <a:moveTo>
                      <a:pt x="0" y="0"/>
                    </a:moveTo>
                    <a:lnTo>
                      <a:pt x="149412" y="735106"/>
                    </a:lnTo>
                    <a:lnTo>
                      <a:pt x="406400" y="221129"/>
                    </a:lnTo>
                    <a:lnTo>
                      <a:pt x="0" y="0"/>
                    </a:lnTo>
                    <a:close/>
                  </a:path>
                </a:pathLst>
              </a:cu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E"/>
              </a:p>
            </p:txBody>
          </p:sp>
        </p:grpSp>
      </p:grpSp>
      <p:sp>
        <p:nvSpPr>
          <p:cNvPr id="22535" name="Rectangle 22534">
            <a:extLst>
              <a:ext uri="{FF2B5EF4-FFF2-40B4-BE49-F238E27FC236}">
                <a16:creationId xmlns:a16="http://schemas.microsoft.com/office/drawing/2014/main" id="{73B48C70-F2C5-C930-E40C-82658CD9E266}"/>
              </a:ext>
            </a:extLst>
          </p:cNvPr>
          <p:cNvSpPr/>
          <p:nvPr/>
        </p:nvSpPr>
        <p:spPr>
          <a:xfrm>
            <a:off x="4903652" y="1536986"/>
            <a:ext cx="553357" cy="923330"/>
          </a:xfrm>
          <a:prstGeom prst="rect">
            <a:avLst/>
          </a:prstGeom>
          <a:noFill/>
        </p:spPr>
        <p:txBody>
          <a:bodyPr wrap="none" lIns="91440" tIns="45720" rIns="91440" bIns="45720">
            <a:spAutoFit/>
          </a:bodyPr>
          <a:lstStyle/>
          <a:p>
            <a:pPr algn="ctr"/>
            <a:r>
              <a:rPr lang="fr-BE"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P</a:t>
            </a:r>
          </a:p>
        </p:txBody>
      </p:sp>
      <p:sp>
        <p:nvSpPr>
          <p:cNvPr id="22541" name="Rectangle 22540">
            <a:extLst>
              <a:ext uri="{FF2B5EF4-FFF2-40B4-BE49-F238E27FC236}">
                <a16:creationId xmlns:a16="http://schemas.microsoft.com/office/drawing/2014/main" id="{8C486B56-E50D-42FF-5FE1-6379335FF51A}"/>
              </a:ext>
            </a:extLst>
          </p:cNvPr>
          <p:cNvSpPr/>
          <p:nvPr/>
        </p:nvSpPr>
        <p:spPr>
          <a:xfrm>
            <a:off x="4848076" y="4575688"/>
            <a:ext cx="620684" cy="923330"/>
          </a:xfrm>
          <a:prstGeom prst="rect">
            <a:avLst/>
          </a:prstGeom>
          <a:noFill/>
        </p:spPr>
        <p:txBody>
          <a:bodyPr wrap="none" lIns="91440" tIns="45720" rIns="91440" bIns="45720">
            <a:spAutoFit/>
          </a:bodyPr>
          <a:lstStyle/>
          <a:p>
            <a:pPr algn="ctr"/>
            <a:r>
              <a:rPr lang="fr-BE"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D</a:t>
            </a:r>
          </a:p>
        </p:txBody>
      </p:sp>
      <p:sp>
        <p:nvSpPr>
          <p:cNvPr id="22542" name="Rectangle 22541">
            <a:extLst>
              <a:ext uri="{FF2B5EF4-FFF2-40B4-BE49-F238E27FC236}">
                <a16:creationId xmlns:a16="http://schemas.microsoft.com/office/drawing/2014/main" id="{A090614F-F0EE-74A1-4934-5C6E45BDF8A1}"/>
              </a:ext>
            </a:extLst>
          </p:cNvPr>
          <p:cNvSpPr/>
          <p:nvPr/>
        </p:nvSpPr>
        <p:spPr>
          <a:xfrm>
            <a:off x="1968845" y="4547323"/>
            <a:ext cx="551753" cy="923330"/>
          </a:xfrm>
          <a:prstGeom prst="rect">
            <a:avLst/>
          </a:prstGeom>
          <a:noFill/>
        </p:spPr>
        <p:txBody>
          <a:bodyPr wrap="none" lIns="91440" tIns="45720" rIns="91440" bIns="45720">
            <a:spAutoFit/>
          </a:bodyPr>
          <a:lstStyle/>
          <a:p>
            <a:pPr algn="ctr"/>
            <a:r>
              <a:rPr lang="fr-BE"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C</a:t>
            </a:r>
          </a:p>
        </p:txBody>
      </p:sp>
      <p:sp>
        <p:nvSpPr>
          <p:cNvPr id="22543" name="Rectangle 22542">
            <a:extLst>
              <a:ext uri="{FF2B5EF4-FFF2-40B4-BE49-F238E27FC236}">
                <a16:creationId xmlns:a16="http://schemas.microsoft.com/office/drawing/2014/main" id="{1E4AD8A4-323B-535B-E25E-8B0A7547EB74}"/>
              </a:ext>
            </a:extLst>
          </p:cNvPr>
          <p:cNvSpPr/>
          <p:nvPr/>
        </p:nvSpPr>
        <p:spPr>
          <a:xfrm>
            <a:off x="1929592" y="1532312"/>
            <a:ext cx="604654" cy="923330"/>
          </a:xfrm>
          <a:prstGeom prst="rect">
            <a:avLst/>
          </a:prstGeom>
          <a:noFill/>
        </p:spPr>
        <p:txBody>
          <a:bodyPr wrap="none" lIns="91440" tIns="45720" rIns="91440" bIns="45720">
            <a:spAutoFit/>
          </a:bodyPr>
          <a:lstStyle/>
          <a:p>
            <a:pPr algn="ctr"/>
            <a:r>
              <a:rPr lang="fr-BE"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A</a:t>
            </a:r>
          </a:p>
        </p:txBody>
      </p:sp>
      <p:sp>
        <p:nvSpPr>
          <p:cNvPr id="22544" name="TextBox 22543">
            <a:extLst>
              <a:ext uri="{FF2B5EF4-FFF2-40B4-BE49-F238E27FC236}">
                <a16:creationId xmlns:a16="http://schemas.microsoft.com/office/drawing/2014/main" id="{C9980993-F07E-F186-3B88-6C20764B09C1}"/>
              </a:ext>
            </a:extLst>
          </p:cNvPr>
          <p:cNvSpPr txBox="1"/>
          <p:nvPr/>
        </p:nvSpPr>
        <p:spPr>
          <a:xfrm>
            <a:off x="4421348" y="2223247"/>
            <a:ext cx="898836" cy="523220"/>
          </a:xfrm>
          <a:prstGeom prst="rect">
            <a:avLst/>
          </a:prstGeom>
          <a:noFill/>
        </p:spPr>
        <p:txBody>
          <a:bodyPr wrap="none" rtlCol="0">
            <a:spAutoFit/>
          </a:bodyPr>
          <a:lstStyle/>
          <a:p>
            <a:pPr algn="ctr"/>
            <a:r>
              <a:rPr lang="fr-BE" sz="1400" dirty="0"/>
              <a:t>Plan</a:t>
            </a:r>
          </a:p>
          <a:p>
            <a:pPr algn="ctr"/>
            <a:r>
              <a:rPr lang="fr-BE" sz="1400" dirty="0"/>
              <a:t>(Concept)</a:t>
            </a:r>
          </a:p>
        </p:txBody>
      </p:sp>
      <p:sp>
        <p:nvSpPr>
          <p:cNvPr id="22545" name="TextBox 22544">
            <a:extLst>
              <a:ext uri="{FF2B5EF4-FFF2-40B4-BE49-F238E27FC236}">
                <a16:creationId xmlns:a16="http://schemas.microsoft.com/office/drawing/2014/main" id="{AA191746-349B-4233-BC8F-9B47013E0B83}"/>
              </a:ext>
            </a:extLst>
          </p:cNvPr>
          <p:cNvSpPr txBox="1"/>
          <p:nvPr/>
        </p:nvSpPr>
        <p:spPr>
          <a:xfrm>
            <a:off x="4289381" y="4002299"/>
            <a:ext cx="1191929" cy="738664"/>
          </a:xfrm>
          <a:prstGeom prst="rect">
            <a:avLst/>
          </a:prstGeom>
          <a:noFill/>
        </p:spPr>
        <p:txBody>
          <a:bodyPr wrap="none" rtlCol="0">
            <a:spAutoFit/>
          </a:bodyPr>
          <a:lstStyle/>
          <a:p>
            <a:pPr algn="ctr"/>
            <a:r>
              <a:rPr lang="fr-BE" sz="1400" dirty="0" err="1"/>
              <a:t>Implement</a:t>
            </a:r>
            <a:endParaRPr lang="fr-BE" sz="1400" dirty="0"/>
          </a:p>
          <a:p>
            <a:pPr algn="ctr"/>
            <a:r>
              <a:rPr lang="fr-BE" sz="1400" dirty="0"/>
              <a:t>(Acquisition)</a:t>
            </a:r>
          </a:p>
          <a:p>
            <a:pPr algn="ctr"/>
            <a:r>
              <a:rPr lang="fr-BE" sz="1400" dirty="0"/>
              <a:t>(</a:t>
            </a:r>
            <a:r>
              <a:rPr lang="fr-BE" sz="1400" dirty="0" err="1"/>
              <a:t>Deployment</a:t>
            </a:r>
            <a:r>
              <a:rPr lang="fr-BE" sz="1400" dirty="0"/>
              <a:t>)</a:t>
            </a:r>
          </a:p>
        </p:txBody>
      </p:sp>
      <p:sp>
        <p:nvSpPr>
          <p:cNvPr id="22546" name="TextBox 22545">
            <a:extLst>
              <a:ext uri="{FF2B5EF4-FFF2-40B4-BE49-F238E27FC236}">
                <a16:creationId xmlns:a16="http://schemas.microsoft.com/office/drawing/2014/main" id="{F6B55017-7F71-0E6C-E570-E4ECB685E693}"/>
              </a:ext>
            </a:extLst>
          </p:cNvPr>
          <p:cNvSpPr txBox="1"/>
          <p:nvPr/>
        </p:nvSpPr>
        <p:spPr>
          <a:xfrm>
            <a:off x="2014186" y="4113737"/>
            <a:ext cx="950260" cy="523220"/>
          </a:xfrm>
          <a:prstGeom prst="rect">
            <a:avLst/>
          </a:prstGeom>
          <a:noFill/>
        </p:spPr>
        <p:txBody>
          <a:bodyPr wrap="none" rtlCol="0">
            <a:spAutoFit/>
          </a:bodyPr>
          <a:lstStyle/>
          <a:p>
            <a:pPr algn="ctr"/>
            <a:r>
              <a:rPr lang="fr-BE" sz="1400" dirty="0" err="1"/>
              <a:t>Operate</a:t>
            </a:r>
            <a:endParaRPr lang="fr-BE" sz="1400" dirty="0"/>
          </a:p>
          <a:p>
            <a:pPr algn="ctr"/>
            <a:r>
              <a:rPr lang="fr-BE" sz="1400" dirty="0"/>
              <a:t>(</a:t>
            </a:r>
            <a:r>
              <a:rPr lang="fr-BE" sz="1400" dirty="0" err="1"/>
              <a:t>Maintain</a:t>
            </a:r>
            <a:r>
              <a:rPr lang="fr-BE" sz="1400" dirty="0"/>
              <a:t>)</a:t>
            </a:r>
          </a:p>
        </p:txBody>
      </p:sp>
      <p:sp>
        <p:nvSpPr>
          <p:cNvPr id="22547" name="TextBox 22546">
            <a:extLst>
              <a:ext uri="{FF2B5EF4-FFF2-40B4-BE49-F238E27FC236}">
                <a16:creationId xmlns:a16="http://schemas.microsoft.com/office/drawing/2014/main" id="{E66D125E-F910-B7BC-E0A3-6781C7D9ACE6}"/>
              </a:ext>
            </a:extLst>
          </p:cNvPr>
          <p:cNvSpPr txBox="1"/>
          <p:nvPr/>
        </p:nvSpPr>
        <p:spPr>
          <a:xfrm>
            <a:off x="2010339" y="2275300"/>
            <a:ext cx="954107" cy="523220"/>
          </a:xfrm>
          <a:prstGeom prst="rect">
            <a:avLst/>
          </a:prstGeom>
          <a:noFill/>
        </p:spPr>
        <p:txBody>
          <a:bodyPr wrap="none" rtlCol="0">
            <a:spAutoFit/>
          </a:bodyPr>
          <a:lstStyle/>
          <a:p>
            <a:pPr algn="ctr"/>
            <a:r>
              <a:rPr lang="fr-BE" sz="1400" dirty="0" err="1"/>
              <a:t>Improve</a:t>
            </a:r>
            <a:endParaRPr lang="fr-BE" sz="1400" dirty="0"/>
          </a:p>
          <a:p>
            <a:pPr algn="ctr"/>
            <a:r>
              <a:rPr lang="fr-BE" sz="1400" dirty="0"/>
              <a:t>or Dispose</a:t>
            </a:r>
          </a:p>
        </p:txBody>
      </p:sp>
      <p:sp>
        <p:nvSpPr>
          <p:cNvPr id="13" name="TextBox 12">
            <a:extLst>
              <a:ext uri="{FF2B5EF4-FFF2-40B4-BE49-F238E27FC236}">
                <a16:creationId xmlns:a16="http://schemas.microsoft.com/office/drawing/2014/main" id="{0E784B53-1244-EA8B-17AB-835AE0F1A590}"/>
              </a:ext>
            </a:extLst>
          </p:cNvPr>
          <p:cNvSpPr txBox="1"/>
          <p:nvPr/>
        </p:nvSpPr>
        <p:spPr>
          <a:xfrm>
            <a:off x="7365556" y="135791"/>
            <a:ext cx="4826444" cy="6586418"/>
          </a:xfrm>
          <a:prstGeom prst="rect">
            <a:avLst/>
          </a:prstGeom>
          <a:noFill/>
        </p:spPr>
        <p:txBody>
          <a:bodyPr wrap="square">
            <a:spAutoFit/>
          </a:bodyPr>
          <a:lstStyle/>
          <a:p>
            <a:r>
              <a:rPr lang="fr-BE" sz="2000" b="1" dirty="0"/>
              <a:t>1st Line </a:t>
            </a:r>
            <a:r>
              <a:rPr lang="fr-BE" sz="2000" b="1" dirty="0">
                <a:solidFill>
                  <a:schemeClr val="tx2">
                    <a:lumMod val="50000"/>
                    <a:lumOff val="50000"/>
                  </a:schemeClr>
                </a:solidFill>
              </a:rPr>
              <a:t>Of </a:t>
            </a:r>
            <a:r>
              <a:rPr lang="fr-BE" sz="2000" b="1" dirty="0" err="1">
                <a:solidFill>
                  <a:schemeClr val="tx2">
                    <a:lumMod val="50000"/>
                    <a:lumOff val="50000"/>
                  </a:schemeClr>
                </a:solidFill>
              </a:rPr>
              <a:t>Defense</a:t>
            </a:r>
            <a:r>
              <a:rPr lang="fr-BE" sz="2000" b="1" dirty="0">
                <a:solidFill>
                  <a:schemeClr val="tx2">
                    <a:lumMod val="50000"/>
                    <a:lumOff val="50000"/>
                  </a:schemeClr>
                </a:solidFill>
              </a:rPr>
              <a:t> (LOD-1)</a:t>
            </a:r>
          </a:p>
          <a:p>
            <a:endParaRPr lang="fr-BE" sz="600" dirty="0"/>
          </a:p>
          <a:p>
            <a:r>
              <a:rPr lang="fr-BE" sz="1400" u="sng" dirty="0">
                <a:solidFill>
                  <a:srgbClr val="00B0F0"/>
                </a:solidFill>
              </a:rPr>
              <a:t>ESSENTIAL</a:t>
            </a:r>
          </a:p>
          <a:p>
            <a:r>
              <a:rPr lang="fr-BE" sz="1400" b="1" dirty="0">
                <a:solidFill>
                  <a:srgbClr val="CB0538"/>
                </a:solidFill>
              </a:rPr>
              <a:t>Cyber Incident </a:t>
            </a:r>
            <a:r>
              <a:rPr lang="fr-BE" sz="1400" b="1" dirty="0" err="1">
                <a:solidFill>
                  <a:srgbClr val="CB0538"/>
                </a:solidFill>
              </a:rPr>
              <a:t>Responder</a:t>
            </a:r>
            <a:r>
              <a:rPr lang="fr-BE" sz="1400" b="1" dirty="0">
                <a:solidFill>
                  <a:srgbClr val="CB0538"/>
                </a:solidFill>
              </a:rPr>
              <a:t> </a:t>
            </a:r>
            <a:r>
              <a:rPr lang="fr-BE" sz="1400" dirty="0"/>
              <a:t>(Art. 23)</a:t>
            </a:r>
          </a:p>
          <a:p>
            <a:r>
              <a:rPr lang="fr-BE" sz="1400" b="1" dirty="0" err="1">
                <a:solidFill>
                  <a:srgbClr val="004F9F"/>
                </a:solidFill>
              </a:rPr>
              <a:t>Cybersecurity</a:t>
            </a:r>
            <a:r>
              <a:rPr lang="fr-BE" sz="1400" b="1" dirty="0">
                <a:solidFill>
                  <a:srgbClr val="004F9F"/>
                </a:solidFill>
              </a:rPr>
              <a:t> </a:t>
            </a:r>
            <a:r>
              <a:rPr lang="fr-BE" sz="1400" b="1" dirty="0" err="1">
                <a:solidFill>
                  <a:srgbClr val="004F9F"/>
                </a:solidFill>
              </a:rPr>
              <a:t>Implementer</a:t>
            </a:r>
            <a:r>
              <a:rPr lang="fr-BE" sz="1400" b="1" dirty="0">
                <a:solidFill>
                  <a:srgbClr val="004F9F"/>
                </a:solidFill>
              </a:rPr>
              <a:t> </a:t>
            </a:r>
            <a:r>
              <a:rPr lang="fr-BE" sz="1400" dirty="0"/>
              <a:t>(Art. 21)</a:t>
            </a:r>
          </a:p>
          <a:p>
            <a:r>
              <a:rPr lang="fr-BE" sz="1400" dirty="0"/>
              <a:t>--</a:t>
            </a:r>
          </a:p>
          <a:p>
            <a:r>
              <a:rPr lang="fr-BE" sz="1400" u="sng" dirty="0"/>
              <a:t>IMPORTANT</a:t>
            </a:r>
          </a:p>
          <a:p>
            <a:r>
              <a:rPr lang="fr-BE" sz="1400" b="1" dirty="0">
                <a:solidFill>
                  <a:srgbClr val="F9B233"/>
                </a:solidFill>
              </a:rPr>
              <a:t>Cyber </a:t>
            </a:r>
            <a:r>
              <a:rPr lang="fr-BE" sz="1400" b="1" dirty="0" err="1">
                <a:solidFill>
                  <a:srgbClr val="F9B233"/>
                </a:solidFill>
              </a:rPr>
              <a:t>Threat</a:t>
            </a:r>
            <a:r>
              <a:rPr lang="fr-BE" sz="1400" b="1" dirty="0">
                <a:solidFill>
                  <a:srgbClr val="F9B233"/>
                </a:solidFill>
              </a:rPr>
              <a:t> Intelligence </a:t>
            </a:r>
            <a:r>
              <a:rPr lang="fr-BE" sz="1400" b="1" dirty="0" err="1">
                <a:solidFill>
                  <a:srgbClr val="F9B233"/>
                </a:solidFill>
              </a:rPr>
              <a:t>Specialist</a:t>
            </a:r>
            <a:endParaRPr lang="fr-BE" sz="1400" b="1" dirty="0">
              <a:solidFill>
                <a:srgbClr val="F9B233"/>
              </a:solidFill>
            </a:endParaRPr>
          </a:p>
          <a:p>
            <a:r>
              <a:rPr lang="fr-BE" sz="1400" b="1" dirty="0" err="1">
                <a:solidFill>
                  <a:srgbClr val="95C11F"/>
                </a:solidFill>
              </a:rPr>
              <a:t>Cybersecurity</a:t>
            </a:r>
            <a:r>
              <a:rPr lang="fr-BE" sz="1400" b="1" dirty="0">
                <a:solidFill>
                  <a:srgbClr val="95C11F"/>
                </a:solidFill>
              </a:rPr>
              <a:t> Architect </a:t>
            </a:r>
            <a:r>
              <a:rPr lang="fr-BE" sz="1400" dirty="0"/>
              <a:t>(Art. 21)</a:t>
            </a:r>
          </a:p>
          <a:p>
            <a:r>
              <a:rPr lang="fr-BE" sz="1400" dirty="0"/>
              <a:t>______________</a:t>
            </a:r>
          </a:p>
          <a:p>
            <a:r>
              <a:rPr lang="fr-BE" sz="2000" b="1" dirty="0"/>
              <a:t>2nd Line </a:t>
            </a:r>
            <a:r>
              <a:rPr lang="fr-BE" sz="2000" b="1" dirty="0">
                <a:solidFill>
                  <a:schemeClr val="tx2">
                    <a:lumMod val="50000"/>
                    <a:lumOff val="50000"/>
                  </a:schemeClr>
                </a:solidFill>
              </a:rPr>
              <a:t>Of </a:t>
            </a:r>
            <a:r>
              <a:rPr lang="fr-BE" sz="2000" b="1" dirty="0" err="1">
                <a:solidFill>
                  <a:schemeClr val="tx2">
                    <a:lumMod val="50000"/>
                    <a:lumOff val="50000"/>
                  </a:schemeClr>
                </a:solidFill>
              </a:rPr>
              <a:t>Defense</a:t>
            </a:r>
            <a:r>
              <a:rPr lang="fr-BE" sz="2000" b="1" dirty="0">
                <a:solidFill>
                  <a:schemeClr val="tx2">
                    <a:lumMod val="50000"/>
                    <a:lumOff val="50000"/>
                  </a:schemeClr>
                </a:solidFill>
              </a:rPr>
              <a:t> (LOD-2)</a:t>
            </a:r>
          </a:p>
          <a:p>
            <a:endParaRPr lang="fr-BE" sz="600" dirty="0"/>
          </a:p>
          <a:p>
            <a:r>
              <a:rPr lang="fr-BE" sz="1400" u="sng" dirty="0">
                <a:solidFill>
                  <a:srgbClr val="00B0F0"/>
                </a:solidFill>
              </a:rPr>
              <a:t>ESSENTIAL</a:t>
            </a:r>
          </a:p>
          <a:p>
            <a:r>
              <a:rPr lang="fr-BE" sz="1400" b="1" dirty="0">
                <a:solidFill>
                  <a:srgbClr val="004F9F"/>
                </a:solidFill>
              </a:rPr>
              <a:t>Chief Information Security </a:t>
            </a:r>
            <a:r>
              <a:rPr lang="fr-BE" sz="1400" b="1" dirty="0" err="1">
                <a:solidFill>
                  <a:srgbClr val="004F9F"/>
                </a:solidFill>
              </a:rPr>
              <a:t>Officer</a:t>
            </a:r>
            <a:r>
              <a:rPr lang="fr-BE" sz="1400" b="1" dirty="0"/>
              <a:t> </a:t>
            </a:r>
            <a:r>
              <a:rPr lang="fr-BE" sz="1400" dirty="0"/>
              <a:t>(Art. 20-21)</a:t>
            </a:r>
          </a:p>
          <a:p>
            <a:r>
              <a:rPr lang="fr-BE" sz="1400" b="1" dirty="0">
                <a:solidFill>
                  <a:srgbClr val="004F9F"/>
                </a:solidFill>
              </a:rPr>
              <a:t>Cyber Legal, Policy &amp; Compliance </a:t>
            </a:r>
            <a:r>
              <a:rPr lang="fr-BE" sz="1400" b="1" dirty="0" err="1">
                <a:solidFill>
                  <a:srgbClr val="004F9F"/>
                </a:solidFill>
              </a:rPr>
              <a:t>Officer</a:t>
            </a:r>
            <a:r>
              <a:rPr lang="fr-BE" sz="1400" b="1" dirty="0">
                <a:solidFill>
                  <a:srgbClr val="004F9F"/>
                </a:solidFill>
              </a:rPr>
              <a:t>  </a:t>
            </a:r>
            <a:r>
              <a:rPr lang="fr-BE" sz="1400" dirty="0"/>
              <a:t>(Art. 20-21) (Art. 23)</a:t>
            </a:r>
          </a:p>
          <a:p>
            <a:r>
              <a:rPr lang="fr-BE" sz="1400" b="1" dirty="0" err="1">
                <a:solidFill>
                  <a:srgbClr val="95C11F"/>
                </a:solidFill>
              </a:rPr>
              <a:t>Cybersecurity</a:t>
            </a:r>
            <a:r>
              <a:rPr lang="fr-BE" sz="1400" b="1" dirty="0">
                <a:solidFill>
                  <a:srgbClr val="95C11F"/>
                </a:solidFill>
              </a:rPr>
              <a:t> </a:t>
            </a:r>
            <a:r>
              <a:rPr lang="fr-BE" sz="1400" b="1" dirty="0" err="1">
                <a:solidFill>
                  <a:srgbClr val="95C11F"/>
                </a:solidFill>
              </a:rPr>
              <a:t>Educator</a:t>
            </a:r>
            <a:r>
              <a:rPr lang="fr-BE" sz="1400" b="1" dirty="0">
                <a:solidFill>
                  <a:srgbClr val="95C11F"/>
                </a:solidFill>
              </a:rPr>
              <a:t> </a:t>
            </a:r>
            <a:r>
              <a:rPr lang="fr-BE" sz="1400" dirty="0"/>
              <a:t>(Art. 21)</a:t>
            </a:r>
          </a:p>
          <a:p>
            <a:r>
              <a:rPr lang="fr-BE" sz="1400" b="1" dirty="0" err="1">
                <a:solidFill>
                  <a:srgbClr val="CB0538"/>
                </a:solidFill>
              </a:rPr>
              <a:t>Cybersecurity</a:t>
            </a:r>
            <a:r>
              <a:rPr lang="fr-BE" sz="1400" b="1" dirty="0">
                <a:solidFill>
                  <a:srgbClr val="CB0538"/>
                </a:solidFill>
              </a:rPr>
              <a:t> Risk Manager </a:t>
            </a:r>
            <a:r>
              <a:rPr lang="fr-BE" sz="1400" dirty="0"/>
              <a:t>(Art. 21)</a:t>
            </a:r>
          </a:p>
          <a:p>
            <a:r>
              <a:rPr lang="fr-BE" sz="1400" dirty="0"/>
              <a:t>--</a:t>
            </a:r>
          </a:p>
          <a:p>
            <a:r>
              <a:rPr lang="fr-BE" sz="1400" u="sng" dirty="0"/>
              <a:t>IMPORTANT</a:t>
            </a:r>
          </a:p>
          <a:p>
            <a:r>
              <a:rPr lang="fr-BE" sz="1400" b="1" dirty="0" err="1">
                <a:solidFill>
                  <a:srgbClr val="CB0538"/>
                </a:solidFill>
              </a:rPr>
              <a:t>Penetration</a:t>
            </a:r>
            <a:r>
              <a:rPr lang="fr-BE" sz="1400" b="1" dirty="0">
                <a:solidFill>
                  <a:srgbClr val="CB0538"/>
                </a:solidFill>
              </a:rPr>
              <a:t> Tester</a:t>
            </a:r>
          </a:p>
          <a:p>
            <a:r>
              <a:rPr lang="fr-BE" sz="1400" dirty="0"/>
              <a:t>______________</a:t>
            </a:r>
          </a:p>
          <a:p>
            <a:r>
              <a:rPr lang="fr-BE" sz="2000" b="1" dirty="0"/>
              <a:t>3rd Line</a:t>
            </a:r>
            <a:r>
              <a:rPr lang="fr-BE" sz="2000" b="1" dirty="0">
                <a:solidFill>
                  <a:schemeClr val="tx2">
                    <a:lumMod val="50000"/>
                    <a:lumOff val="50000"/>
                  </a:schemeClr>
                </a:solidFill>
              </a:rPr>
              <a:t> Of </a:t>
            </a:r>
            <a:r>
              <a:rPr lang="fr-BE" sz="2000" b="1" dirty="0" err="1">
                <a:solidFill>
                  <a:schemeClr val="tx2">
                    <a:lumMod val="50000"/>
                    <a:lumOff val="50000"/>
                  </a:schemeClr>
                </a:solidFill>
              </a:rPr>
              <a:t>Defense</a:t>
            </a:r>
            <a:r>
              <a:rPr lang="fr-BE" sz="2000" b="1" dirty="0">
                <a:solidFill>
                  <a:schemeClr val="tx2">
                    <a:lumMod val="50000"/>
                    <a:lumOff val="50000"/>
                  </a:schemeClr>
                </a:solidFill>
              </a:rPr>
              <a:t> (LOD-3)</a:t>
            </a:r>
          </a:p>
          <a:p>
            <a:endParaRPr lang="fr-BE" sz="600" dirty="0"/>
          </a:p>
          <a:p>
            <a:r>
              <a:rPr lang="fr-BE" sz="1400" u="sng" dirty="0"/>
              <a:t>IMPORTANT</a:t>
            </a:r>
          </a:p>
          <a:p>
            <a:r>
              <a:rPr lang="fr-BE" sz="1400" b="1" dirty="0" err="1">
                <a:solidFill>
                  <a:srgbClr val="95C11F"/>
                </a:solidFill>
              </a:rPr>
              <a:t>Cybersecurity</a:t>
            </a:r>
            <a:r>
              <a:rPr lang="fr-BE" sz="1400" b="1" dirty="0">
                <a:solidFill>
                  <a:srgbClr val="95C11F"/>
                </a:solidFill>
              </a:rPr>
              <a:t> Auditor</a:t>
            </a:r>
          </a:p>
          <a:p>
            <a:r>
              <a:rPr lang="fr-BE" sz="1400" dirty="0"/>
              <a:t>______________</a:t>
            </a:r>
          </a:p>
          <a:p>
            <a:r>
              <a:rPr lang="fr-BE" sz="2000" b="1" dirty="0" err="1">
                <a:solidFill>
                  <a:schemeClr val="tx2">
                    <a:lumMod val="50000"/>
                    <a:lumOff val="50000"/>
                  </a:schemeClr>
                </a:solidFill>
              </a:rPr>
              <a:t>Special</a:t>
            </a:r>
            <a:r>
              <a:rPr lang="fr-BE" sz="2000" b="1" dirty="0">
                <a:solidFill>
                  <a:schemeClr val="tx2">
                    <a:lumMod val="50000"/>
                    <a:lumOff val="50000"/>
                  </a:schemeClr>
                </a:solidFill>
              </a:rPr>
              <a:t> Expertise &amp; Support</a:t>
            </a:r>
          </a:p>
          <a:p>
            <a:endParaRPr lang="fr-BE" sz="600" dirty="0"/>
          </a:p>
          <a:p>
            <a:r>
              <a:rPr lang="fr-BE" sz="1400" u="sng" dirty="0"/>
              <a:t>OPTIONAL</a:t>
            </a:r>
          </a:p>
          <a:p>
            <a:r>
              <a:rPr lang="fr-BE" sz="1400" b="1" dirty="0">
                <a:solidFill>
                  <a:srgbClr val="F9B233"/>
                </a:solidFill>
              </a:rPr>
              <a:t>Digital </a:t>
            </a:r>
            <a:r>
              <a:rPr lang="fr-BE" sz="1400" b="1" dirty="0" err="1">
                <a:solidFill>
                  <a:srgbClr val="F9B233"/>
                </a:solidFill>
              </a:rPr>
              <a:t>Forensics</a:t>
            </a:r>
            <a:r>
              <a:rPr lang="fr-BE" sz="1400" b="1" dirty="0">
                <a:solidFill>
                  <a:srgbClr val="F9B233"/>
                </a:solidFill>
              </a:rPr>
              <a:t> </a:t>
            </a:r>
            <a:r>
              <a:rPr lang="fr-BE" sz="1400" b="1" dirty="0" err="1">
                <a:solidFill>
                  <a:srgbClr val="F9B233"/>
                </a:solidFill>
              </a:rPr>
              <a:t>Investigator</a:t>
            </a:r>
            <a:endParaRPr lang="fr-BE" sz="1400" b="1" dirty="0">
              <a:solidFill>
                <a:srgbClr val="F9B233"/>
              </a:solidFill>
            </a:endParaRPr>
          </a:p>
        </p:txBody>
      </p:sp>
    </p:spTree>
    <p:extLst>
      <p:ext uri="{BB962C8B-B14F-4D97-AF65-F5344CB8AC3E}">
        <p14:creationId xmlns:p14="http://schemas.microsoft.com/office/powerpoint/2010/main" val="17149271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6052F-2F8D-9311-B008-94427E641683}"/>
              </a:ext>
            </a:extLst>
          </p:cNvPr>
          <p:cNvSpPr>
            <a:spLocks noGrp="1"/>
          </p:cNvSpPr>
          <p:nvPr>
            <p:ph type="title"/>
          </p:nvPr>
        </p:nvSpPr>
        <p:spPr/>
        <p:txBody>
          <a:bodyPr/>
          <a:lstStyle/>
          <a:p>
            <a:r>
              <a:rPr lang="en-US" dirty="0"/>
              <a:t>2.1 CHIEF INFORMATION SECURITY OFFICER (CISO) </a:t>
            </a:r>
            <a:endParaRPr lang="fr-BE" dirty="0"/>
          </a:p>
        </p:txBody>
      </p:sp>
      <p:sp>
        <p:nvSpPr>
          <p:cNvPr id="3" name="Content Placeholder 2">
            <a:extLst>
              <a:ext uri="{FF2B5EF4-FFF2-40B4-BE49-F238E27FC236}">
                <a16:creationId xmlns:a16="http://schemas.microsoft.com/office/drawing/2014/main" id="{9821B5AF-C729-6572-F73A-11AC944866BF}"/>
              </a:ext>
            </a:extLst>
          </p:cNvPr>
          <p:cNvSpPr>
            <a:spLocks noGrp="1"/>
          </p:cNvSpPr>
          <p:nvPr>
            <p:ph idx="1"/>
          </p:nvPr>
        </p:nvSpPr>
        <p:spPr/>
        <p:txBody>
          <a:bodyPr/>
          <a:lstStyle/>
          <a:p>
            <a:r>
              <a:rPr lang="en-US" dirty="0"/>
              <a:t>Summary statement </a:t>
            </a:r>
            <a:br>
              <a:rPr lang="en-US" dirty="0"/>
            </a:br>
            <a:r>
              <a:rPr lang="en-US" dirty="0"/>
              <a:t>Manages an </a:t>
            </a:r>
            <a:r>
              <a:rPr lang="en-US" dirty="0" err="1"/>
              <a:t>organisation’s</a:t>
            </a:r>
            <a:r>
              <a:rPr lang="en-US" dirty="0"/>
              <a:t> cybersecurity strategy and its implementation to ensure that digital systems, services and assets are adequately secure and protected. </a:t>
            </a:r>
          </a:p>
          <a:p>
            <a:r>
              <a:rPr lang="en-US" dirty="0"/>
              <a:t>Mission </a:t>
            </a:r>
            <a:br>
              <a:rPr lang="en-US" dirty="0"/>
            </a:br>
            <a:r>
              <a:rPr lang="en-US" dirty="0"/>
              <a:t>Defines, maintains and communicates the cybersecurity vision, strategy, policies and procedures. Manages the implementation of the cybersecurity policy across the </a:t>
            </a:r>
            <a:r>
              <a:rPr lang="en-US" dirty="0" err="1"/>
              <a:t>organisation</a:t>
            </a:r>
            <a:r>
              <a:rPr lang="en-US" dirty="0"/>
              <a:t>. Assures information exchange with external authorities and professional bodies.</a:t>
            </a:r>
            <a:endParaRPr lang="fr-BE" dirty="0"/>
          </a:p>
        </p:txBody>
      </p:sp>
      <p:sp>
        <p:nvSpPr>
          <p:cNvPr id="4" name="object 4">
            <a:extLst>
              <a:ext uri="{FF2B5EF4-FFF2-40B4-BE49-F238E27FC236}">
                <a16:creationId xmlns:a16="http://schemas.microsoft.com/office/drawing/2014/main" id="{AE4E0453-964E-73A7-DF6F-AD8AF0ED63E8}"/>
              </a:ext>
            </a:extLst>
          </p:cNvPr>
          <p:cNvSpPr txBox="1"/>
          <p:nvPr/>
        </p:nvSpPr>
        <p:spPr>
          <a:xfrm>
            <a:off x="8800121" y="1581121"/>
            <a:ext cx="2825163" cy="177036"/>
          </a:xfrm>
          <a:prstGeom prst="rect">
            <a:avLst/>
          </a:prstGeom>
        </p:spPr>
        <p:txBody>
          <a:bodyPr vert="horz" wrap="square" lIns="0" tIns="12700" rIns="0" bIns="0" rtlCol="0">
            <a:spAutoFit/>
          </a:bodyPr>
          <a:lstStyle/>
          <a:p>
            <a:pPr marL="12700" marR="5080" lvl="0" indent="137160" algn="l"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Chief</a:t>
            </a:r>
            <a:r>
              <a:rPr kumimoji="0" sz="1000" b="0" i="0" u="none" strike="noStrike" kern="0" cap="none" spc="-40"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 </a:t>
            </a:r>
            <a:r>
              <a:rPr kumimoji="0" sz="1000" b="0" i="0" u="none" strike="noStrike" kern="0" cap="none" spc="-10"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Information </a:t>
            </a:r>
            <a:r>
              <a:rPr kumimoji="0" sz="1000" b="0" i="0" u="none" strike="noStrike" kern="0" cap="none" spc="-70"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Security</a:t>
            </a:r>
            <a:r>
              <a:rPr kumimoji="0" sz="1000" b="0" i="0" u="none" strike="noStrike" kern="0" cap="none" spc="-40"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 </a:t>
            </a:r>
            <a:r>
              <a:rPr kumimoji="0" sz="1000" b="0" i="0" u="none" strike="noStrike" kern="0" cap="none" spc="-55"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Officer</a:t>
            </a:r>
            <a:r>
              <a:rPr kumimoji="0" sz="1000" b="0" i="0" u="none" strike="noStrike" kern="0" cap="none" spc="-35"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 </a:t>
            </a:r>
            <a:r>
              <a:rPr kumimoji="0" sz="1000" b="0" i="0" u="none" strike="noStrike" kern="0" cap="none" spc="-85" normalizeH="0" baseline="0" noProof="0" dirty="0">
                <a:ln>
                  <a:noFill/>
                </a:ln>
                <a:solidFill>
                  <a:srgbClr val="004F9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(CISO)</a:t>
            </a:r>
            <a:endParaRPr kumimoji="0" sz="1000" b="0" i="0" u="none" strike="noStrike" kern="0" cap="none" spc="0" normalizeH="0" baseline="0" noProof="0" dirty="0">
              <a:ln>
                <a:noFill/>
              </a:ln>
              <a:solidFill>
                <a:srgbClr val="004F9F"/>
              </a:solidFill>
              <a:effectLst/>
              <a:uLnTx/>
              <a:uFillTx/>
              <a:latin typeface="Arial Black"/>
              <a:ea typeface="+mn-ea"/>
              <a:cs typeface="Arial Black"/>
            </a:endParaRPr>
          </a:p>
        </p:txBody>
      </p:sp>
      <p:pic>
        <p:nvPicPr>
          <p:cNvPr id="5" name="object 5">
            <a:extLst>
              <a:ext uri="{FF2B5EF4-FFF2-40B4-BE49-F238E27FC236}">
                <a16:creationId xmlns:a16="http://schemas.microsoft.com/office/drawing/2014/main" id="{C2B90780-7BAB-94FA-D70A-9F467A66F3C9}"/>
              </a:ext>
            </a:extLst>
          </p:cNvPr>
          <p:cNvPicPr/>
          <p:nvPr/>
        </p:nvPicPr>
        <p:blipFill>
          <a:blip r:embed="rId2" cstate="print"/>
          <a:stretch>
            <a:fillRect/>
          </a:stretch>
        </p:blipFill>
        <p:spPr>
          <a:xfrm>
            <a:off x="10032349" y="975200"/>
            <a:ext cx="360705" cy="521971"/>
          </a:xfrm>
          <a:prstGeom prst="rect">
            <a:avLst/>
          </a:prstGeom>
        </p:spPr>
      </p:pic>
    </p:spTree>
    <p:extLst>
      <p:ext uri="{BB962C8B-B14F-4D97-AF65-F5344CB8AC3E}">
        <p14:creationId xmlns:p14="http://schemas.microsoft.com/office/powerpoint/2010/main" val="14228011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652AC-9E38-B7E6-3A9D-BFA2DEE015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0B9E10-6DE8-ED31-BC4A-EE05F3345E8B}"/>
              </a:ext>
            </a:extLst>
          </p:cNvPr>
          <p:cNvSpPr>
            <a:spLocks noGrp="1"/>
          </p:cNvSpPr>
          <p:nvPr>
            <p:ph type="title"/>
          </p:nvPr>
        </p:nvSpPr>
        <p:spPr/>
        <p:txBody>
          <a:bodyPr/>
          <a:lstStyle/>
          <a:p>
            <a:r>
              <a:rPr lang="fr-BE" dirty="0"/>
              <a:t>2.2 CYBER INCIDENT RESPONDER</a:t>
            </a:r>
          </a:p>
        </p:txBody>
      </p:sp>
      <p:sp>
        <p:nvSpPr>
          <p:cNvPr id="3" name="Content Placeholder 2">
            <a:extLst>
              <a:ext uri="{FF2B5EF4-FFF2-40B4-BE49-F238E27FC236}">
                <a16:creationId xmlns:a16="http://schemas.microsoft.com/office/drawing/2014/main" id="{AE4DDD48-FD33-4D6C-9586-CAB2A921A0FD}"/>
              </a:ext>
            </a:extLst>
          </p:cNvPr>
          <p:cNvSpPr>
            <a:spLocks noGrp="1"/>
          </p:cNvSpPr>
          <p:nvPr>
            <p:ph idx="1"/>
          </p:nvPr>
        </p:nvSpPr>
        <p:spPr/>
        <p:txBody>
          <a:bodyPr>
            <a:normAutofit lnSpcReduction="10000"/>
          </a:bodyPr>
          <a:lstStyle/>
          <a:p>
            <a:r>
              <a:rPr lang="en-US" dirty="0"/>
              <a:t>Summary statement </a:t>
            </a:r>
            <a:br>
              <a:rPr lang="en-US" dirty="0"/>
            </a:br>
            <a:r>
              <a:rPr lang="en-US" dirty="0"/>
              <a:t>Monitor the </a:t>
            </a:r>
            <a:r>
              <a:rPr lang="en-US" dirty="0" err="1"/>
              <a:t>organisation’s</a:t>
            </a:r>
            <a:r>
              <a:rPr lang="en-US" dirty="0"/>
              <a:t> cybersecurity state, handle incidents during cyber-attacks and assure the continued operations of ICT systems.</a:t>
            </a:r>
          </a:p>
          <a:p>
            <a:r>
              <a:rPr lang="en-US" dirty="0"/>
              <a:t>Mission </a:t>
            </a:r>
            <a:br>
              <a:rPr lang="en-US" dirty="0"/>
            </a:br>
            <a:r>
              <a:rPr lang="en-US" dirty="0"/>
              <a:t>Monitors and assesses systems’ cybersecurity state. Analyses, evaluates and mitigates the impact of cybersecurity incidents. Identifies cyber incidents root causes and malicious actors. According to the </a:t>
            </a:r>
            <a:r>
              <a:rPr lang="en-US" dirty="0" err="1"/>
              <a:t>organisation’s</a:t>
            </a:r>
            <a:r>
              <a:rPr lang="en-US" dirty="0"/>
              <a:t> Incident Response Plan, restores systems’ and processes’ functionalities to an operational state, collecting evidences and documenting actions taken</a:t>
            </a:r>
            <a:endParaRPr lang="fr-BE" dirty="0"/>
          </a:p>
        </p:txBody>
      </p:sp>
      <p:pic>
        <p:nvPicPr>
          <p:cNvPr id="4" name="object 6">
            <a:extLst>
              <a:ext uri="{FF2B5EF4-FFF2-40B4-BE49-F238E27FC236}">
                <a16:creationId xmlns:a16="http://schemas.microsoft.com/office/drawing/2014/main" id="{F6E8E7EC-2F7F-5CD3-0DD1-B493C1B70F74}"/>
              </a:ext>
            </a:extLst>
          </p:cNvPr>
          <p:cNvPicPr/>
          <p:nvPr/>
        </p:nvPicPr>
        <p:blipFill>
          <a:blip r:embed="rId2" cstate="print"/>
          <a:stretch>
            <a:fillRect/>
          </a:stretch>
        </p:blipFill>
        <p:spPr>
          <a:xfrm>
            <a:off x="10293170" y="747871"/>
            <a:ext cx="489012" cy="517154"/>
          </a:xfrm>
          <a:prstGeom prst="rect">
            <a:avLst/>
          </a:prstGeom>
        </p:spPr>
      </p:pic>
      <p:sp>
        <p:nvSpPr>
          <p:cNvPr id="5" name="object 7">
            <a:extLst>
              <a:ext uri="{FF2B5EF4-FFF2-40B4-BE49-F238E27FC236}">
                <a16:creationId xmlns:a16="http://schemas.microsoft.com/office/drawing/2014/main" id="{1D2D4244-6B2A-A0FD-BF78-E56A607CF2E0}"/>
              </a:ext>
            </a:extLst>
          </p:cNvPr>
          <p:cNvSpPr txBox="1"/>
          <p:nvPr/>
        </p:nvSpPr>
        <p:spPr>
          <a:xfrm>
            <a:off x="9531053" y="1410631"/>
            <a:ext cx="2013245" cy="178190"/>
          </a:xfrm>
          <a:prstGeom prst="rect">
            <a:avLst/>
          </a:prstGeom>
        </p:spPr>
        <p:txBody>
          <a:bodyPr vert="horz" wrap="square" lIns="0" tIns="12700" rIns="0" bIns="0" rtlCol="0">
            <a:spAutoFit/>
          </a:bodyPr>
          <a:lstStyle/>
          <a:p>
            <a:pPr marL="318770" marR="5080" indent="-306705" algn="ctr">
              <a:lnSpc>
                <a:spcPct val="113999"/>
              </a:lnSpc>
              <a:spcBef>
                <a:spcPts val="100"/>
              </a:spcBef>
              <a:defRPr/>
            </a:pPr>
            <a:r>
              <a:rPr sz="1000" kern="0" spc="-65" dirty="0">
                <a:solidFill>
                  <a:srgbClr val="CB0538"/>
                </a:solidFill>
                <a:latin typeface="Arial Black"/>
                <a:hlinkClick r:id="" action="ppaction://noaction">
                  <a:extLst>
                    <a:ext uri="{A12FA001-AC4F-418D-AE19-62706E023703}">
                      <ahyp:hlinkClr xmlns:ahyp="http://schemas.microsoft.com/office/drawing/2018/hyperlinkcolor" val="tx"/>
                    </a:ext>
                  </a:extLst>
                </a:hlinkClick>
              </a:rPr>
              <a:t>Cyber Incident</a:t>
            </a:r>
            <a:r>
              <a:rPr lang="fr-BE" sz="1000" kern="0" spc="-65" dirty="0">
                <a:solidFill>
                  <a:srgbClr val="CB0538"/>
                </a:solidFill>
                <a:latin typeface="Arial Black"/>
                <a:hlinkClick r:id="" action="ppaction://noaction">
                  <a:extLst>
                    <a:ext uri="{A12FA001-AC4F-418D-AE19-62706E023703}">
                      <ahyp:hlinkClr xmlns:ahyp="http://schemas.microsoft.com/office/drawing/2018/hyperlinkcolor" val="tx"/>
                    </a:ext>
                  </a:extLst>
                </a:hlinkClick>
              </a:rPr>
              <a:t> </a:t>
            </a:r>
            <a:r>
              <a:rPr sz="1000" kern="0" spc="-65" dirty="0">
                <a:solidFill>
                  <a:srgbClr val="CB0538"/>
                </a:solidFill>
                <a:latin typeface="Arial Black"/>
                <a:hlinkClick r:id="" action="ppaction://noaction">
                  <a:extLst>
                    <a:ext uri="{A12FA001-AC4F-418D-AE19-62706E023703}">
                      <ahyp:hlinkClr xmlns:ahyp="http://schemas.microsoft.com/office/drawing/2018/hyperlinkcolor" val="tx"/>
                    </a:ext>
                  </a:extLst>
                </a:hlinkClick>
              </a:rPr>
              <a:t>Responder</a:t>
            </a:r>
            <a:endParaRPr sz="1000" kern="0" spc="-65" dirty="0">
              <a:solidFill>
                <a:srgbClr val="CB0538"/>
              </a:solidFill>
              <a:latin typeface="Arial Black"/>
            </a:endParaRPr>
          </a:p>
        </p:txBody>
      </p:sp>
    </p:spTree>
    <p:extLst>
      <p:ext uri="{BB962C8B-B14F-4D97-AF65-F5344CB8AC3E}">
        <p14:creationId xmlns:p14="http://schemas.microsoft.com/office/powerpoint/2010/main" val="1199237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111C2-FD4A-F7E9-E22F-45B15719F2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714D63-65E8-B477-3C06-19BF0D44FFA3}"/>
              </a:ext>
            </a:extLst>
          </p:cNvPr>
          <p:cNvSpPr>
            <a:spLocks noGrp="1"/>
          </p:cNvSpPr>
          <p:nvPr>
            <p:ph type="title"/>
          </p:nvPr>
        </p:nvSpPr>
        <p:spPr/>
        <p:txBody>
          <a:bodyPr/>
          <a:lstStyle/>
          <a:p>
            <a:r>
              <a:rPr lang="fr-BE" dirty="0"/>
              <a:t>2.3 CYBER LEGAL, POLICY &amp; COMPLIANCE OFFICER</a:t>
            </a:r>
          </a:p>
        </p:txBody>
      </p:sp>
      <p:sp>
        <p:nvSpPr>
          <p:cNvPr id="3" name="Content Placeholder 2">
            <a:extLst>
              <a:ext uri="{FF2B5EF4-FFF2-40B4-BE49-F238E27FC236}">
                <a16:creationId xmlns:a16="http://schemas.microsoft.com/office/drawing/2014/main" id="{82C65260-9060-A670-6476-CEAF9DDD592B}"/>
              </a:ext>
            </a:extLst>
          </p:cNvPr>
          <p:cNvSpPr>
            <a:spLocks noGrp="1"/>
          </p:cNvSpPr>
          <p:nvPr>
            <p:ph idx="1"/>
          </p:nvPr>
        </p:nvSpPr>
        <p:spPr/>
        <p:txBody>
          <a:bodyPr>
            <a:normAutofit lnSpcReduction="10000"/>
          </a:bodyPr>
          <a:lstStyle/>
          <a:p>
            <a:r>
              <a:rPr lang="en-US" dirty="0"/>
              <a:t>Summary statement </a:t>
            </a:r>
            <a:br>
              <a:rPr lang="en-US" dirty="0"/>
            </a:br>
            <a:r>
              <a:rPr lang="en-US" dirty="0"/>
              <a:t>Monitor the </a:t>
            </a:r>
            <a:r>
              <a:rPr lang="en-US" dirty="0" err="1"/>
              <a:t>organisation’s</a:t>
            </a:r>
            <a:r>
              <a:rPr lang="en-US" dirty="0"/>
              <a:t> cybersecurity state, handle incidents during cyber-attacks and assure the continued operations of ICT systems.</a:t>
            </a:r>
          </a:p>
          <a:p>
            <a:r>
              <a:rPr lang="en-US" dirty="0"/>
              <a:t>Mission </a:t>
            </a:r>
            <a:br>
              <a:rPr lang="en-US" dirty="0"/>
            </a:br>
            <a:r>
              <a:rPr lang="en-US" dirty="0"/>
              <a:t>Monitors and assesses systems’ cybersecurity state. Analyses, evaluates and mitigates the impact of cybersecurity incidents. Identifies cyber incidents root causes and malicious actors. According to the </a:t>
            </a:r>
            <a:r>
              <a:rPr lang="en-US" dirty="0" err="1"/>
              <a:t>organisation’s</a:t>
            </a:r>
            <a:r>
              <a:rPr lang="en-US" dirty="0"/>
              <a:t> Incident Response Plan, restores systems’ and processes’ functionalities to an operational state, collecting evidences and documenting actions taken</a:t>
            </a:r>
            <a:endParaRPr lang="fr-BE" dirty="0"/>
          </a:p>
        </p:txBody>
      </p:sp>
      <p:sp>
        <p:nvSpPr>
          <p:cNvPr id="4" name="object 8">
            <a:extLst>
              <a:ext uri="{FF2B5EF4-FFF2-40B4-BE49-F238E27FC236}">
                <a16:creationId xmlns:a16="http://schemas.microsoft.com/office/drawing/2014/main" id="{82E4105F-D10C-0286-D36C-988438D34753}"/>
              </a:ext>
            </a:extLst>
          </p:cNvPr>
          <p:cNvSpPr txBox="1"/>
          <p:nvPr/>
        </p:nvSpPr>
        <p:spPr>
          <a:xfrm>
            <a:off x="8915400" y="1636575"/>
            <a:ext cx="2982940" cy="177036"/>
          </a:xfrm>
          <a:prstGeom prst="rect">
            <a:avLst/>
          </a:prstGeom>
        </p:spPr>
        <p:txBody>
          <a:bodyPr vert="horz" wrap="square" lIns="0" tIns="12700" rIns="0" bIns="0" rtlCol="0">
            <a:spAutoFit/>
          </a:bodyPr>
          <a:lstStyle/>
          <a:p>
            <a:pPr marL="12700" marR="5080" indent="137160" algn="ctr">
              <a:lnSpc>
                <a:spcPct val="112999"/>
              </a:lnSpc>
              <a:spcBef>
                <a:spcPts val="100"/>
              </a:spcBef>
              <a:defRPr/>
            </a:pPr>
            <a:r>
              <a:rPr sz="1000" kern="0" spc="-65" dirty="0">
                <a:solidFill>
                  <a:srgbClr val="004F9F"/>
                </a:solidFill>
                <a:latin typeface="Arial Black"/>
                <a:hlinkClick r:id="" action="ppaction://noaction">
                  <a:extLst>
                    <a:ext uri="{A12FA001-AC4F-418D-AE19-62706E023703}">
                      <ahyp:hlinkClr xmlns:ahyp="http://schemas.microsoft.com/office/drawing/2018/hyperlinkcolor" val="tx"/>
                    </a:ext>
                  </a:extLst>
                </a:hlinkClick>
              </a:rPr>
              <a:t>Cyber Legal, Policy and Compliance Officer</a:t>
            </a:r>
            <a:endParaRPr sz="1000" kern="0" spc="-65" dirty="0">
              <a:solidFill>
                <a:srgbClr val="004F9F"/>
              </a:solidFill>
              <a:latin typeface="Arial Black"/>
            </a:endParaRPr>
          </a:p>
        </p:txBody>
      </p:sp>
      <p:pic>
        <p:nvPicPr>
          <p:cNvPr id="5" name="object 9">
            <a:extLst>
              <a:ext uri="{FF2B5EF4-FFF2-40B4-BE49-F238E27FC236}">
                <a16:creationId xmlns:a16="http://schemas.microsoft.com/office/drawing/2014/main" id="{6FACD811-6E92-8736-4D96-E5ED4F384FD4}"/>
              </a:ext>
            </a:extLst>
          </p:cNvPr>
          <p:cNvPicPr/>
          <p:nvPr/>
        </p:nvPicPr>
        <p:blipFill>
          <a:blip r:embed="rId2" cstate="print"/>
          <a:stretch>
            <a:fillRect/>
          </a:stretch>
        </p:blipFill>
        <p:spPr>
          <a:xfrm>
            <a:off x="9909951" y="1026211"/>
            <a:ext cx="795427" cy="510384"/>
          </a:xfrm>
          <a:prstGeom prst="rect">
            <a:avLst/>
          </a:prstGeom>
        </p:spPr>
      </p:pic>
    </p:spTree>
    <p:extLst>
      <p:ext uri="{BB962C8B-B14F-4D97-AF65-F5344CB8AC3E}">
        <p14:creationId xmlns:p14="http://schemas.microsoft.com/office/powerpoint/2010/main" val="1915772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6D833-7BE4-369B-CCED-47C90AC26D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47AA63-3DE7-B416-E258-D0D9944DDDE4}"/>
              </a:ext>
            </a:extLst>
          </p:cNvPr>
          <p:cNvSpPr>
            <a:spLocks noGrp="1"/>
          </p:cNvSpPr>
          <p:nvPr>
            <p:ph type="title"/>
          </p:nvPr>
        </p:nvSpPr>
        <p:spPr/>
        <p:txBody>
          <a:bodyPr/>
          <a:lstStyle/>
          <a:p>
            <a:r>
              <a:rPr lang="en-US" dirty="0"/>
              <a:t>2.4 CYBER THREAT INTELLIGENCE SPECIALIST</a:t>
            </a:r>
            <a:endParaRPr lang="fr-BE" dirty="0"/>
          </a:p>
        </p:txBody>
      </p:sp>
      <p:sp>
        <p:nvSpPr>
          <p:cNvPr id="3" name="Content Placeholder 2">
            <a:extLst>
              <a:ext uri="{FF2B5EF4-FFF2-40B4-BE49-F238E27FC236}">
                <a16:creationId xmlns:a16="http://schemas.microsoft.com/office/drawing/2014/main" id="{1A9679BA-0347-AA5D-63AA-0A1E1FE5E064}"/>
              </a:ext>
            </a:extLst>
          </p:cNvPr>
          <p:cNvSpPr>
            <a:spLocks noGrp="1"/>
          </p:cNvSpPr>
          <p:nvPr>
            <p:ph idx="1"/>
          </p:nvPr>
        </p:nvSpPr>
        <p:spPr/>
        <p:txBody>
          <a:bodyPr/>
          <a:lstStyle/>
          <a:p>
            <a:r>
              <a:rPr lang="en-US" dirty="0"/>
              <a:t>Summary statement </a:t>
            </a:r>
            <a:br>
              <a:rPr lang="en-US" dirty="0"/>
            </a:br>
            <a:r>
              <a:rPr lang="en-US" dirty="0"/>
              <a:t>Collect, process, </a:t>
            </a:r>
            <a:r>
              <a:rPr lang="en-US" dirty="0" err="1"/>
              <a:t>analyse</a:t>
            </a:r>
            <a:r>
              <a:rPr lang="en-US" dirty="0"/>
              <a:t> data and information to produce actionable intelligence reports and disseminate them to target stakeholders.</a:t>
            </a:r>
          </a:p>
          <a:p>
            <a:r>
              <a:rPr lang="en-US" dirty="0"/>
              <a:t>Mission </a:t>
            </a:r>
            <a:br>
              <a:rPr lang="en-US" dirty="0"/>
            </a:br>
            <a:r>
              <a:rPr lang="en-US" dirty="0"/>
              <a:t>Manages cyber threat intelligence life cycle including cyber threat information collection, analysis and production of actionable intelligence and dissemination to security stakeholders and the CTI community, at a tactical, operational and strategic level. Identifies and monitors the Tactics, Techniques and Procedures (TTPs) used by cyber threat actors and their trends, track threat actors’ </a:t>
            </a:r>
            <a:endParaRPr lang="fr-BE" dirty="0"/>
          </a:p>
        </p:txBody>
      </p:sp>
      <p:pic>
        <p:nvPicPr>
          <p:cNvPr id="4" name="object 10">
            <a:extLst>
              <a:ext uri="{FF2B5EF4-FFF2-40B4-BE49-F238E27FC236}">
                <a16:creationId xmlns:a16="http://schemas.microsoft.com/office/drawing/2014/main" id="{FCAC9793-7DE2-FF46-39B2-F5F84BDA3C83}"/>
              </a:ext>
            </a:extLst>
          </p:cNvPr>
          <p:cNvPicPr/>
          <p:nvPr/>
        </p:nvPicPr>
        <p:blipFill>
          <a:blip r:embed="rId2" cstate="print"/>
          <a:stretch>
            <a:fillRect/>
          </a:stretch>
        </p:blipFill>
        <p:spPr>
          <a:xfrm>
            <a:off x="10842198" y="1094187"/>
            <a:ext cx="605772" cy="663970"/>
          </a:xfrm>
          <a:prstGeom prst="rect">
            <a:avLst/>
          </a:prstGeom>
        </p:spPr>
      </p:pic>
      <p:sp>
        <p:nvSpPr>
          <p:cNvPr id="5" name="object 11">
            <a:extLst>
              <a:ext uri="{FF2B5EF4-FFF2-40B4-BE49-F238E27FC236}">
                <a16:creationId xmlns:a16="http://schemas.microsoft.com/office/drawing/2014/main" id="{773993C2-C8BF-0A9B-1A29-5BCCD617DEAD}"/>
              </a:ext>
            </a:extLst>
          </p:cNvPr>
          <p:cNvSpPr txBox="1"/>
          <p:nvPr/>
        </p:nvSpPr>
        <p:spPr>
          <a:xfrm>
            <a:off x="9604660" y="1990277"/>
            <a:ext cx="2663540" cy="177036"/>
          </a:xfrm>
          <a:prstGeom prst="rect">
            <a:avLst/>
          </a:prstGeom>
        </p:spPr>
        <p:txBody>
          <a:bodyPr vert="horz" wrap="square" lIns="0" tIns="12700" rIns="0" bIns="0" rtlCol="0">
            <a:spAutoFit/>
          </a:bodyPr>
          <a:lstStyle/>
          <a:p>
            <a:pPr marL="210820" marR="5080" indent="-198120" algn="ctr">
              <a:lnSpc>
                <a:spcPct val="112999"/>
              </a:lnSpc>
              <a:spcBef>
                <a:spcPts val="100"/>
              </a:spcBef>
              <a:defRPr/>
            </a:pPr>
            <a:r>
              <a:rPr sz="1000" kern="0" spc="-65" dirty="0">
                <a:solidFill>
                  <a:srgbClr val="FFC000"/>
                </a:solidFill>
                <a:latin typeface="Arial Black"/>
                <a:hlinkClick r:id="" action="ppaction://noaction">
                  <a:extLst>
                    <a:ext uri="{A12FA001-AC4F-418D-AE19-62706E023703}">
                      <ahyp:hlinkClr xmlns:ahyp="http://schemas.microsoft.com/office/drawing/2018/hyperlinkcolor" val="tx"/>
                    </a:ext>
                  </a:extLst>
                </a:hlinkClick>
              </a:rPr>
              <a:t>Cyber Threat Intelligence Specialist</a:t>
            </a:r>
            <a:endParaRPr sz="1000" kern="0" spc="-65" dirty="0">
              <a:solidFill>
                <a:srgbClr val="FFC000"/>
              </a:solidFill>
              <a:latin typeface="Arial Black"/>
            </a:endParaRPr>
          </a:p>
        </p:txBody>
      </p:sp>
    </p:spTree>
    <p:extLst>
      <p:ext uri="{BB962C8B-B14F-4D97-AF65-F5344CB8AC3E}">
        <p14:creationId xmlns:p14="http://schemas.microsoft.com/office/powerpoint/2010/main" val="2255701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69F51-45CC-F0EA-06A5-CF3921086E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F72FEA-3C4E-19FE-F04C-E4D748AD2F55}"/>
              </a:ext>
            </a:extLst>
          </p:cNvPr>
          <p:cNvSpPr>
            <a:spLocks noGrp="1"/>
          </p:cNvSpPr>
          <p:nvPr>
            <p:ph type="title"/>
          </p:nvPr>
        </p:nvSpPr>
        <p:spPr/>
        <p:txBody>
          <a:bodyPr/>
          <a:lstStyle/>
          <a:p>
            <a:r>
              <a:rPr lang="fr-BE" dirty="0"/>
              <a:t>2.5 CYBERSECURITY ARCHITECT</a:t>
            </a:r>
          </a:p>
        </p:txBody>
      </p:sp>
      <p:sp>
        <p:nvSpPr>
          <p:cNvPr id="3" name="Content Placeholder 2">
            <a:extLst>
              <a:ext uri="{FF2B5EF4-FFF2-40B4-BE49-F238E27FC236}">
                <a16:creationId xmlns:a16="http://schemas.microsoft.com/office/drawing/2014/main" id="{1F402407-2D57-A2BE-517B-5CE3C9859AA6}"/>
              </a:ext>
            </a:extLst>
          </p:cNvPr>
          <p:cNvSpPr>
            <a:spLocks noGrp="1"/>
          </p:cNvSpPr>
          <p:nvPr>
            <p:ph idx="1"/>
          </p:nvPr>
        </p:nvSpPr>
        <p:spPr/>
        <p:txBody>
          <a:bodyPr>
            <a:normAutofit lnSpcReduction="10000"/>
          </a:bodyPr>
          <a:lstStyle/>
          <a:p>
            <a:r>
              <a:rPr lang="en-US" dirty="0"/>
              <a:t>Summary statement </a:t>
            </a:r>
            <a:br>
              <a:rPr lang="en-US" dirty="0"/>
            </a:br>
            <a:r>
              <a:rPr lang="en-US" dirty="0"/>
              <a:t>Plans and designs security-by-design solutions (infrastructures, systems, assets, software, hardware and services) and cybersecurity controls. </a:t>
            </a:r>
          </a:p>
          <a:p>
            <a:r>
              <a:rPr lang="en-US" dirty="0"/>
              <a:t>Mission </a:t>
            </a:r>
            <a:br>
              <a:rPr lang="en-US" dirty="0"/>
            </a:br>
            <a:r>
              <a:rPr lang="en-US" dirty="0"/>
              <a:t>Designs solutions based on security-by-design and privacy-by-design principles. Creates and continuously improves architectural models and develops appropriate architectural documentation and specifications. Coordinate secure development, integration and maintenance of cybersecurity components in line with standards and other related requirements.</a:t>
            </a:r>
            <a:endParaRPr lang="fr-BE" dirty="0"/>
          </a:p>
        </p:txBody>
      </p:sp>
      <p:pic>
        <p:nvPicPr>
          <p:cNvPr id="4" name="object 12">
            <a:extLst>
              <a:ext uri="{FF2B5EF4-FFF2-40B4-BE49-F238E27FC236}">
                <a16:creationId xmlns:a16="http://schemas.microsoft.com/office/drawing/2014/main" id="{7EA0E673-FAA4-6583-675D-4E00005BED1A}"/>
              </a:ext>
            </a:extLst>
          </p:cNvPr>
          <p:cNvPicPr/>
          <p:nvPr/>
        </p:nvPicPr>
        <p:blipFill>
          <a:blip r:embed="rId2" cstate="print"/>
          <a:stretch>
            <a:fillRect/>
          </a:stretch>
        </p:blipFill>
        <p:spPr>
          <a:xfrm>
            <a:off x="9454286" y="605404"/>
            <a:ext cx="660792" cy="632734"/>
          </a:xfrm>
          <a:prstGeom prst="rect">
            <a:avLst/>
          </a:prstGeom>
        </p:spPr>
      </p:pic>
      <p:sp>
        <p:nvSpPr>
          <p:cNvPr id="5" name="object 13">
            <a:extLst>
              <a:ext uri="{FF2B5EF4-FFF2-40B4-BE49-F238E27FC236}">
                <a16:creationId xmlns:a16="http://schemas.microsoft.com/office/drawing/2014/main" id="{D6B7B9F3-BD30-B4D0-4F6E-329BF6EAB059}"/>
              </a:ext>
            </a:extLst>
          </p:cNvPr>
          <p:cNvSpPr txBox="1"/>
          <p:nvPr/>
        </p:nvSpPr>
        <p:spPr>
          <a:xfrm>
            <a:off x="9314626" y="1291819"/>
            <a:ext cx="900430" cy="353623"/>
          </a:xfrm>
          <a:prstGeom prst="rect">
            <a:avLst/>
          </a:prstGeom>
        </p:spPr>
        <p:txBody>
          <a:bodyPr vert="horz" wrap="square" lIns="0" tIns="12700" rIns="0" bIns="0" rtlCol="0">
            <a:spAutoFit/>
          </a:bodyPr>
          <a:lstStyle/>
          <a:p>
            <a:pPr marL="93345" marR="5080" indent="-81280">
              <a:lnSpc>
                <a:spcPct val="113999"/>
              </a:lnSpc>
              <a:spcBef>
                <a:spcPts val="100"/>
              </a:spcBef>
              <a:defRPr/>
            </a:pPr>
            <a:r>
              <a:rPr sz="1000" kern="0" spc="-65" dirty="0">
                <a:solidFill>
                  <a:srgbClr val="95C11F"/>
                </a:solidFill>
                <a:latin typeface="Arial Black"/>
                <a:hlinkClick r:id="" action="ppaction://noaction">
                  <a:extLst>
                    <a:ext uri="{A12FA001-AC4F-418D-AE19-62706E023703}">
                      <ahyp:hlinkClr xmlns:ahyp="http://schemas.microsoft.com/office/drawing/2018/hyperlinkcolor" val="tx"/>
                    </a:ext>
                  </a:extLst>
                </a:hlinkClick>
              </a:rPr>
              <a:t>Cybersecurity Architect</a:t>
            </a:r>
            <a:endParaRPr sz="1000" kern="0" spc="-65" dirty="0">
              <a:solidFill>
                <a:srgbClr val="95C11F"/>
              </a:solidFill>
              <a:latin typeface="Arial Black"/>
            </a:endParaRPr>
          </a:p>
        </p:txBody>
      </p:sp>
    </p:spTree>
    <p:extLst>
      <p:ext uri="{BB962C8B-B14F-4D97-AF65-F5344CB8AC3E}">
        <p14:creationId xmlns:p14="http://schemas.microsoft.com/office/powerpoint/2010/main" val="856472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EB8FA-D346-EA60-FC6F-175AF14EB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7688CF-F85B-FBC1-881A-E89F45E88047}"/>
              </a:ext>
            </a:extLst>
          </p:cNvPr>
          <p:cNvSpPr>
            <a:spLocks noGrp="1"/>
          </p:cNvSpPr>
          <p:nvPr>
            <p:ph type="title"/>
          </p:nvPr>
        </p:nvSpPr>
        <p:spPr/>
        <p:txBody>
          <a:bodyPr/>
          <a:lstStyle/>
          <a:p>
            <a:r>
              <a:rPr lang="fr-BE" dirty="0"/>
              <a:t>2.6 CYBERSECURITY AUDITOR</a:t>
            </a:r>
          </a:p>
        </p:txBody>
      </p:sp>
      <p:sp>
        <p:nvSpPr>
          <p:cNvPr id="3" name="Content Placeholder 2">
            <a:extLst>
              <a:ext uri="{FF2B5EF4-FFF2-40B4-BE49-F238E27FC236}">
                <a16:creationId xmlns:a16="http://schemas.microsoft.com/office/drawing/2014/main" id="{1DEEFCFC-08D9-4B1F-21CB-662DA1D3287F}"/>
              </a:ext>
            </a:extLst>
          </p:cNvPr>
          <p:cNvSpPr>
            <a:spLocks noGrp="1"/>
          </p:cNvSpPr>
          <p:nvPr>
            <p:ph idx="1"/>
          </p:nvPr>
        </p:nvSpPr>
        <p:spPr/>
        <p:txBody>
          <a:bodyPr>
            <a:normAutofit lnSpcReduction="10000"/>
          </a:bodyPr>
          <a:lstStyle/>
          <a:p>
            <a:r>
              <a:rPr lang="en-US" dirty="0"/>
              <a:t>Summary statement </a:t>
            </a:r>
            <a:br>
              <a:rPr lang="en-US" dirty="0"/>
            </a:br>
            <a:r>
              <a:rPr lang="en-US" dirty="0"/>
              <a:t>Perform cybersecurity audits on the </a:t>
            </a:r>
            <a:r>
              <a:rPr lang="en-US" dirty="0" err="1"/>
              <a:t>organisation’s</a:t>
            </a:r>
            <a:r>
              <a:rPr lang="en-US" dirty="0"/>
              <a:t> ecosystem. Ensuring compliance with statutory, regulatory, policy information, security requirements, industry standards and best practices. </a:t>
            </a:r>
          </a:p>
          <a:p>
            <a:r>
              <a:rPr lang="en-US" dirty="0"/>
              <a:t>Mission </a:t>
            </a:r>
            <a:br>
              <a:rPr lang="en-US" dirty="0"/>
            </a:br>
            <a:r>
              <a:rPr lang="en-US" dirty="0"/>
              <a:t>Conducts independent reviews to assess the effectiveness of processes and controls and the overall compliance with the </a:t>
            </a:r>
            <a:r>
              <a:rPr lang="en-US" dirty="0" err="1"/>
              <a:t>organisation's</a:t>
            </a:r>
            <a:r>
              <a:rPr lang="en-US" dirty="0"/>
              <a:t> legal and regulatory frameworks policies. Evaluates, tests and verifies cybersecurity-related products (systems, hardware, software and services), functions and policies ensuring, compliance with guidelines, standards and regulations. </a:t>
            </a:r>
            <a:endParaRPr lang="fr-BE" dirty="0"/>
          </a:p>
        </p:txBody>
      </p:sp>
      <p:pic>
        <p:nvPicPr>
          <p:cNvPr id="4" name="object 14">
            <a:extLst>
              <a:ext uri="{FF2B5EF4-FFF2-40B4-BE49-F238E27FC236}">
                <a16:creationId xmlns:a16="http://schemas.microsoft.com/office/drawing/2014/main" id="{97B38CDE-EE4A-C256-2E6F-47C3FB343CF6}"/>
              </a:ext>
            </a:extLst>
          </p:cNvPr>
          <p:cNvPicPr/>
          <p:nvPr/>
        </p:nvPicPr>
        <p:blipFill>
          <a:blip r:embed="rId2" cstate="print"/>
          <a:stretch>
            <a:fillRect/>
          </a:stretch>
        </p:blipFill>
        <p:spPr>
          <a:xfrm>
            <a:off x="9697704" y="230188"/>
            <a:ext cx="700333" cy="642654"/>
          </a:xfrm>
          <a:prstGeom prst="rect">
            <a:avLst/>
          </a:prstGeom>
        </p:spPr>
      </p:pic>
      <p:sp>
        <p:nvSpPr>
          <p:cNvPr id="5" name="object 15">
            <a:extLst>
              <a:ext uri="{FF2B5EF4-FFF2-40B4-BE49-F238E27FC236}">
                <a16:creationId xmlns:a16="http://schemas.microsoft.com/office/drawing/2014/main" id="{8B1F703E-77BA-DAD3-273B-73EBFCF56978}"/>
              </a:ext>
            </a:extLst>
          </p:cNvPr>
          <p:cNvSpPr txBox="1"/>
          <p:nvPr/>
        </p:nvSpPr>
        <p:spPr>
          <a:xfrm>
            <a:off x="9295113" y="1104729"/>
            <a:ext cx="1839611" cy="177036"/>
          </a:xfrm>
          <a:prstGeom prst="rect">
            <a:avLst/>
          </a:prstGeom>
        </p:spPr>
        <p:txBody>
          <a:bodyPr vert="horz" wrap="square" lIns="0" tIns="12700" rIns="0" bIns="0" rtlCol="0">
            <a:spAutoFit/>
          </a:bodyPr>
          <a:lstStyle/>
          <a:p>
            <a:pPr marL="210820" marR="5080" lvl="0" indent="-198120" algn="ctr"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FFC000"/>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Cybersecurity </a:t>
            </a:r>
            <a:r>
              <a:rPr kumimoji="0" sz="1000" b="0" i="0" u="none" strike="noStrike" kern="0" cap="none" spc="-10" normalizeH="0" baseline="0" noProof="0" dirty="0">
                <a:ln>
                  <a:noFill/>
                </a:ln>
                <a:solidFill>
                  <a:srgbClr val="FFC000"/>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Auditor</a:t>
            </a:r>
            <a:endParaRPr kumimoji="0" sz="1000" b="0" i="0" u="none" strike="noStrike" kern="0" cap="none" spc="0" normalizeH="0" baseline="0" noProof="0" dirty="0">
              <a:ln>
                <a:noFill/>
              </a:ln>
              <a:solidFill>
                <a:srgbClr val="FFC000"/>
              </a:solidFill>
              <a:effectLst/>
              <a:uLnTx/>
              <a:uFillTx/>
              <a:latin typeface="Arial Black"/>
              <a:ea typeface="+mn-ea"/>
              <a:cs typeface="Arial Black"/>
            </a:endParaRPr>
          </a:p>
        </p:txBody>
      </p:sp>
    </p:spTree>
    <p:extLst>
      <p:ext uri="{BB962C8B-B14F-4D97-AF65-F5344CB8AC3E}">
        <p14:creationId xmlns:p14="http://schemas.microsoft.com/office/powerpoint/2010/main" val="3676694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0E369-212E-B3B3-110D-02818C0F7B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907F9E-AB25-C42E-ECA1-64056BD191F1}"/>
              </a:ext>
            </a:extLst>
          </p:cNvPr>
          <p:cNvSpPr>
            <a:spLocks noGrp="1"/>
          </p:cNvSpPr>
          <p:nvPr>
            <p:ph type="title"/>
          </p:nvPr>
        </p:nvSpPr>
        <p:spPr/>
        <p:txBody>
          <a:bodyPr/>
          <a:lstStyle/>
          <a:p>
            <a:r>
              <a:rPr lang="fr-BE" dirty="0"/>
              <a:t>2.7 CYBERSECURITY EDUCATOR</a:t>
            </a:r>
          </a:p>
        </p:txBody>
      </p:sp>
      <p:sp>
        <p:nvSpPr>
          <p:cNvPr id="3" name="Content Placeholder 2">
            <a:extLst>
              <a:ext uri="{FF2B5EF4-FFF2-40B4-BE49-F238E27FC236}">
                <a16:creationId xmlns:a16="http://schemas.microsoft.com/office/drawing/2014/main" id="{BCC07950-8422-217A-02A9-6474BD6E878F}"/>
              </a:ext>
            </a:extLst>
          </p:cNvPr>
          <p:cNvSpPr>
            <a:spLocks noGrp="1"/>
          </p:cNvSpPr>
          <p:nvPr>
            <p:ph idx="1"/>
          </p:nvPr>
        </p:nvSpPr>
        <p:spPr/>
        <p:txBody>
          <a:bodyPr/>
          <a:lstStyle/>
          <a:p>
            <a:r>
              <a:rPr lang="en-US" dirty="0"/>
              <a:t>Summary statement </a:t>
            </a:r>
            <a:br>
              <a:rPr lang="en-US" dirty="0"/>
            </a:br>
            <a:r>
              <a:rPr lang="en-US" dirty="0"/>
              <a:t>Improves cybersecurity knowledge, skills and competencies of humans. </a:t>
            </a:r>
          </a:p>
          <a:p>
            <a:r>
              <a:rPr lang="en-US" dirty="0"/>
              <a:t>Mission </a:t>
            </a:r>
            <a:br>
              <a:rPr lang="en-US" dirty="0"/>
            </a:br>
            <a:r>
              <a:rPr lang="en-US" dirty="0"/>
              <a:t>Designs, develops and conducts awareness, training and educational </a:t>
            </a:r>
            <a:r>
              <a:rPr lang="en-US" dirty="0" err="1"/>
              <a:t>programmes</a:t>
            </a:r>
            <a:r>
              <a:rPr lang="en-US" dirty="0"/>
              <a:t> in cybersecurity and data protection-related topics. Uses appropriate teaching and training methods, techniques and instruments to communicate and enhance the cybersecurity culture, capabilities, knowledge and skills of human resources. Promotes the importance of cybersecurity and consolidates it into the </a:t>
            </a:r>
            <a:r>
              <a:rPr lang="en-US" dirty="0" err="1"/>
              <a:t>organisation</a:t>
            </a:r>
            <a:r>
              <a:rPr lang="en-US" dirty="0"/>
              <a:t>.</a:t>
            </a:r>
            <a:endParaRPr lang="fr-BE" dirty="0"/>
          </a:p>
        </p:txBody>
      </p:sp>
      <p:sp>
        <p:nvSpPr>
          <p:cNvPr id="4" name="object 16">
            <a:extLst>
              <a:ext uri="{FF2B5EF4-FFF2-40B4-BE49-F238E27FC236}">
                <a16:creationId xmlns:a16="http://schemas.microsoft.com/office/drawing/2014/main" id="{4583E7E0-832E-A6CF-A769-4B76F3621582}"/>
              </a:ext>
            </a:extLst>
          </p:cNvPr>
          <p:cNvSpPr txBox="1"/>
          <p:nvPr/>
        </p:nvSpPr>
        <p:spPr>
          <a:xfrm>
            <a:off x="9374636" y="1025402"/>
            <a:ext cx="2150613" cy="178190"/>
          </a:xfrm>
          <a:prstGeom prst="rect">
            <a:avLst/>
          </a:prstGeom>
        </p:spPr>
        <p:txBody>
          <a:bodyPr vert="horz" wrap="square" lIns="0" tIns="12700" rIns="0" bIns="0" rtlCol="0">
            <a:spAutoFit/>
          </a:bodyPr>
          <a:lstStyle/>
          <a:p>
            <a:pPr marL="93345" marR="5080" indent="-81280" algn="ctr">
              <a:lnSpc>
                <a:spcPct val="113999"/>
              </a:lnSpc>
              <a:spcBef>
                <a:spcPts val="100"/>
              </a:spcBef>
              <a:defRPr/>
            </a:pPr>
            <a:r>
              <a:rPr sz="1000" kern="0" spc="-65" dirty="0">
                <a:solidFill>
                  <a:srgbClr val="95C11F"/>
                </a:solidFill>
                <a:latin typeface="Arial Black"/>
                <a:hlinkClick r:id="" action="ppaction://noaction">
                  <a:extLst>
                    <a:ext uri="{A12FA001-AC4F-418D-AE19-62706E023703}">
                      <ahyp:hlinkClr xmlns:ahyp="http://schemas.microsoft.com/office/drawing/2018/hyperlinkcolor" val="tx"/>
                    </a:ext>
                  </a:extLst>
                </a:hlinkClick>
              </a:rPr>
              <a:t>Cybersecurity Educator</a:t>
            </a:r>
            <a:endParaRPr sz="1000" kern="0" spc="-65" dirty="0">
              <a:solidFill>
                <a:srgbClr val="95C11F"/>
              </a:solidFill>
              <a:latin typeface="Arial Black"/>
            </a:endParaRPr>
          </a:p>
        </p:txBody>
      </p:sp>
      <p:pic>
        <p:nvPicPr>
          <p:cNvPr id="5" name="object 17">
            <a:extLst>
              <a:ext uri="{FF2B5EF4-FFF2-40B4-BE49-F238E27FC236}">
                <a16:creationId xmlns:a16="http://schemas.microsoft.com/office/drawing/2014/main" id="{972263AF-06A1-E691-DAAD-ABE1DC694328}"/>
              </a:ext>
            </a:extLst>
          </p:cNvPr>
          <p:cNvPicPr/>
          <p:nvPr/>
        </p:nvPicPr>
        <p:blipFill>
          <a:blip r:embed="rId2" cstate="print"/>
          <a:stretch>
            <a:fillRect/>
          </a:stretch>
        </p:blipFill>
        <p:spPr>
          <a:xfrm>
            <a:off x="10034136" y="467387"/>
            <a:ext cx="559102" cy="427300"/>
          </a:xfrm>
          <a:prstGeom prst="rect">
            <a:avLst/>
          </a:prstGeom>
        </p:spPr>
      </p:pic>
    </p:spTree>
    <p:extLst>
      <p:ext uri="{BB962C8B-B14F-4D97-AF65-F5344CB8AC3E}">
        <p14:creationId xmlns:p14="http://schemas.microsoft.com/office/powerpoint/2010/main" val="548865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BB947-A14E-976E-AC47-A12944EB75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40595B-11D9-9296-F581-3AB31D7C45C0}"/>
              </a:ext>
            </a:extLst>
          </p:cNvPr>
          <p:cNvSpPr>
            <a:spLocks noGrp="1"/>
          </p:cNvSpPr>
          <p:nvPr>
            <p:ph type="title"/>
          </p:nvPr>
        </p:nvSpPr>
        <p:spPr/>
        <p:txBody>
          <a:bodyPr/>
          <a:lstStyle/>
          <a:p>
            <a:r>
              <a:rPr lang="fr-BE" dirty="0"/>
              <a:t>2.8 CYBERSECURITY IMPLEMENTER</a:t>
            </a:r>
          </a:p>
        </p:txBody>
      </p:sp>
      <p:sp>
        <p:nvSpPr>
          <p:cNvPr id="3" name="Content Placeholder 2">
            <a:extLst>
              <a:ext uri="{FF2B5EF4-FFF2-40B4-BE49-F238E27FC236}">
                <a16:creationId xmlns:a16="http://schemas.microsoft.com/office/drawing/2014/main" id="{3980E737-6940-8A47-98DE-8601CAD72D30}"/>
              </a:ext>
            </a:extLst>
          </p:cNvPr>
          <p:cNvSpPr>
            <a:spLocks noGrp="1"/>
          </p:cNvSpPr>
          <p:nvPr>
            <p:ph idx="1"/>
          </p:nvPr>
        </p:nvSpPr>
        <p:spPr/>
        <p:txBody>
          <a:bodyPr>
            <a:normAutofit lnSpcReduction="10000"/>
          </a:bodyPr>
          <a:lstStyle/>
          <a:p>
            <a:r>
              <a:rPr lang="en-US" dirty="0"/>
              <a:t>Summary statement </a:t>
            </a:r>
            <a:br>
              <a:rPr lang="en-US" dirty="0"/>
            </a:br>
            <a:r>
              <a:rPr lang="en-US" dirty="0"/>
              <a:t>Develop, deploy and operate cybersecurity solutions (systems, assets, software, controls and services) on infrastructures and products. </a:t>
            </a:r>
          </a:p>
          <a:p>
            <a:r>
              <a:rPr lang="en-US" dirty="0"/>
              <a:t>Mission </a:t>
            </a:r>
            <a:br>
              <a:rPr lang="en-US" dirty="0"/>
            </a:br>
            <a:r>
              <a:rPr lang="en-US" dirty="0"/>
              <a:t>Provides cybersecurity-related technical development, integration, testing, implementation, operation, maintenance, monitoring and support of cybersecurity solutions. Ensures adherence to specifications and conformance requirements, assures sound performance and resolves technical issues required in the </a:t>
            </a:r>
            <a:r>
              <a:rPr lang="en-US" dirty="0" err="1"/>
              <a:t>organisation’s</a:t>
            </a:r>
            <a:r>
              <a:rPr lang="en-US" dirty="0"/>
              <a:t> cybersecurity-related solutions (systems, assets, software, controls and services), infrastructures and products</a:t>
            </a:r>
            <a:endParaRPr lang="fr-BE" dirty="0"/>
          </a:p>
        </p:txBody>
      </p:sp>
      <p:sp>
        <p:nvSpPr>
          <p:cNvPr id="5" name="object 18">
            <a:extLst>
              <a:ext uri="{FF2B5EF4-FFF2-40B4-BE49-F238E27FC236}">
                <a16:creationId xmlns:a16="http://schemas.microsoft.com/office/drawing/2014/main" id="{F11BF369-CF8C-C6DB-B974-D65C5D8F4AA8}"/>
              </a:ext>
            </a:extLst>
          </p:cNvPr>
          <p:cNvSpPr txBox="1"/>
          <p:nvPr/>
        </p:nvSpPr>
        <p:spPr>
          <a:xfrm>
            <a:off x="9494602" y="1119891"/>
            <a:ext cx="2221147" cy="177036"/>
          </a:xfrm>
          <a:prstGeom prst="rect">
            <a:avLst/>
          </a:prstGeom>
        </p:spPr>
        <p:txBody>
          <a:bodyPr vert="horz" wrap="square" lIns="0" tIns="12700" rIns="0" bIns="0" rtlCol="0">
            <a:spAutoFit/>
          </a:bodyPr>
          <a:lstStyle/>
          <a:p>
            <a:pPr marL="12700" marR="5080" indent="137160" algn="ctr">
              <a:lnSpc>
                <a:spcPct val="112999"/>
              </a:lnSpc>
              <a:spcBef>
                <a:spcPts val="100"/>
              </a:spcBef>
              <a:defRPr/>
            </a:pPr>
            <a:r>
              <a:rPr sz="1000" kern="0" spc="-65" dirty="0">
                <a:solidFill>
                  <a:srgbClr val="004F9F"/>
                </a:solidFill>
                <a:latin typeface="Arial Black"/>
                <a:hlinkClick r:id="" action="ppaction://noaction">
                  <a:extLst>
                    <a:ext uri="{A12FA001-AC4F-418D-AE19-62706E023703}">
                      <ahyp:hlinkClr xmlns:ahyp="http://schemas.microsoft.com/office/drawing/2018/hyperlinkcolor" val="tx"/>
                    </a:ext>
                  </a:extLst>
                </a:hlinkClick>
              </a:rPr>
              <a:t>Cybersecurity Implementer</a:t>
            </a:r>
            <a:endParaRPr sz="1000" kern="0" spc="-65" dirty="0">
              <a:solidFill>
                <a:srgbClr val="004F9F"/>
              </a:solidFill>
              <a:latin typeface="Arial Black"/>
            </a:endParaRPr>
          </a:p>
        </p:txBody>
      </p:sp>
      <p:pic>
        <p:nvPicPr>
          <p:cNvPr id="6" name="object 19">
            <a:extLst>
              <a:ext uri="{FF2B5EF4-FFF2-40B4-BE49-F238E27FC236}">
                <a16:creationId xmlns:a16="http://schemas.microsoft.com/office/drawing/2014/main" id="{11F23F11-89BD-C0E3-F40A-5863AA8B00ED}"/>
              </a:ext>
            </a:extLst>
          </p:cNvPr>
          <p:cNvPicPr/>
          <p:nvPr/>
        </p:nvPicPr>
        <p:blipFill>
          <a:blip r:embed="rId2" cstate="print"/>
          <a:stretch>
            <a:fillRect/>
          </a:stretch>
        </p:blipFill>
        <p:spPr>
          <a:xfrm>
            <a:off x="10174980" y="457110"/>
            <a:ext cx="572226" cy="570796"/>
          </a:xfrm>
          <a:prstGeom prst="rect">
            <a:avLst/>
          </a:prstGeom>
        </p:spPr>
      </p:pic>
    </p:spTree>
    <p:extLst>
      <p:ext uri="{BB962C8B-B14F-4D97-AF65-F5344CB8AC3E}">
        <p14:creationId xmlns:p14="http://schemas.microsoft.com/office/powerpoint/2010/main" val="37112818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9E37C-0532-A816-C93A-4EF1D4558F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EB1B20-B42A-DA9A-53AB-73D5D3BB6CF0}"/>
              </a:ext>
            </a:extLst>
          </p:cNvPr>
          <p:cNvSpPr>
            <a:spLocks noGrp="1"/>
          </p:cNvSpPr>
          <p:nvPr>
            <p:ph type="title"/>
          </p:nvPr>
        </p:nvSpPr>
        <p:spPr/>
        <p:txBody>
          <a:bodyPr/>
          <a:lstStyle/>
          <a:p>
            <a:r>
              <a:rPr lang="fr-BE" dirty="0"/>
              <a:t>2.9 CYBERSECURITY RESEARCHER</a:t>
            </a:r>
          </a:p>
        </p:txBody>
      </p:sp>
      <p:sp>
        <p:nvSpPr>
          <p:cNvPr id="3" name="Content Placeholder 2">
            <a:extLst>
              <a:ext uri="{FF2B5EF4-FFF2-40B4-BE49-F238E27FC236}">
                <a16:creationId xmlns:a16="http://schemas.microsoft.com/office/drawing/2014/main" id="{81EEE5AA-95DC-B378-3BE2-ED768B098EC9}"/>
              </a:ext>
            </a:extLst>
          </p:cNvPr>
          <p:cNvSpPr>
            <a:spLocks noGrp="1"/>
          </p:cNvSpPr>
          <p:nvPr>
            <p:ph idx="1"/>
          </p:nvPr>
        </p:nvSpPr>
        <p:spPr/>
        <p:txBody>
          <a:bodyPr/>
          <a:lstStyle/>
          <a:p>
            <a:r>
              <a:rPr lang="en-US" dirty="0"/>
              <a:t>Summary statement </a:t>
            </a:r>
            <a:br>
              <a:rPr lang="en-US" dirty="0"/>
            </a:br>
            <a:r>
              <a:rPr lang="en-US" dirty="0"/>
              <a:t>Research the cybersecurity domain and incorporate results in cybersecurity solutions. </a:t>
            </a:r>
          </a:p>
          <a:p>
            <a:r>
              <a:rPr lang="en-US" dirty="0"/>
              <a:t>Mission </a:t>
            </a:r>
            <a:br>
              <a:rPr lang="en-US" dirty="0"/>
            </a:br>
            <a:r>
              <a:rPr lang="en-US" dirty="0"/>
              <a:t>Conducts fundamental/basic and applied research and facilitates innovation in the cybersecurity domain through cooperation with other stakeholders. Analyses trends and scientific findings in cybersecurity.</a:t>
            </a:r>
            <a:endParaRPr lang="fr-BE" dirty="0"/>
          </a:p>
        </p:txBody>
      </p:sp>
      <p:pic>
        <p:nvPicPr>
          <p:cNvPr id="4" name="object 20">
            <a:extLst>
              <a:ext uri="{FF2B5EF4-FFF2-40B4-BE49-F238E27FC236}">
                <a16:creationId xmlns:a16="http://schemas.microsoft.com/office/drawing/2014/main" id="{3A6BD5D9-BE91-76B5-5276-638A67F40DC7}"/>
              </a:ext>
            </a:extLst>
          </p:cNvPr>
          <p:cNvPicPr/>
          <p:nvPr/>
        </p:nvPicPr>
        <p:blipFill>
          <a:blip r:embed="rId2" cstate="print"/>
          <a:stretch>
            <a:fillRect/>
          </a:stretch>
        </p:blipFill>
        <p:spPr>
          <a:xfrm>
            <a:off x="10178906" y="441968"/>
            <a:ext cx="539479" cy="478138"/>
          </a:xfrm>
          <a:prstGeom prst="rect">
            <a:avLst/>
          </a:prstGeom>
        </p:spPr>
      </p:pic>
      <p:sp>
        <p:nvSpPr>
          <p:cNvPr id="5" name="object 21">
            <a:extLst>
              <a:ext uri="{FF2B5EF4-FFF2-40B4-BE49-F238E27FC236}">
                <a16:creationId xmlns:a16="http://schemas.microsoft.com/office/drawing/2014/main" id="{6ACA16FD-270A-7F61-A1EC-A528250C2060}"/>
              </a:ext>
            </a:extLst>
          </p:cNvPr>
          <p:cNvSpPr txBox="1"/>
          <p:nvPr/>
        </p:nvSpPr>
        <p:spPr>
          <a:xfrm>
            <a:off x="9459053" y="1127207"/>
            <a:ext cx="1979183" cy="178190"/>
          </a:xfrm>
          <a:prstGeom prst="rect">
            <a:avLst/>
          </a:prstGeom>
        </p:spPr>
        <p:txBody>
          <a:bodyPr vert="horz" wrap="square" lIns="0" tIns="12700" rIns="0" bIns="0" rtlCol="0">
            <a:spAutoFit/>
          </a:bodyPr>
          <a:lstStyle/>
          <a:p>
            <a:pPr marL="93345" marR="5080" lvl="0" indent="-81280" algn="ctr"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95C11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Cybersecurity </a:t>
            </a:r>
            <a:r>
              <a:rPr kumimoji="0" sz="1000" b="0" i="0" u="none" strike="noStrike" kern="0" cap="none" spc="-10" normalizeH="0" baseline="0" noProof="0" dirty="0">
                <a:ln>
                  <a:noFill/>
                </a:ln>
                <a:solidFill>
                  <a:srgbClr val="95C11F"/>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Researcher</a:t>
            </a:r>
            <a:endParaRPr kumimoji="0" sz="1000" b="0" i="0" u="none" strike="noStrike" kern="0" cap="none" spc="0" normalizeH="0" baseline="0" noProof="0" dirty="0">
              <a:ln>
                <a:noFill/>
              </a:ln>
              <a:solidFill>
                <a:srgbClr val="95C11F"/>
              </a:solidFill>
              <a:effectLst/>
              <a:uLnTx/>
              <a:uFillTx/>
              <a:latin typeface="Arial Black"/>
              <a:ea typeface="+mn-ea"/>
              <a:cs typeface="Arial Black"/>
            </a:endParaRPr>
          </a:p>
        </p:txBody>
      </p:sp>
    </p:spTree>
    <p:extLst>
      <p:ext uri="{BB962C8B-B14F-4D97-AF65-F5344CB8AC3E}">
        <p14:creationId xmlns:p14="http://schemas.microsoft.com/office/powerpoint/2010/main" val="17710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DB58D-1B7D-49A5-7540-42BBA02DE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DCF7D1-8677-96E5-70A5-189E61254442}"/>
              </a:ext>
            </a:extLst>
          </p:cNvPr>
          <p:cNvSpPr>
            <a:spLocks noGrp="1"/>
          </p:cNvSpPr>
          <p:nvPr>
            <p:ph type="title"/>
          </p:nvPr>
        </p:nvSpPr>
        <p:spPr/>
        <p:txBody>
          <a:bodyPr/>
          <a:lstStyle/>
          <a:p>
            <a:r>
              <a:rPr lang="fr-BE" dirty="0"/>
              <a:t>2.10 CYBERSECURITY RISK MANAGER</a:t>
            </a:r>
          </a:p>
        </p:txBody>
      </p:sp>
      <p:sp>
        <p:nvSpPr>
          <p:cNvPr id="3" name="Content Placeholder 2">
            <a:extLst>
              <a:ext uri="{FF2B5EF4-FFF2-40B4-BE49-F238E27FC236}">
                <a16:creationId xmlns:a16="http://schemas.microsoft.com/office/drawing/2014/main" id="{CDFADCE3-DD25-7792-59DD-BED773B6F3D6}"/>
              </a:ext>
            </a:extLst>
          </p:cNvPr>
          <p:cNvSpPr>
            <a:spLocks noGrp="1"/>
          </p:cNvSpPr>
          <p:nvPr>
            <p:ph idx="1"/>
          </p:nvPr>
        </p:nvSpPr>
        <p:spPr/>
        <p:txBody>
          <a:bodyPr>
            <a:normAutofit lnSpcReduction="10000"/>
          </a:bodyPr>
          <a:lstStyle/>
          <a:p>
            <a:r>
              <a:rPr lang="en-US" dirty="0"/>
              <a:t>Summary statement </a:t>
            </a:r>
            <a:br>
              <a:rPr lang="en-US" dirty="0"/>
            </a:br>
            <a:r>
              <a:rPr lang="en-US" dirty="0"/>
              <a:t>Manage the </a:t>
            </a:r>
            <a:r>
              <a:rPr lang="en-US" dirty="0" err="1"/>
              <a:t>organisation's</a:t>
            </a:r>
            <a:r>
              <a:rPr lang="en-US" dirty="0"/>
              <a:t> cybersecurity-related risks aligned to the </a:t>
            </a:r>
            <a:r>
              <a:rPr lang="en-US" dirty="0" err="1"/>
              <a:t>organisation’s</a:t>
            </a:r>
            <a:r>
              <a:rPr lang="en-US" dirty="0"/>
              <a:t> strategy. Develop, maintain and communicate the risk management processes and reports. </a:t>
            </a:r>
          </a:p>
          <a:p>
            <a:r>
              <a:rPr lang="en-US" dirty="0"/>
              <a:t>Mission </a:t>
            </a:r>
            <a:br>
              <a:rPr lang="en-US" dirty="0"/>
            </a:br>
            <a:r>
              <a:rPr lang="en-US" dirty="0"/>
              <a:t>Continuously manages (identifies, analyses, assesses, estimates, mitigates) the cybersecurity-related risks of ICT infrastructures, systems and services by planning, applying, reporting and communicating risk analysis, assessment and treatment. Establishes a risk management strategy for the </a:t>
            </a:r>
            <a:r>
              <a:rPr lang="en-US" dirty="0" err="1"/>
              <a:t>organisation</a:t>
            </a:r>
            <a:r>
              <a:rPr lang="en-US" dirty="0"/>
              <a:t> and ensures that risks remain at an acceptable level for the </a:t>
            </a:r>
            <a:r>
              <a:rPr lang="en-US" dirty="0" err="1"/>
              <a:t>organisation</a:t>
            </a:r>
            <a:r>
              <a:rPr lang="en-US" dirty="0"/>
              <a:t> by selecting mitigation actions and controls. </a:t>
            </a:r>
            <a:endParaRPr lang="fr-BE" dirty="0"/>
          </a:p>
        </p:txBody>
      </p:sp>
      <p:pic>
        <p:nvPicPr>
          <p:cNvPr id="4" name="object 22">
            <a:extLst>
              <a:ext uri="{FF2B5EF4-FFF2-40B4-BE49-F238E27FC236}">
                <a16:creationId xmlns:a16="http://schemas.microsoft.com/office/drawing/2014/main" id="{62BC5A8E-8769-E22C-F5AB-4114EF1B06E7}"/>
              </a:ext>
            </a:extLst>
          </p:cNvPr>
          <p:cNvPicPr/>
          <p:nvPr/>
        </p:nvPicPr>
        <p:blipFill>
          <a:blip r:embed="rId2" cstate="print"/>
          <a:stretch>
            <a:fillRect/>
          </a:stretch>
        </p:blipFill>
        <p:spPr>
          <a:xfrm>
            <a:off x="10384889" y="365125"/>
            <a:ext cx="511738" cy="510384"/>
          </a:xfrm>
          <a:prstGeom prst="rect">
            <a:avLst/>
          </a:prstGeom>
        </p:spPr>
      </p:pic>
      <p:sp>
        <p:nvSpPr>
          <p:cNvPr id="5" name="object 23">
            <a:extLst>
              <a:ext uri="{FF2B5EF4-FFF2-40B4-BE49-F238E27FC236}">
                <a16:creationId xmlns:a16="http://schemas.microsoft.com/office/drawing/2014/main" id="{5A4599B7-5850-94BC-F252-ACD06EAA237F}"/>
              </a:ext>
            </a:extLst>
          </p:cNvPr>
          <p:cNvSpPr txBox="1"/>
          <p:nvPr/>
        </p:nvSpPr>
        <p:spPr>
          <a:xfrm>
            <a:off x="9689528" y="1010446"/>
            <a:ext cx="2083372" cy="178190"/>
          </a:xfrm>
          <a:prstGeom prst="rect">
            <a:avLst/>
          </a:prstGeom>
        </p:spPr>
        <p:txBody>
          <a:bodyPr vert="horz" wrap="square" lIns="0" tIns="12700" rIns="0" bIns="0" rtlCol="0">
            <a:spAutoFit/>
          </a:bodyPr>
          <a:lstStyle/>
          <a:p>
            <a:pPr marL="318770" marR="5080" lvl="0" indent="-306705" algn="ctr"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CB0538"/>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Cybersecurity</a:t>
            </a:r>
            <a:r>
              <a:rPr kumimoji="0" sz="1000" b="0" i="0" u="none" strike="noStrike" kern="0" cap="none" spc="-15" normalizeH="0" baseline="0" noProof="0" dirty="0">
                <a:ln>
                  <a:noFill/>
                </a:ln>
                <a:solidFill>
                  <a:srgbClr val="CB0538"/>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 </a:t>
            </a:r>
            <a:r>
              <a:rPr kumimoji="0" sz="1000" b="0" i="0" u="none" strike="noStrike" kern="0" cap="none" spc="-80" normalizeH="0" baseline="0" noProof="0" dirty="0">
                <a:ln>
                  <a:noFill/>
                </a:ln>
                <a:solidFill>
                  <a:srgbClr val="CB0538"/>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Risk </a:t>
            </a:r>
            <a:r>
              <a:rPr kumimoji="0" sz="1000" b="0" i="0" u="none" strike="noStrike" kern="0" cap="none" spc="-10" normalizeH="0" baseline="0" noProof="0" dirty="0">
                <a:ln>
                  <a:noFill/>
                </a:ln>
                <a:solidFill>
                  <a:srgbClr val="CB0538"/>
                </a:solidFill>
                <a:effectLst/>
                <a:uLnTx/>
                <a:uFillTx/>
                <a:latin typeface="Arial Black"/>
                <a:ea typeface="+mn-ea"/>
                <a:cs typeface="Arial Black"/>
                <a:hlinkClick r:id="" action="ppaction://noaction">
                  <a:extLst>
                    <a:ext uri="{A12FA001-AC4F-418D-AE19-62706E023703}">
                      <ahyp:hlinkClr xmlns:ahyp="http://schemas.microsoft.com/office/drawing/2018/hyperlinkcolor" val="tx"/>
                    </a:ext>
                  </a:extLst>
                </a:hlinkClick>
              </a:rPr>
              <a:t>Manager</a:t>
            </a:r>
            <a:endParaRPr kumimoji="0" sz="1000" b="0" i="0" u="none" strike="noStrike" kern="0" cap="none" spc="0" normalizeH="0" baseline="0" noProof="0" dirty="0">
              <a:ln>
                <a:noFill/>
              </a:ln>
              <a:solidFill>
                <a:srgbClr val="CB0538"/>
              </a:solidFill>
              <a:effectLst/>
              <a:uLnTx/>
              <a:uFillTx/>
              <a:latin typeface="Arial Black"/>
              <a:ea typeface="+mn-ea"/>
              <a:cs typeface="Arial Black"/>
            </a:endParaRPr>
          </a:p>
        </p:txBody>
      </p:sp>
    </p:spTree>
    <p:extLst>
      <p:ext uri="{BB962C8B-B14F-4D97-AF65-F5344CB8AC3E}">
        <p14:creationId xmlns:p14="http://schemas.microsoft.com/office/powerpoint/2010/main" val="17440992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13A17-EC9B-3220-9CD3-CAC3DAF620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82E5B7-AC83-5B99-FE3F-1FC87AA6F0E3}"/>
              </a:ext>
            </a:extLst>
          </p:cNvPr>
          <p:cNvSpPr>
            <a:spLocks noGrp="1"/>
          </p:cNvSpPr>
          <p:nvPr>
            <p:ph type="title"/>
          </p:nvPr>
        </p:nvSpPr>
        <p:spPr/>
        <p:txBody>
          <a:bodyPr/>
          <a:lstStyle/>
          <a:p>
            <a:r>
              <a:rPr lang="fr-BE" dirty="0"/>
              <a:t>2.11 DIGITAL FORENSICS INVESTIGATOR</a:t>
            </a:r>
          </a:p>
        </p:txBody>
      </p:sp>
      <p:sp>
        <p:nvSpPr>
          <p:cNvPr id="3" name="Content Placeholder 2">
            <a:extLst>
              <a:ext uri="{FF2B5EF4-FFF2-40B4-BE49-F238E27FC236}">
                <a16:creationId xmlns:a16="http://schemas.microsoft.com/office/drawing/2014/main" id="{7EDE5C65-7BA5-CA53-D904-A937FF15B71D}"/>
              </a:ext>
            </a:extLst>
          </p:cNvPr>
          <p:cNvSpPr>
            <a:spLocks noGrp="1"/>
          </p:cNvSpPr>
          <p:nvPr>
            <p:ph idx="1"/>
          </p:nvPr>
        </p:nvSpPr>
        <p:spPr/>
        <p:txBody>
          <a:bodyPr/>
          <a:lstStyle/>
          <a:p>
            <a:r>
              <a:rPr lang="en-US" dirty="0"/>
              <a:t>Summary statement </a:t>
            </a:r>
            <a:br>
              <a:rPr lang="en-US" dirty="0"/>
            </a:br>
            <a:r>
              <a:rPr lang="en-US" dirty="0"/>
              <a:t>Ensure the cybercriminal investigation reveals all digital evidence to prove the malicious activity. </a:t>
            </a:r>
          </a:p>
          <a:p>
            <a:r>
              <a:rPr lang="en-US" dirty="0"/>
              <a:t>Mission </a:t>
            </a:r>
            <a:br>
              <a:rPr lang="en-US" dirty="0"/>
            </a:br>
            <a:r>
              <a:rPr lang="en-US" dirty="0"/>
              <a:t>Connects artefacts to natural persons, captures, recovers, identifies and preserves data, including manifestations, inputs, outputs and processes of digital systems under investigation. Provides analysis, reconstruction and interpretation of the digital evidence based on a qualitative opinion. Presents an unbiased qualitative view without interpreting the resultant findings</a:t>
            </a:r>
            <a:endParaRPr lang="fr-BE" dirty="0"/>
          </a:p>
        </p:txBody>
      </p:sp>
      <p:pic>
        <p:nvPicPr>
          <p:cNvPr id="4" name="object 24">
            <a:extLst>
              <a:ext uri="{FF2B5EF4-FFF2-40B4-BE49-F238E27FC236}">
                <a16:creationId xmlns:a16="http://schemas.microsoft.com/office/drawing/2014/main" id="{5057CE80-B834-2BDE-8E9A-745E91DB86F1}"/>
              </a:ext>
            </a:extLst>
          </p:cNvPr>
          <p:cNvPicPr/>
          <p:nvPr/>
        </p:nvPicPr>
        <p:blipFill>
          <a:blip r:embed="rId2" cstate="print"/>
          <a:stretch>
            <a:fillRect/>
          </a:stretch>
        </p:blipFill>
        <p:spPr>
          <a:xfrm>
            <a:off x="10608519" y="537751"/>
            <a:ext cx="677394" cy="473212"/>
          </a:xfrm>
          <a:prstGeom prst="rect">
            <a:avLst/>
          </a:prstGeom>
        </p:spPr>
      </p:pic>
      <p:sp>
        <p:nvSpPr>
          <p:cNvPr id="5" name="object 25">
            <a:extLst>
              <a:ext uri="{FF2B5EF4-FFF2-40B4-BE49-F238E27FC236}">
                <a16:creationId xmlns:a16="http://schemas.microsoft.com/office/drawing/2014/main" id="{EE139C47-3D3F-45B1-242D-60DC068D294D}"/>
              </a:ext>
            </a:extLst>
          </p:cNvPr>
          <p:cNvSpPr txBox="1"/>
          <p:nvPr/>
        </p:nvSpPr>
        <p:spPr>
          <a:xfrm>
            <a:off x="9983697" y="1183589"/>
            <a:ext cx="2208303" cy="177036"/>
          </a:xfrm>
          <a:prstGeom prst="rect">
            <a:avLst/>
          </a:prstGeom>
        </p:spPr>
        <p:txBody>
          <a:bodyPr vert="horz" wrap="square" lIns="0" tIns="12700" rIns="0" bIns="0" rtlCol="0">
            <a:spAutoFit/>
          </a:bodyPr>
          <a:lstStyle/>
          <a:p>
            <a:pPr marL="210820" marR="5080" indent="-198120" algn="ctr">
              <a:lnSpc>
                <a:spcPct val="112999"/>
              </a:lnSpc>
              <a:spcBef>
                <a:spcPts val="100"/>
              </a:spcBef>
              <a:defRPr/>
            </a:pPr>
            <a:r>
              <a:rPr sz="1000" kern="0" spc="-65" dirty="0">
                <a:solidFill>
                  <a:srgbClr val="FFC000"/>
                </a:solidFill>
                <a:latin typeface="Arial Black"/>
                <a:hlinkClick r:id="" action="ppaction://noaction">
                  <a:extLst>
                    <a:ext uri="{A12FA001-AC4F-418D-AE19-62706E023703}">
                      <ahyp:hlinkClr xmlns:ahyp="http://schemas.microsoft.com/office/drawing/2018/hyperlinkcolor" val="tx"/>
                    </a:ext>
                  </a:extLst>
                </a:hlinkClick>
              </a:rPr>
              <a:t>Digital Forensics Investigator</a:t>
            </a:r>
            <a:endParaRPr sz="1000" kern="0" spc="-65" dirty="0">
              <a:solidFill>
                <a:srgbClr val="FFC000"/>
              </a:solidFill>
              <a:latin typeface="Arial Black"/>
            </a:endParaRPr>
          </a:p>
        </p:txBody>
      </p:sp>
    </p:spTree>
    <p:extLst>
      <p:ext uri="{BB962C8B-B14F-4D97-AF65-F5344CB8AC3E}">
        <p14:creationId xmlns:p14="http://schemas.microsoft.com/office/powerpoint/2010/main" val="38010192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146CD-51EF-8289-CADC-CCA447C156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AD2ADC-1DC2-DDBB-5410-047688A5E0FE}"/>
              </a:ext>
            </a:extLst>
          </p:cNvPr>
          <p:cNvSpPr>
            <a:spLocks noGrp="1"/>
          </p:cNvSpPr>
          <p:nvPr>
            <p:ph type="title"/>
          </p:nvPr>
        </p:nvSpPr>
        <p:spPr/>
        <p:txBody>
          <a:bodyPr/>
          <a:lstStyle/>
          <a:p>
            <a:r>
              <a:rPr lang="fr-BE" dirty="0"/>
              <a:t>2.12 PENETRATION TESTER</a:t>
            </a:r>
          </a:p>
        </p:txBody>
      </p:sp>
      <p:sp>
        <p:nvSpPr>
          <p:cNvPr id="3" name="Content Placeholder 2">
            <a:extLst>
              <a:ext uri="{FF2B5EF4-FFF2-40B4-BE49-F238E27FC236}">
                <a16:creationId xmlns:a16="http://schemas.microsoft.com/office/drawing/2014/main" id="{B57C7182-6778-9B96-00CD-44FA47F20FF8}"/>
              </a:ext>
            </a:extLst>
          </p:cNvPr>
          <p:cNvSpPr>
            <a:spLocks noGrp="1"/>
          </p:cNvSpPr>
          <p:nvPr>
            <p:ph idx="1"/>
          </p:nvPr>
        </p:nvSpPr>
        <p:spPr/>
        <p:txBody>
          <a:bodyPr>
            <a:normAutofit lnSpcReduction="10000"/>
          </a:bodyPr>
          <a:lstStyle/>
          <a:p>
            <a:r>
              <a:rPr lang="en-US" dirty="0"/>
              <a:t>Summary statement </a:t>
            </a:r>
            <a:br>
              <a:rPr lang="en-US" dirty="0"/>
            </a:br>
            <a:r>
              <a:rPr lang="en-US" dirty="0"/>
              <a:t>Assess the effectiveness of security controls, reveals and </a:t>
            </a:r>
            <a:r>
              <a:rPr lang="en-US" dirty="0" err="1"/>
              <a:t>utilise</a:t>
            </a:r>
            <a:r>
              <a:rPr lang="en-US" dirty="0"/>
              <a:t> cybersecurity vulnerabilities, assessing their criticality if exploited by threat actors. </a:t>
            </a:r>
          </a:p>
          <a:p>
            <a:r>
              <a:rPr lang="en-US" dirty="0"/>
              <a:t>Mission </a:t>
            </a:r>
            <a:br>
              <a:rPr lang="en-US" dirty="0"/>
            </a:br>
            <a:r>
              <a:rPr lang="en-US" dirty="0"/>
              <a:t>Plans, designs, implements and executes penetration testing activities and attack scenarios to evaluate the effectiveness of deployed or planned security measures. Identifies vulnerabilities or failures on technical and </a:t>
            </a:r>
            <a:r>
              <a:rPr lang="en-US" dirty="0" err="1"/>
              <a:t>organisational</a:t>
            </a:r>
            <a:r>
              <a:rPr lang="en-US" dirty="0"/>
              <a:t> controls that affect the confidentiality, integrity and availability of ICT products (e.g. systems, hardware, software and services).</a:t>
            </a:r>
            <a:endParaRPr lang="fr-BE" dirty="0"/>
          </a:p>
        </p:txBody>
      </p:sp>
      <p:pic>
        <p:nvPicPr>
          <p:cNvPr id="4" name="object 26">
            <a:extLst>
              <a:ext uri="{FF2B5EF4-FFF2-40B4-BE49-F238E27FC236}">
                <a16:creationId xmlns:a16="http://schemas.microsoft.com/office/drawing/2014/main" id="{0F0794B3-F722-34AE-C519-DCF97992E0D5}"/>
              </a:ext>
            </a:extLst>
          </p:cNvPr>
          <p:cNvPicPr/>
          <p:nvPr/>
        </p:nvPicPr>
        <p:blipFill>
          <a:blip r:embed="rId2" cstate="print"/>
          <a:stretch>
            <a:fillRect/>
          </a:stretch>
        </p:blipFill>
        <p:spPr>
          <a:xfrm>
            <a:off x="9955123" y="454970"/>
            <a:ext cx="677334" cy="558586"/>
          </a:xfrm>
          <a:prstGeom prst="rect">
            <a:avLst/>
          </a:prstGeom>
        </p:spPr>
      </p:pic>
      <p:sp>
        <p:nvSpPr>
          <p:cNvPr id="5" name="object 27">
            <a:extLst>
              <a:ext uri="{FF2B5EF4-FFF2-40B4-BE49-F238E27FC236}">
                <a16:creationId xmlns:a16="http://schemas.microsoft.com/office/drawing/2014/main" id="{B7EF0070-C6E6-97DA-07D1-061A841DC0C7}"/>
              </a:ext>
            </a:extLst>
          </p:cNvPr>
          <p:cNvSpPr txBox="1"/>
          <p:nvPr/>
        </p:nvSpPr>
        <p:spPr>
          <a:xfrm>
            <a:off x="9520232" y="1081024"/>
            <a:ext cx="1300167" cy="178190"/>
          </a:xfrm>
          <a:prstGeom prst="rect">
            <a:avLst/>
          </a:prstGeom>
        </p:spPr>
        <p:txBody>
          <a:bodyPr vert="horz" wrap="square" lIns="0" tIns="12700" rIns="0" bIns="0" rtlCol="0">
            <a:spAutoFit/>
          </a:bodyPr>
          <a:lstStyle/>
          <a:p>
            <a:pPr marL="318770" marR="5080" indent="-306705" algn="ctr">
              <a:lnSpc>
                <a:spcPct val="113999"/>
              </a:lnSpc>
              <a:spcBef>
                <a:spcPts val="100"/>
              </a:spcBef>
              <a:defRPr/>
            </a:pPr>
            <a:r>
              <a:rPr sz="1000" kern="0" spc="-65" dirty="0">
                <a:solidFill>
                  <a:srgbClr val="CB0538"/>
                </a:solidFill>
                <a:latin typeface="Arial Black"/>
                <a:hlinkClick r:id="" action="ppaction://noaction">
                  <a:extLst>
                    <a:ext uri="{A12FA001-AC4F-418D-AE19-62706E023703}">
                      <ahyp:hlinkClr xmlns:ahyp="http://schemas.microsoft.com/office/drawing/2018/hyperlinkcolor" val="tx"/>
                    </a:ext>
                  </a:extLst>
                </a:hlinkClick>
              </a:rPr>
              <a:t>Penetration Tester</a:t>
            </a:r>
            <a:endParaRPr sz="1000" kern="0" spc="-65" dirty="0">
              <a:solidFill>
                <a:srgbClr val="CB0538"/>
              </a:solidFill>
              <a:latin typeface="Arial Black"/>
            </a:endParaRPr>
          </a:p>
        </p:txBody>
      </p:sp>
    </p:spTree>
    <p:extLst>
      <p:ext uri="{BB962C8B-B14F-4D97-AF65-F5344CB8AC3E}">
        <p14:creationId xmlns:p14="http://schemas.microsoft.com/office/powerpoint/2010/main" val="28718636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EAD56-F3AE-7884-402F-666715E25EB2}"/>
            </a:ext>
          </a:extLst>
        </p:cNvPr>
        <p:cNvGrpSpPr/>
        <p:nvPr/>
      </p:nvGrpSpPr>
      <p:grpSpPr>
        <a:xfrm>
          <a:off x="0" y="0"/>
          <a:ext cx="0" cy="0"/>
          <a:chOff x="0" y="0"/>
          <a:chExt cx="0" cy="0"/>
        </a:xfrm>
      </p:grpSpPr>
      <p:pic>
        <p:nvPicPr>
          <p:cNvPr id="6146" name="Picture 2">
            <a:extLst>
              <a:ext uri="{FF2B5EF4-FFF2-40B4-BE49-F238E27FC236}">
                <a16:creationId xmlns:a16="http://schemas.microsoft.com/office/drawing/2014/main" id="{8714AEE8-EFB4-B238-1BB7-C829C8BC10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700" y="0"/>
            <a:ext cx="103886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object 4">
            <a:extLst>
              <a:ext uri="{FF2B5EF4-FFF2-40B4-BE49-F238E27FC236}">
                <a16:creationId xmlns:a16="http://schemas.microsoft.com/office/drawing/2014/main" id="{D8B9301E-A004-5096-2BFC-CA621D8CA6C0}"/>
              </a:ext>
            </a:extLst>
          </p:cNvPr>
          <p:cNvSpPr txBox="1"/>
          <p:nvPr/>
        </p:nvSpPr>
        <p:spPr>
          <a:xfrm>
            <a:off x="521922" y="-532519"/>
            <a:ext cx="1423670" cy="370205"/>
          </a:xfrm>
          <a:prstGeom prst="rect">
            <a:avLst/>
          </a:prstGeom>
        </p:spPr>
        <p:txBody>
          <a:bodyPr vert="horz" wrap="square" lIns="0" tIns="12700" rIns="0" bIns="0" rtlCol="0">
            <a:spAutoFit/>
          </a:bodyPr>
          <a:lstStyle/>
          <a:p>
            <a:pPr marL="12700" marR="5080" lvl="0" indent="137160" algn="l"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004F9F"/>
                </a:solidFill>
                <a:effectLst/>
                <a:uLnTx/>
                <a:uFillTx/>
                <a:latin typeface="Arial Black"/>
                <a:ea typeface="+mn-ea"/>
                <a:cs typeface="Arial Black"/>
                <a:hlinkClick r:id="" action="ppaction://noaction"/>
              </a:rPr>
              <a:t>Chief</a:t>
            </a:r>
            <a:r>
              <a:rPr kumimoji="0" sz="1000" b="0" i="0" u="none" strike="noStrike" kern="0" cap="none" spc="-40" normalizeH="0" baseline="0" noProof="0" dirty="0">
                <a:ln>
                  <a:noFill/>
                </a:ln>
                <a:solidFill>
                  <a:srgbClr val="004F9F"/>
                </a:solidFill>
                <a:effectLst/>
                <a:uLnTx/>
                <a:uFillTx/>
                <a:latin typeface="Arial Black"/>
                <a:ea typeface="+mn-ea"/>
                <a:cs typeface="Arial Black"/>
                <a:hlinkClick r:id="" action="ppaction://noaction"/>
              </a:rPr>
              <a:t> </a:t>
            </a:r>
            <a:r>
              <a:rPr kumimoji="0" sz="1000" b="0" i="0" u="none" strike="noStrike" kern="0" cap="none" spc="-10" normalizeH="0" baseline="0" noProof="0" dirty="0">
                <a:ln>
                  <a:noFill/>
                </a:ln>
                <a:solidFill>
                  <a:srgbClr val="004F9F"/>
                </a:solidFill>
                <a:effectLst/>
                <a:uLnTx/>
                <a:uFillTx/>
                <a:latin typeface="Arial Black"/>
                <a:ea typeface="+mn-ea"/>
                <a:cs typeface="Arial Black"/>
                <a:hlinkClick r:id="" action="ppaction://noaction"/>
              </a:rPr>
              <a:t>Information </a:t>
            </a:r>
            <a:r>
              <a:rPr kumimoji="0" sz="1000" b="0" i="0" u="none" strike="noStrike" kern="0" cap="none" spc="-70" normalizeH="0" baseline="0" noProof="0" dirty="0">
                <a:ln>
                  <a:noFill/>
                </a:ln>
                <a:solidFill>
                  <a:srgbClr val="004F9F"/>
                </a:solidFill>
                <a:effectLst/>
                <a:uLnTx/>
                <a:uFillTx/>
                <a:latin typeface="Arial Black"/>
                <a:ea typeface="+mn-ea"/>
                <a:cs typeface="Arial Black"/>
                <a:hlinkClick r:id="" action="ppaction://noaction"/>
              </a:rPr>
              <a:t>Security</a:t>
            </a:r>
            <a:r>
              <a:rPr kumimoji="0" sz="1000" b="0" i="0" u="none" strike="noStrike" kern="0" cap="none" spc="-40" normalizeH="0" baseline="0" noProof="0" dirty="0">
                <a:ln>
                  <a:noFill/>
                </a:ln>
                <a:solidFill>
                  <a:srgbClr val="004F9F"/>
                </a:solidFill>
                <a:effectLst/>
                <a:uLnTx/>
                <a:uFillTx/>
                <a:latin typeface="Arial Black"/>
                <a:ea typeface="+mn-ea"/>
                <a:cs typeface="Arial Black"/>
                <a:hlinkClick r:id="" action="ppaction://noaction"/>
              </a:rPr>
              <a:t> </a:t>
            </a:r>
            <a:r>
              <a:rPr kumimoji="0" sz="1000" b="0" i="0" u="none" strike="noStrike" kern="0" cap="none" spc="-55" normalizeH="0" baseline="0" noProof="0" dirty="0">
                <a:ln>
                  <a:noFill/>
                </a:ln>
                <a:solidFill>
                  <a:srgbClr val="004F9F"/>
                </a:solidFill>
                <a:effectLst/>
                <a:uLnTx/>
                <a:uFillTx/>
                <a:latin typeface="Arial Black"/>
                <a:ea typeface="+mn-ea"/>
                <a:cs typeface="Arial Black"/>
                <a:hlinkClick r:id="" action="ppaction://noaction"/>
              </a:rPr>
              <a:t>Officer</a:t>
            </a:r>
            <a:r>
              <a:rPr kumimoji="0" sz="1000" b="0" i="0" u="none" strike="noStrike" kern="0" cap="none" spc="-35" normalizeH="0" baseline="0" noProof="0" dirty="0">
                <a:ln>
                  <a:noFill/>
                </a:ln>
                <a:solidFill>
                  <a:srgbClr val="004F9F"/>
                </a:solidFill>
                <a:effectLst/>
                <a:uLnTx/>
                <a:uFillTx/>
                <a:latin typeface="Arial Black"/>
                <a:ea typeface="+mn-ea"/>
                <a:cs typeface="Arial Black"/>
                <a:hlinkClick r:id="" action="ppaction://noaction"/>
              </a:rPr>
              <a:t> </a:t>
            </a:r>
            <a:r>
              <a:rPr kumimoji="0" sz="1000" b="0" i="0" u="none" strike="noStrike" kern="0" cap="none" spc="-85" normalizeH="0" baseline="0" noProof="0" dirty="0">
                <a:ln>
                  <a:noFill/>
                </a:ln>
                <a:solidFill>
                  <a:srgbClr val="004F9F"/>
                </a:solidFill>
                <a:effectLst/>
                <a:uLnTx/>
                <a:uFillTx/>
                <a:latin typeface="Arial Black"/>
                <a:ea typeface="+mn-ea"/>
                <a:cs typeface="Arial Black"/>
                <a:hlinkClick r:id="" action="ppaction://noaction"/>
              </a:rPr>
              <a:t>(CISO)</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5" name="object 5">
            <a:extLst>
              <a:ext uri="{FF2B5EF4-FFF2-40B4-BE49-F238E27FC236}">
                <a16:creationId xmlns:a16="http://schemas.microsoft.com/office/drawing/2014/main" id="{57063FA8-7666-9B76-CE5B-15C2FF1378FC}"/>
              </a:ext>
            </a:extLst>
          </p:cNvPr>
          <p:cNvPicPr/>
          <p:nvPr/>
        </p:nvPicPr>
        <p:blipFill>
          <a:blip r:embed="rId3" cstate="print"/>
          <a:stretch>
            <a:fillRect/>
          </a:stretch>
        </p:blipFill>
        <p:spPr>
          <a:xfrm>
            <a:off x="912244" y="-1561954"/>
            <a:ext cx="635139" cy="951035"/>
          </a:xfrm>
          <a:prstGeom prst="rect">
            <a:avLst/>
          </a:prstGeom>
        </p:spPr>
      </p:pic>
      <p:pic>
        <p:nvPicPr>
          <p:cNvPr id="6" name="object 6">
            <a:extLst>
              <a:ext uri="{FF2B5EF4-FFF2-40B4-BE49-F238E27FC236}">
                <a16:creationId xmlns:a16="http://schemas.microsoft.com/office/drawing/2014/main" id="{F30371DB-9909-E450-4A72-376CC098CD2C}"/>
              </a:ext>
            </a:extLst>
          </p:cNvPr>
          <p:cNvPicPr/>
          <p:nvPr/>
        </p:nvPicPr>
        <p:blipFill>
          <a:blip r:embed="rId4" cstate="print"/>
          <a:stretch>
            <a:fillRect/>
          </a:stretch>
        </p:blipFill>
        <p:spPr>
          <a:xfrm>
            <a:off x="2526627" y="-1596134"/>
            <a:ext cx="851375" cy="959551"/>
          </a:xfrm>
          <a:prstGeom prst="rect">
            <a:avLst/>
          </a:prstGeom>
        </p:spPr>
      </p:pic>
      <p:sp>
        <p:nvSpPr>
          <p:cNvPr id="7" name="object 7">
            <a:extLst>
              <a:ext uri="{FF2B5EF4-FFF2-40B4-BE49-F238E27FC236}">
                <a16:creationId xmlns:a16="http://schemas.microsoft.com/office/drawing/2014/main" id="{72F92E5A-B6CD-DD73-A929-0DDDE30D4DA8}"/>
              </a:ext>
            </a:extLst>
          </p:cNvPr>
          <p:cNvSpPr txBox="1"/>
          <p:nvPr/>
        </p:nvSpPr>
        <p:spPr>
          <a:xfrm>
            <a:off x="2485971" y="-562390"/>
            <a:ext cx="948055" cy="370205"/>
          </a:xfrm>
          <a:prstGeom prst="rect">
            <a:avLst/>
          </a:prstGeom>
        </p:spPr>
        <p:txBody>
          <a:bodyPr vert="horz" wrap="square" lIns="0" tIns="12700" rIns="0" bIns="0" rtlCol="0">
            <a:spAutoFit/>
          </a:bodyPr>
          <a:lstStyle/>
          <a:p>
            <a:pPr marL="133985" marR="5080" lvl="0" indent="-121920" algn="l"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CA0438"/>
                </a:solidFill>
                <a:effectLst/>
                <a:uLnTx/>
                <a:uFillTx/>
                <a:latin typeface="Arial Black"/>
                <a:ea typeface="+mn-ea"/>
                <a:cs typeface="Arial Black"/>
                <a:hlinkClick r:id="" action="ppaction://noaction"/>
              </a:rPr>
              <a:t>Cyber</a:t>
            </a:r>
            <a:r>
              <a:rPr kumimoji="0" sz="1000" b="0" i="0" u="none" strike="noStrike" kern="0" cap="none" spc="-55" normalizeH="0" baseline="0" noProof="0" dirty="0">
                <a:ln>
                  <a:noFill/>
                </a:ln>
                <a:solidFill>
                  <a:srgbClr val="CA0438"/>
                </a:solidFill>
                <a:effectLst/>
                <a:uLnTx/>
                <a:uFillTx/>
                <a:latin typeface="Arial Black"/>
                <a:ea typeface="+mn-ea"/>
                <a:cs typeface="Arial Black"/>
                <a:hlinkClick r:id="" action="ppaction://noaction"/>
              </a:rPr>
              <a:t> Incident </a:t>
            </a:r>
            <a:r>
              <a:rPr kumimoji="0" sz="1000" b="0" i="0" u="none" strike="noStrike" kern="0" cap="none" spc="-10" normalizeH="0" baseline="0" noProof="0" dirty="0">
                <a:ln>
                  <a:noFill/>
                </a:ln>
                <a:solidFill>
                  <a:srgbClr val="CA0438"/>
                </a:solidFill>
                <a:effectLst/>
                <a:uLnTx/>
                <a:uFillTx/>
                <a:latin typeface="Arial Black"/>
                <a:ea typeface="+mn-ea"/>
                <a:cs typeface="Arial Black"/>
                <a:hlinkClick r:id="" action="ppaction://noaction"/>
              </a:rPr>
              <a:t>Responder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sp>
        <p:nvSpPr>
          <p:cNvPr id="8" name="object 8">
            <a:extLst>
              <a:ext uri="{FF2B5EF4-FFF2-40B4-BE49-F238E27FC236}">
                <a16:creationId xmlns:a16="http://schemas.microsoft.com/office/drawing/2014/main" id="{2C00A31C-915F-28BB-CF21-1B78F5CEB567}"/>
              </a:ext>
            </a:extLst>
          </p:cNvPr>
          <p:cNvSpPr txBox="1"/>
          <p:nvPr/>
        </p:nvSpPr>
        <p:spPr>
          <a:xfrm>
            <a:off x="4212916" y="-562390"/>
            <a:ext cx="1473200" cy="370205"/>
          </a:xfrm>
          <a:prstGeom prst="rect">
            <a:avLst/>
          </a:prstGeom>
        </p:spPr>
        <p:txBody>
          <a:bodyPr vert="horz" wrap="square" lIns="0" tIns="12700" rIns="0" bIns="0" rtlCol="0">
            <a:spAutoFit/>
          </a:bodyPr>
          <a:lstStyle/>
          <a:p>
            <a:pPr marL="131445" marR="5080" lvl="0" indent="-119380" algn="l"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004F9F"/>
                </a:solidFill>
                <a:effectLst/>
                <a:uLnTx/>
                <a:uFillTx/>
                <a:latin typeface="Arial Black"/>
                <a:ea typeface="+mn-ea"/>
                <a:cs typeface="Arial Black"/>
                <a:hlinkClick r:id="" action="ppaction://noaction"/>
              </a:rPr>
              <a:t>Cyber</a:t>
            </a:r>
            <a:r>
              <a:rPr kumimoji="0" sz="1000" b="0" i="0" u="none" strike="noStrike" kern="0" cap="none" spc="-40" normalizeH="0" baseline="0" noProof="0" dirty="0">
                <a:ln>
                  <a:noFill/>
                </a:ln>
                <a:solidFill>
                  <a:srgbClr val="004F9F"/>
                </a:solidFill>
                <a:effectLst/>
                <a:uLnTx/>
                <a:uFillTx/>
                <a:latin typeface="Arial Black"/>
                <a:ea typeface="+mn-ea"/>
                <a:cs typeface="Arial Black"/>
                <a:hlinkClick r:id="" action="ppaction://noaction"/>
              </a:rPr>
              <a:t> </a:t>
            </a:r>
            <a:r>
              <a:rPr kumimoji="0" sz="1000" b="0" i="0" u="none" strike="noStrike" kern="0" cap="none" spc="-85" normalizeH="0" baseline="0" noProof="0" dirty="0">
                <a:ln>
                  <a:noFill/>
                </a:ln>
                <a:solidFill>
                  <a:srgbClr val="004F9F"/>
                </a:solidFill>
                <a:effectLst/>
                <a:uLnTx/>
                <a:uFillTx/>
                <a:latin typeface="Arial Black"/>
                <a:ea typeface="+mn-ea"/>
                <a:cs typeface="Arial Black"/>
                <a:hlinkClick r:id="" action="ppaction://noaction"/>
              </a:rPr>
              <a:t>Legal,</a:t>
            </a:r>
            <a:r>
              <a:rPr kumimoji="0" sz="1000" b="0" i="0" u="none" strike="noStrike" kern="0" cap="none" spc="-45" normalizeH="0" baseline="0" noProof="0" dirty="0">
                <a:ln>
                  <a:noFill/>
                </a:ln>
                <a:solidFill>
                  <a:srgbClr val="004F9F"/>
                </a:solidFill>
                <a:effectLst/>
                <a:uLnTx/>
                <a:uFillTx/>
                <a:latin typeface="Arial Black"/>
                <a:ea typeface="+mn-ea"/>
                <a:cs typeface="Arial Black"/>
                <a:hlinkClick r:id="" action="ppaction://noaction"/>
              </a:rPr>
              <a:t> </a:t>
            </a:r>
            <a:r>
              <a:rPr kumimoji="0" sz="1000" b="0" i="0" u="none" strike="noStrike" kern="0" cap="none" spc="-75" normalizeH="0" baseline="0" noProof="0" dirty="0">
                <a:ln>
                  <a:noFill/>
                </a:ln>
                <a:solidFill>
                  <a:srgbClr val="004F9F"/>
                </a:solidFill>
                <a:effectLst/>
                <a:uLnTx/>
                <a:uFillTx/>
                <a:latin typeface="Arial Black"/>
                <a:ea typeface="+mn-ea"/>
                <a:cs typeface="Arial Black"/>
                <a:hlinkClick r:id="" action="ppaction://noaction"/>
              </a:rPr>
              <a:t>Policy</a:t>
            </a:r>
            <a:r>
              <a:rPr kumimoji="0" sz="1000" b="0" i="0" u="none" strike="noStrike" kern="0" cap="none" spc="-40" normalizeH="0" baseline="0" noProof="0" dirty="0">
                <a:ln>
                  <a:noFill/>
                </a:ln>
                <a:solidFill>
                  <a:srgbClr val="004F9F"/>
                </a:solidFill>
                <a:effectLst/>
                <a:uLnTx/>
                <a:uFillTx/>
                <a:latin typeface="Arial Black"/>
                <a:ea typeface="+mn-ea"/>
                <a:cs typeface="Arial Black"/>
                <a:hlinkClick r:id="" action="ppaction://noaction"/>
              </a:rPr>
              <a:t> </a:t>
            </a:r>
            <a:r>
              <a:rPr kumimoji="0" sz="1000" b="0" i="0" u="none" strike="noStrike" kern="0" cap="none" spc="-25" normalizeH="0" baseline="0" noProof="0" dirty="0">
                <a:ln>
                  <a:noFill/>
                </a:ln>
                <a:solidFill>
                  <a:srgbClr val="004F9F"/>
                </a:solidFill>
                <a:effectLst/>
                <a:uLnTx/>
                <a:uFillTx/>
                <a:latin typeface="Arial Black"/>
                <a:ea typeface="+mn-ea"/>
                <a:cs typeface="Arial Black"/>
                <a:hlinkClick r:id="" action="ppaction://noaction"/>
              </a:rPr>
              <a:t>and </a:t>
            </a:r>
            <a:r>
              <a:rPr kumimoji="0" sz="1000" b="0" i="0" u="none" strike="noStrike" kern="0" cap="none" spc="-70" normalizeH="0" baseline="0" noProof="0" dirty="0">
                <a:ln>
                  <a:noFill/>
                </a:ln>
                <a:solidFill>
                  <a:srgbClr val="004F9F"/>
                </a:solidFill>
                <a:effectLst/>
                <a:uLnTx/>
                <a:uFillTx/>
                <a:latin typeface="Arial Black"/>
                <a:ea typeface="+mn-ea"/>
                <a:cs typeface="Arial Black"/>
                <a:hlinkClick r:id="" action="ppaction://noaction"/>
              </a:rPr>
              <a:t>Compliance</a:t>
            </a:r>
            <a:r>
              <a:rPr kumimoji="0" sz="1000" b="0" i="0" u="none" strike="noStrike" kern="0" cap="none" spc="-15" normalizeH="0" baseline="0" noProof="0" dirty="0">
                <a:ln>
                  <a:noFill/>
                </a:ln>
                <a:solidFill>
                  <a:srgbClr val="004F9F"/>
                </a:solidFill>
                <a:effectLst/>
                <a:uLnTx/>
                <a:uFillTx/>
                <a:latin typeface="Arial Black"/>
                <a:ea typeface="+mn-ea"/>
                <a:cs typeface="Arial Black"/>
                <a:hlinkClick r:id="" action="ppaction://noaction"/>
              </a:rPr>
              <a:t> </a:t>
            </a:r>
            <a:r>
              <a:rPr kumimoji="0" sz="1000" b="0" i="0" u="none" strike="noStrike" kern="0" cap="none" spc="-10" normalizeH="0" baseline="0" noProof="0" dirty="0">
                <a:ln>
                  <a:noFill/>
                </a:ln>
                <a:solidFill>
                  <a:srgbClr val="004F9F"/>
                </a:solidFill>
                <a:effectLst/>
                <a:uLnTx/>
                <a:uFillTx/>
                <a:latin typeface="Arial Black"/>
                <a:ea typeface="+mn-ea"/>
                <a:cs typeface="Arial Black"/>
                <a:hlinkClick r:id="" action="ppaction://noaction"/>
              </a:rPr>
              <a:t>Officer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9" name="object 9">
            <a:extLst>
              <a:ext uri="{FF2B5EF4-FFF2-40B4-BE49-F238E27FC236}">
                <a16:creationId xmlns:a16="http://schemas.microsoft.com/office/drawing/2014/main" id="{129FCA9E-E7B8-A7CF-1877-BDB8D582A3AB}"/>
              </a:ext>
            </a:extLst>
          </p:cNvPr>
          <p:cNvPicPr/>
          <p:nvPr/>
        </p:nvPicPr>
        <p:blipFill>
          <a:blip r:embed="rId5" cstate="print"/>
          <a:stretch>
            <a:fillRect/>
          </a:stretch>
        </p:blipFill>
        <p:spPr>
          <a:xfrm>
            <a:off x="4314781" y="-1561889"/>
            <a:ext cx="1289636" cy="891202"/>
          </a:xfrm>
          <a:prstGeom prst="rect">
            <a:avLst/>
          </a:prstGeom>
        </p:spPr>
      </p:pic>
      <p:pic>
        <p:nvPicPr>
          <p:cNvPr id="10" name="object 10">
            <a:extLst>
              <a:ext uri="{FF2B5EF4-FFF2-40B4-BE49-F238E27FC236}">
                <a16:creationId xmlns:a16="http://schemas.microsoft.com/office/drawing/2014/main" id="{67B21CB7-4EDD-1681-E1D0-A737BD62B4E7}"/>
              </a:ext>
            </a:extLst>
          </p:cNvPr>
          <p:cNvPicPr/>
          <p:nvPr/>
        </p:nvPicPr>
        <p:blipFill>
          <a:blip r:embed="rId6" cstate="print"/>
          <a:stretch>
            <a:fillRect/>
          </a:stretch>
        </p:blipFill>
        <p:spPr>
          <a:xfrm>
            <a:off x="6439096" y="-1639880"/>
            <a:ext cx="971871" cy="1128754"/>
          </a:xfrm>
          <a:prstGeom prst="rect">
            <a:avLst/>
          </a:prstGeom>
        </p:spPr>
      </p:pic>
      <p:sp>
        <p:nvSpPr>
          <p:cNvPr id="11" name="object 11">
            <a:extLst>
              <a:ext uri="{FF2B5EF4-FFF2-40B4-BE49-F238E27FC236}">
                <a16:creationId xmlns:a16="http://schemas.microsoft.com/office/drawing/2014/main" id="{4D231532-B97F-69FF-5594-40B100BCEA74}"/>
              </a:ext>
            </a:extLst>
          </p:cNvPr>
          <p:cNvSpPr txBox="1"/>
          <p:nvPr/>
        </p:nvSpPr>
        <p:spPr>
          <a:xfrm>
            <a:off x="6214778" y="-523388"/>
            <a:ext cx="1400175" cy="370205"/>
          </a:xfrm>
          <a:prstGeom prst="rect">
            <a:avLst/>
          </a:prstGeom>
        </p:spPr>
        <p:txBody>
          <a:bodyPr vert="horz" wrap="square" lIns="0" tIns="12700" rIns="0" bIns="0" rtlCol="0">
            <a:spAutoFit/>
          </a:bodyPr>
          <a:lstStyle/>
          <a:p>
            <a:pPr marL="12700" marR="5080" lvl="0" indent="278765" algn="l"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F8B133"/>
                </a:solidFill>
                <a:effectLst/>
                <a:uLnTx/>
                <a:uFillTx/>
                <a:latin typeface="Arial Black"/>
                <a:ea typeface="+mn-ea"/>
                <a:cs typeface="Arial Black"/>
                <a:hlinkClick r:id="" action="ppaction://noaction"/>
              </a:rPr>
              <a:t>Cyber</a:t>
            </a:r>
            <a:r>
              <a:rPr kumimoji="0" sz="1000" b="0" i="0" u="none" strike="noStrike" kern="0" cap="none" spc="-55" normalizeH="0" baseline="0" noProof="0" dirty="0">
                <a:ln>
                  <a:noFill/>
                </a:ln>
                <a:solidFill>
                  <a:srgbClr val="F8B133"/>
                </a:solidFill>
                <a:effectLst/>
                <a:uLnTx/>
                <a:uFillTx/>
                <a:latin typeface="Arial Black"/>
                <a:ea typeface="+mn-ea"/>
                <a:cs typeface="Arial Black"/>
                <a:hlinkClick r:id="" action="ppaction://noaction"/>
              </a:rPr>
              <a:t> </a:t>
            </a:r>
            <a:r>
              <a:rPr kumimoji="0" sz="1000" b="0" i="0" u="none" strike="noStrike" kern="0" cap="none" spc="-10" normalizeH="0" baseline="0" noProof="0" dirty="0">
                <a:ln>
                  <a:noFill/>
                </a:ln>
                <a:solidFill>
                  <a:srgbClr val="F8B133"/>
                </a:solidFill>
                <a:effectLst/>
                <a:uLnTx/>
                <a:uFillTx/>
                <a:latin typeface="Arial Black"/>
                <a:ea typeface="+mn-ea"/>
                <a:cs typeface="Arial Black"/>
                <a:hlinkClick r:id="" action="ppaction://noaction"/>
              </a:rPr>
              <a:t>Threat </a:t>
            </a:r>
            <a:r>
              <a:rPr kumimoji="0" sz="1000" b="0" i="0" u="none" strike="noStrike" kern="0" cap="none" spc="-70" normalizeH="0" baseline="0" noProof="0" dirty="0">
                <a:ln>
                  <a:noFill/>
                </a:ln>
                <a:solidFill>
                  <a:srgbClr val="F8B133"/>
                </a:solidFill>
                <a:effectLst/>
                <a:uLnTx/>
                <a:uFillTx/>
                <a:latin typeface="Arial Black"/>
                <a:ea typeface="+mn-ea"/>
                <a:cs typeface="Arial Black"/>
                <a:hlinkClick r:id="" action="ppaction://noaction"/>
              </a:rPr>
              <a:t>Intelligence</a:t>
            </a:r>
            <a:r>
              <a:rPr kumimoji="0" sz="1000" b="0" i="0" u="none" strike="noStrike" kern="0" cap="none" spc="25" normalizeH="0" baseline="0" noProof="0" dirty="0">
                <a:ln>
                  <a:noFill/>
                </a:ln>
                <a:solidFill>
                  <a:srgbClr val="F8B133"/>
                </a:solidFill>
                <a:effectLst/>
                <a:uLnTx/>
                <a:uFillTx/>
                <a:latin typeface="Arial Black"/>
                <a:ea typeface="+mn-ea"/>
                <a:cs typeface="Arial Black"/>
                <a:hlinkClick r:id="" action="ppaction://noaction"/>
              </a:rPr>
              <a:t> </a:t>
            </a:r>
            <a:r>
              <a:rPr kumimoji="0" sz="1000" b="0" i="0" u="none" strike="noStrike" kern="0" cap="none" spc="-75" normalizeH="0" baseline="0" noProof="0" dirty="0">
                <a:ln>
                  <a:noFill/>
                </a:ln>
                <a:solidFill>
                  <a:srgbClr val="F8B133"/>
                </a:solidFill>
                <a:effectLst/>
                <a:uLnTx/>
                <a:uFillTx/>
                <a:latin typeface="Arial Black"/>
                <a:ea typeface="+mn-ea"/>
                <a:cs typeface="Arial Black"/>
                <a:hlinkClick r:id="" action="ppaction://noaction"/>
              </a:rPr>
              <a:t>Specialist</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12" name="object 12">
            <a:extLst>
              <a:ext uri="{FF2B5EF4-FFF2-40B4-BE49-F238E27FC236}">
                <a16:creationId xmlns:a16="http://schemas.microsoft.com/office/drawing/2014/main" id="{A1C0FA1A-FD4E-8859-0D1D-64F7A34637B7}"/>
              </a:ext>
            </a:extLst>
          </p:cNvPr>
          <p:cNvPicPr/>
          <p:nvPr/>
        </p:nvPicPr>
        <p:blipFill>
          <a:blip r:embed="rId7" cstate="print"/>
          <a:stretch>
            <a:fillRect/>
          </a:stretch>
        </p:blipFill>
        <p:spPr>
          <a:xfrm>
            <a:off x="8368905" y="-1596134"/>
            <a:ext cx="1051705" cy="1025630"/>
          </a:xfrm>
          <a:prstGeom prst="rect">
            <a:avLst/>
          </a:prstGeom>
        </p:spPr>
      </p:pic>
      <p:sp>
        <p:nvSpPr>
          <p:cNvPr id="13" name="object 13">
            <a:extLst>
              <a:ext uri="{FF2B5EF4-FFF2-40B4-BE49-F238E27FC236}">
                <a16:creationId xmlns:a16="http://schemas.microsoft.com/office/drawing/2014/main" id="{4CF64BBD-3842-4687-0538-725D17C1ABAC}"/>
              </a:ext>
            </a:extLst>
          </p:cNvPr>
          <p:cNvSpPr txBox="1"/>
          <p:nvPr/>
        </p:nvSpPr>
        <p:spPr>
          <a:xfrm>
            <a:off x="8455388" y="-503576"/>
            <a:ext cx="900430" cy="373380"/>
          </a:xfrm>
          <a:prstGeom prst="rect">
            <a:avLst/>
          </a:prstGeom>
        </p:spPr>
        <p:txBody>
          <a:bodyPr vert="horz" wrap="square" lIns="0" tIns="12700" rIns="0" bIns="0" rtlCol="0">
            <a:spAutoFit/>
          </a:bodyPr>
          <a:lstStyle/>
          <a:p>
            <a:pPr marL="157480" marR="5080" lvl="0" indent="-14478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94C11F"/>
                </a:solidFill>
                <a:effectLst/>
                <a:uLnTx/>
                <a:uFillTx/>
                <a:latin typeface="Arial Black"/>
                <a:ea typeface="+mn-ea"/>
                <a:cs typeface="Arial Black"/>
                <a:hlinkClick r:id="" action="ppaction://noaction"/>
              </a:rPr>
              <a:t>Cybersecurity </a:t>
            </a:r>
            <a:r>
              <a:rPr kumimoji="0" sz="1000" b="0" i="0" u="none" strike="noStrike" kern="0" cap="none" spc="-10" normalizeH="0" baseline="0" noProof="0" dirty="0">
                <a:ln>
                  <a:noFill/>
                </a:ln>
                <a:solidFill>
                  <a:srgbClr val="94C11F"/>
                </a:solidFill>
                <a:effectLst/>
                <a:uLnTx/>
                <a:uFillTx/>
                <a:latin typeface="Arial Black"/>
                <a:ea typeface="+mn-ea"/>
                <a:cs typeface="Arial Black"/>
                <a:hlinkClick r:id="" action="ppaction://noaction"/>
              </a:rPr>
              <a:t>Architect</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14" name="object 14">
            <a:extLst>
              <a:ext uri="{FF2B5EF4-FFF2-40B4-BE49-F238E27FC236}">
                <a16:creationId xmlns:a16="http://schemas.microsoft.com/office/drawing/2014/main" id="{EC1D885B-8E75-49B9-103B-75486CD0DB6F}"/>
              </a:ext>
            </a:extLst>
          </p:cNvPr>
          <p:cNvPicPr/>
          <p:nvPr/>
        </p:nvPicPr>
        <p:blipFill>
          <a:blip r:embed="rId8" cstate="print"/>
          <a:stretch>
            <a:fillRect/>
          </a:stretch>
        </p:blipFill>
        <p:spPr>
          <a:xfrm>
            <a:off x="10251294" y="-1573947"/>
            <a:ext cx="1214443" cy="1013287"/>
          </a:xfrm>
          <a:prstGeom prst="rect">
            <a:avLst/>
          </a:prstGeom>
        </p:spPr>
      </p:pic>
      <p:sp>
        <p:nvSpPr>
          <p:cNvPr id="15" name="object 15">
            <a:extLst>
              <a:ext uri="{FF2B5EF4-FFF2-40B4-BE49-F238E27FC236}">
                <a16:creationId xmlns:a16="http://schemas.microsoft.com/office/drawing/2014/main" id="{064F7D30-E122-4294-222E-DBF2EDC49C02}"/>
              </a:ext>
            </a:extLst>
          </p:cNvPr>
          <p:cNvSpPr txBox="1"/>
          <p:nvPr/>
        </p:nvSpPr>
        <p:spPr>
          <a:xfrm>
            <a:off x="10444462" y="-491384"/>
            <a:ext cx="900430" cy="370205"/>
          </a:xfrm>
          <a:prstGeom prst="rect">
            <a:avLst/>
          </a:prstGeom>
        </p:spPr>
        <p:txBody>
          <a:bodyPr vert="horz" wrap="square" lIns="0" tIns="12700" rIns="0" bIns="0" rtlCol="0">
            <a:spAutoFit/>
          </a:bodyPr>
          <a:lstStyle/>
          <a:p>
            <a:pPr marL="210820" marR="5080" lvl="0" indent="-198120" algn="l"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F8B133"/>
                </a:solidFill>
                <a:effectLst/>
                <a:uLnTx/>
                <a:uFillTx/>
                <a:latin typeface="Arial Black"/>
                <a:ea typeface="+mn-ea"/>
                <a:cs typeface="Arial Black"/>
                <a:hlinkClick r:id="" action="ppaction://noaction"/>
              </a:rPr>
              <a:t>Cybersecurity </a:t>
            </a:r>
            <a:r>
              <a:rPr kumimoji="0" sz="1000" b="0" i="0" u="none" strike="noStrike" kern="0" cap="none" spc="-10" normalizeH="0" baseline="0" noProof="0" dirty="0">
                <a:ln>
                  <a:noFill/>
                </a:ln>
                <a:solidFill>
                  <a:srgbClr val="F8B133"/>
                </a:solidFill>
                <a:effectLst/>
                <a:uLnTx/>
                <a:uFillTx/>
                <a:latin typeface="Arial Black"/>
                <a:ea typeface="+mn-ea"/>
                <a:cs typeface="Arial Black"/>
                <a:hlinkClick r:id="" action="ppaction://noaction"/>
              </a:rPr>
              <a:t>Auditor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sp>
        <p:nvSpPr>
          <p:cNvPr id="16" name="object 16">
            <a:extLst>
              <a:ext uri="{FF2B5EF4-FFF2-40B4-BE49-F238E27FC236}">
                <a16:creationId xmlns:a16="http://schemas.microsoft.com/office/drawing/2014/main" id="{8C8169D6-DDC6-E89E-BF18-DF96E4CDD900}"/>
              </a:ext>
            </a:extLst>
          </p:cNvPr>
          <p:cNvSpPr txBox="1"/>
          <p:nvPr/>
        </p:nvSpPr>
        <p:spPr>
          <a:xfrm>
            <a:off x="865659" y="8217475"/>
            <a:ext cx="900430" cy="373380"/>
          </a:xfrm>
          <a:prstGeom prst="rect">
            <a:avLst/>
          </a:prstGeom>
        </p:spPr>
        <p:txBody>
          <a:bodyPr vert="horz" wrap="square" lIns="0" tIns="12700" rIns="0" bIns="0" rtlCol="0">
            <a:spAutoFit/>
          </a:bodyPr>
          <a:lstStyle/>
          <a:p>
            <a:pPr marL="165100" marR="5080" lvl="0" indent="-15240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94C11F"/>
                </a:solidFill>
                <a:effectLst/>
                <a:uLnTx/>
                <a:uFillTx/>
                <a:latin typeface="Arial Black"/>
                <a:ea typeface="+mn-ea"/>
                <a:cs typeface="Arial Black"/>
                <a:hlinkClick r:id="" action="ppaction://noaction"/>
              </a:rPr>
              <a:t>Cybersecurity </a:t>
            </a:r>
            <a:r>
              <a:rPr kumimoji="0" sz="1000" b="0" i="0" u="none" strike="noStrike" kern="0" cap="none" spc="-10" normalizeH="0" baseline="0" noProof="0" dirty="0">
                <a:ln>
                  <a:noFill/>
                </a:ln>
                <a:solidFill>
                  <a:srgbClr val="94C11F"/>
                </a:solidFill>
                <a:effectLst/>
                <a:uLnTx/>
                <a:uFillTx/>
                <a:latin typeface="Arial Black"/>
                <a:ea typeface="+mn-ea"/>
                <a:cs typeface="Arial Black"/>
                <a:hlinkClick r:id="" action="ppaction://noaction"/>
              </a:rPr>
              <a:t>Educator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17" name="object 17">
            <a:extLst>
              <a:ext uri="{FF2B5EF4-FFF2-40B4-BE49-F238E27FC236}">
                <a16:creationId xmlns:a16="http://schemas.microsoft.com/office/drawing/2014/main" id="{3AAA0F95-9D10-F2D0-9ECF-9DBA98E42884}"/>
              </a:ext>
            </a:extLst>
          </p:cNvPr>
          <p:cNvPicPr/>
          <p:nvPr/>
        </p:nvPicPr>
        <p:blipFill>
          <a:blip r:embed="rId9" cstate="print"/>
          <a:stretch>
            <a:fillRect/>
          </a:stretch>
        </p:blipFill>
        <p:spPr>
          <a:xfrm>
            <a:off x="770420" y="7256338"/>
            <a:ext cx="1089458" cy="768000"/>
          </a:xfrm>
          <a:prstGeom prst="rect">
            <a:avLst/>
          </a:prstGeom>
        </p:spPr>
      </p:pic>
      <p:sp>
        <p:nvSpPr>
          <p:cNvPr id="18" name="object 18">
            <a:extLst>
              <a:ext uri="{FF2B5EF4-FFF2-40B4-BE49-F238E27FC236}">
                <a16:creationId xmlns:a16="http://schemas.microsoft.com/office/drawing/2014/main" id="{7D69DCFF-2425-49A9-7FFA-A5109A7F5B64}"/>
              </a:ext>
            </a:extLst>
          </p:cNvPr>
          <p:cNvSpPr txBox="1"/>
          <p:nvPr/>
        </p:nvSpPr>
        <p:spPr>
          <a:xfrm>
            <a:off x="2854859" y="8217475"/>
            <a:ext cx="900430" cy="373380"/>
          </a:xfrm>
          <a:prstGeom prst="rect">
            <a:avLst/>
          </a:prstGeom>
        </p:spPr>
        <p:txBody>
          <a:bodyPr vert="horz" wrap="square" lIns="0" tIns="12700" rIns="0" bIns="0" rtlCol="0">
            <a:spAutoFit/>
          </a:bodyPr>
          <a:lstStyle/>
          <a:p>
            <a:pPr marL="33655" marR="5080" lvl="0" indent="-2159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004F9F"/>
                </a:solidFill>
                <a:effectLst/>
                <a:uLnTx/>
                <a:uFillTx/>
                <a:latin typeface="Arial Black"/>
                <a:ea typeface="+mn-ea"/>
                <a:cs typeface="Arial Black"/>
                <a:hlinkClick r:id="" action="ppaction://noaction"/>
              </a:rPr>
              <a:t>Cybersecurity </a:t>
            </a:r>
            <a:r>
              <a:rPr kumimoji="0" sz="1000" b="0" i="0" u="none" strike="noStrike" kern="0" cap="none" spc="-30" normalizeH="0" baseline="0" noProof="0" dirty="0">
                <a:ln>
                  <a:noFill/>
                </a:ln>
                <a:solidFill>
                  <a:srgbClr val="004F9F"/>
                </a:solidFill>
                <a:effectLst/>
                <a:uLnTx/>
                <a:uFillTx/>
                <a:latin typeface="Arial Black"/>
                <a:ea typeface="+mn-ea"/>
                <a:cs typeface="Arial Black"/>
                <a:hlinkClick r:id="" action="ppaction://noaction"/>
              </a:rPr>
              <a:t>Implementer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19" name="object 19">
            <a:extLst>
              <a:ext uri="{FF2B5EF4-FFF2-40B4-BE49-F238E27FC236}">
                <a16:creationId xmlns:a16="http://schemas.microsoft.com/office/drawing/2014/main" id="{FEA911E2-3BF1-BBC8-059B-1F65060B0DAA}"/>
              </a:ext>
            </a:extLst>
          </p:cNvPr>
          <p:cNvPicPr/>
          <p:nvPr/>
        </p:nvPicPr>
        <p:blipFill>
          <a:blip r:embed="rId10" cstate="print"/>
          <a:stretch>
            <a:fillRect/>
          </a:stretch>
        </p:blipFill>
        <p:spPr>
          <a:xfrm>
            <a:off x="2791530" y="7225308"/>
            <a:ext cx="1014008" cy="835570"/>
          </a:xfrm>
          <a:prstGeom prst="rect">
            <a:avLst/>
          </a:prstGeom>
        </p:spPr>
      </p:pic>
      <p:pic>
        <p:nvPicPr>
          <p:cNvPr id="20" name="object 20">
            <a:extLst>
              <a:ext uri="{FF2B5EF4-FFF2-40B4-BE49-F238E27FC236}">
                <a16:creationId xmlns:a16="http://schemas.microsoft.com/office/drawing/2014/main" id="{181F7F55-4187-2D63-22B8-21F4EBFAD6B1}"/>
              </a:ext>
            </a:extLst>
          </p:cNvPr>
          <p:cNvPicPr/>
          <p:nvPr/>
        </p:nvPicPr>
        <p:blipFill>
          <a:blip r:embed="rId11" cstate="print"/>
          <a:stretch>
            <a:fillRect/>
          </a:stretch>
        </p:blipFill>
        <p:spPr>
          <a:xfrm>
            <a:off x="4873770" y="7224995"/>
            <a:ext cx="831765" cy="819817"/>
          </a:xfrm>
          <a:prstGeom prst="rect">
            <a:avLst/>
          </a:prstGeom>
        </p:spPr>
      </p:pic>
      <p:sp>
        <p:nvSpPr>
          <p:cNvPr id="21" name="object 21">
            <a:extLst>
              <a:ext uri="{FF2B5EF4-FFF2-40B4-BE49-F238E27FC236}">
                <a16:creationId xmlns:a16="http://schemas.microsoft.com/office/drawing/2014/main" id="{566BBDBE-8442-10E3-6FCB-0EDF545A50F2}"/>
              </a:ext>
            </a:extLst>
          </p:cNvPr>
          <p:cNvSpPr txBox="1"/>
          <p:nvPr/>
        </p:nvSpPr>
        <p:spPr>
          <a:xfrm>
            <a:off x="4845458" y="8203759"/>
            <a:ext cx="900430" cy="373380"/>
          </a:xfrm>
          <a:prstGeom prst="rect">
            <a:avLst/>
          </a:prstGeom>
        </p:spPr>
        <p:txBody>
          <a:bodyPr vert="horz" wrap="square" lIns="0" tIns="12700" rIns="0" bIns="0" rtlCol="0">
            <a:spAutoFit/>
          </a:bodyPr>
          <a:lstStyle/>
          <a:p>
            <a:pPr marL="93345" marR="5080" lvl="0" indent="-8128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94C11F"/>
                </a:solidFill>
                <a:effectLst/>
                <a:uLnTx/>
                <a:uFillTx/>
                <a:latin typeface="Arial Black"/>
                <a:ea typeface="+mn-ea"/>
                <a:cs typeface="Arial Black"/>
                <a:hlinkClick r:id="" action="ppaction://noaction"/>
              </a:rPr>
              <a:t>Cybersecurity </a:t>
            </a:r>
            <a:r>
              <a:rPr kumimoji="0" sz="1000" b="0" i="0" u="none" strike="noStrike" kern="0" cap="none" spc="-10" normalizeH="0" baseline="0" noProof="0" dirty="0">
                <a:ln>
                  <a:noFill/>
                </a:ln>
                <a:solidFill>
                  <a:srgbClr val="94C11F"/>
                </a:solidFill>
                <a:effectLst/>
                <a:uLnTx/>
                <a:uFillTx/>
                <a:latin typeface="Arial Black"/>
                <a:ea typeface="+mn-ea"/>
                <a:cs typeface="Arial Black"/>
                <a:hlinkClick r:id="" action="ppaction://noaction"/>
              </a:rPr>
              <a:t>Researcher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22" name="object 22">
            <a:extLst>
              <a:ext uri="{FF2B5EF4-FFF2-40B4-BE49-F238E27FC236}">
                <a16:creationId xmlns:a16="http://schemas.microsoft.com/office/drawing/2014/main" id="{44693149-9F0F-2BAA-5C05-3B85ED330C3D}"/>
              </a:ext>
            </a:extLst>
          </p:cNvPr>
          <p:cNvPicPr/>
          <p:nvPr/>
        </p:nvPicPr>
        <p:blipFill>
          <a:blip r:embed="rId12" cstate="print"/>
          <a:stretch>
            <a:fillRect/>
          </a:stretch>
        </p:blipFill>
        <p:spPr>
          <a:xfrm>
            <a:off x="6874951" y="7323809"/>
            <a:ext cx="898999" cy="755469"/>
          </a:xfrm>
          <a:prstGeom prst="rect">
            <a:avLst/>
          </a:prstGeom>
        </p:spPr>
      </p:pic>
      <p:sp>
        <p:nvSpPr>
          <p:cNvPr id="23" name="object 23">
            <a:extLst>
              <a:ext uri="{FF2B5EF4-FFF2-40B4-BE49-F238E27FC236}">
                <a16:creationId xmlns:a16="http://schemas.microsoft.com/office/drawing/2014/main" id="{D7641354-2553-4D26-7696-2E6CD750DD5A}"/>
              </a:ext>
            </a:extLst>
          </p:cNvPr>
          <p:cNvSpPr txBox="1"/>
          <p:nvPr/>
        </p:nvSpPr>
        <p:spPr>
          <a:xfrm>
            <a:off x="6732891" y="8268542"/>
            <a:ext cx="1197610" cy="373380"/>
          </a:xfrm>
          <a:prstGeom prst="rect">
            <a:avLst/>
          </a:prstGeom>
        </p:spPr>
        <p:txBody>
          <a:bodyPr vert="horz" wrap="square" lIns="0" tIns="12700" rIns="0" bIns="0" rtlCol="0">
            <a:spAutoFit/>
          </a:bodyPr>
          <a:lstStyle/>
          <a:p>
            <a:pPr marL="318770" marR="5080" lvl="0" indent="-306705"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CA0438"/>
                </a:solidFill>
                <a:effectLst/>
                <a:uLnTx/>
                <a:uFillTx/>
                <a:latin typeface="Arial Black"/>
                <a:ea typeface="+mn-ea"/>
                <a:cs typeface="Arial Black"/>
                <a:hlinkClick r:id="" action="ppaction://noaction"/>
              </a:rPr>
              <a:t>Cybersecurity</a:t>
            </a:r>
            <a:r>
              <a:rPr kumimoji="0" sz="1000" b="0" i="0" u="none" strike="noStrike" kern="0" cap="none" spc="-15" normalizeH="0" baseline="0" noProof="0" dirty="0">
                <a:ln>
                  <a:noFill/>
                </a:ln>
                <a:solidFill>
                  <a:srgbClr val="CA0438"/>
                </a:solidFill>
                <a:effectLst/>
                <a:uLnTx/>
                <a:uFillTx/>
                <a:latin typeface="Arial Black"/>
                <a:ea typeface="+mn-ea"/>
                <a:cs typeface="Arial Black"/>
                <a:hlinkClick r:id="" action="ppaction://noaction"/>
              </a:rPr>
              <a:t> </a:t>
            </a:r>
            <a:r>
              <a:rPr kumimoji="0" sz="1000" b="0" i="0" u="none" strike="noStrike" kern="0" cap="none" spc="-80" normalizeH="0" baseline="0" noProof="0" dirty="0">
                <a:ln>
                  <a:noFill/>
                </a:ln>
                <a:solidFill>
                  <a:srgbClr val="CA0438"/>
                </a:solidFill>
                <a:effectLst/>
                <a:uLnTx/>
                <a:uFillTx/>
                <a:latin typeface="Arial Black"/>
                <a:ea typeface="+mn-ea"/>
                <a:cs typeface="Arial Black"/>
                <a:hlinkClick r:id="" action="ppaction://noaction"/>
              </a:rPr>
              <a:t>Risk </a:t>
            </a:r>
            <a:r>
              <a:rPr kumimoji="0" sz="1000" b="0" i="0" u="none" strike="noStrike" kern="0" cap="none" spc="-10" normalizeH="0" baseline="0" noProof="0" dirty="0">
                <a:ln>
                  <a:noFill/>
                </a:ln>
                <a:solidFill>
                  <a:srgbClr val="CA0438"/>
                </a:solidFill>
                <a:effectLst/>
                <a:uLnTx/>
                <a:uFillTx/>
                <a:latin typeface="Arial Black"/>
                <a:ea typeface="+mn-ea"/>
                <a:cs typeface="Arial Black"/>
                <a:hlinkClick r:id="" action="ppaction://noaction"/>
              </a:rPr>
              <a:t>Manager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24" name="object 24">
            <a:extLst>
              <a:ext uri="{FF2B5EF4-FFF2-40B4-BE49-F238E27FC236}">
                <a16:creationId xmlns:a16="http://schemas.microsoft.com/office/drawing/2014/main" id="{34E6416D-518E-D320-D1F1-94D44D455A29}"/>
              </a:ext>
            </a:extLst>
          </p:cNvPr>
          <p:cNvPicPr/>
          <p:nvPr/>
        </p:nvPicPr>
        <p:blipFill>
          <a:blip r:embed="rId13" cstate="print"/>
          <a:stretch>
            <a:fillRect/>
          </a:stretch>
        </p:blipFill>
        <p:spPr>
          <a:xfrm>
            <a:off x="8693841" y="7302051"/>
            <a:ext cx="1194513" cy="802980"/>
          </a:xfrm>
          <a:prstGeom prst="rect">
            <a:avLst/>
          </a:prstGeom>
        </p:spPr>
      </p:pic>
      <p:sp>
        <p:nvSpPr>
          <p:cNvPr id="25" name="object 25">
            <a:extLst>
              <a:ext uri="{FF2B5EF4-FFF2-40B4-BE49-F238E27FC236}">
                <a16:creationId xmlns:a16="http://schemas.microsoft.com/office/drawing/2014/main" id="{BD5ADAA1-2668-F6BE-FE9A-76023DFF1F54}"/>
              </a:ext>
            </a:extLst>
          </p:cNvPr>
          <p:cNvSpPr txBox="1"/>
          <p:nvPr/>
        </p:nvSpPr>
        <p:spPr>
          <a:xfrm>
            <a:off x="8787574" y="8268542"/>
            <a:ext cx="1065530" cy="373380"/>
          </a:xfrm>
          <a:prstGeom prst="rect">
            <a:avLst/>
          </a:prstGeom>
        </p:spPr>
        <p:txBody>
          <a:bodyPr vert="horz" wrap="square" lIns="0" tIns="12700" rIns="0" bIns="0" rtlCol="0">
            <a:spAutoFit/>
          </a:bodyPr>
          <a:lstStyle/>
          <a:p>
            <a:pPr marL="147955" marR="5080" lvl="0" indent="-13589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55" normalizeH="0" baseline="0" noProof="0" dirty="0">
                <a:ln>
                  <a:noFill/>
                </a:ln>
                <a:solidFill>
                  <a:srgbClr val="F8B133"/>
                </a:solidFill>
                <a:effectLst/>
                <a:uLnTx/>
                <a:uFillTx/>
                <a:latin typeface="Arial Black"/>
                <a:ea typeface="+mn-ea"/>
                <a:cs typeface="Arial Black"/>
                <a:hlinkClick r:id="" action="ppaction://noaction"/>
              </a:rPr>
              <a:t>Digital</a:t>
            </a:r>
            <a:r>
              <a:rPr kumimoji="0" sz="1000" b="0" i="0" u="none" strike="noStrike" kern="0" cap="none" spc="-30" normalizeH="0" baseline="0" noProof="0" dirty="0">
                <a:ln>
                  <a:noFill/>
                </a:ln>
                <a:solidFill>
                  <a:srgbClr val="F8B133"/>
                </a:solidFill>
                <a:effectLst/>
                <a:uLnTx/>
                <a:uFillTx/>
                <a:latin typeface="Arial Black"/>
                <a:ea typeface="+mn-ea"/>
                <a:cs typeface="Arial Black"/>
                <a:hlinkClick r:id="" action="ppaction://noaction"/>
              </a:rPr>
              <a:t> </a:t>
            </a:r>
            <a:r>
              <a:rPr kumimoji="0" sz="1000" b="0" i="0" u="none" strike="noStrike" kern="0" cap="none" spc="-80" normalizeH="0" baseline="0" noProof="0" dirty="0">
                <a:ln>
                  <a:noFill/>
                </a:ln>
                <a:solidFill>
                  <a:srgbClr val="F8B133"/>
                </a:solidFill>
                <a:effectLst/>
                <a:uLnTx/>
                <a:uFillTx/>
                <a:latin typeface="Arial Black"/>
                <a:ea typeface="+mn-ea"/>
                <a:cs typeface="Arial Black"/>
                <a:hlinkClick r:id="" action="ppaction://noaction"/>
              </a:rPr>
              <a:t>Forensics </a:t>
            </a:r>
            <a:r>
              <a:rPr kumimoji="0" sz="1000" b="0" i="0" u="none" strike="noStrike" kern="0" cap="none" spc="-10" normalizeH="0" baseline="0" noProof="0" dirty="0">
                <a:ln>
                  <a:noFill/>
                </a:ln>
                <a:solidFill>
                  <a:srgbClr val="F8B133"/>
                </a:solidFill>
                <a:effectLst/>
                <a:uLnTx/>
                <a:uFillTx/>
                <a:latin typeface="Arial Black"/>
                <a:ea typeface="+mn-ea"/>
                <a:cs typeface="Arial Black"/>
                <a:hlinkClick r:id="" action="ppaction://noaction"/>
              </a:rPr>
              <a:t>Investigator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26" name="object 26">
            <a:extLst>
              <a:ext uri="{FF2B5EF4-FFF2-40B4-BE49-F238E27FC236}">
                <a16:creationId xmlns:a16="http://schemas.microsoft.com/office/drawing/2014/main" id="{8473739E-C894-2E65-D598-3EAD31098C94}"/>
              </a:ext>
            </a:extLst>
          </p:cNvPr>
          <p:cNvPicPr/>
          <p:nvPr/>
        </p:nvPicPr>
        <p:blipFill>
          <a:blip r:embed="rId14" cstate="print"/>
          <a:stretch>
            <a:fillRect/>
          </a:stretch>
        </p:blipFill>
        <p:spPr>
          <a:xfrm>
            <a:off x="10731828" y="7244391"/>
            <a:ext cx="1226127" cy="914306"/>
          </a:xfrm>
          <a:prstGeom prst="rect">
            <a:avLst/>
          </a:prstGeom>
        </p:spPr>
      </p:pic>
      <p:sp>
        <p:nvSpPr>
          <p:cNvPr id="27" name="object 27">
            <a:extLst>
              <a:ext uri="{FF2B5EF4-FFF2-40B4-BE49-F238E27FC236}">
                <a16:creationId xmlns:a16="http://schemas.microsoft.com/office/drawing/2014/main" id="{F710D31F-DC8E-9180-8AF5-24AD8F36E09E}"/>
              </a:ext>
            </a:extLst>
          </p:cNvPr>
          <p:cNvSpPr txBox="1"/>
          <p:nvPr/>
        </p:nvSpPr>
        <p:spPr>
          <a:xfrm>
            <a:off x="10919904" y="8268542"/>
            <a:ext cx="782320" cy="373380"/>
          </a:xfrm>
          <a:prstGeom prst="rect">
            <a:avLst/>
          </a:prstGeom>
        </p:spPr>
        <p:txBody>
          <a:bodyPr vert="horz" wrap="square" lIns="0" tIns="12700" rIns="0" bIns="0" rtlCol="0">
            <a:spAutoFit/>
          </a:bodyPr>
          <a:lstStyle/>
          <a:p>
            <a:pPr marL="192405" marR="5080" lvl="0" indent="-18034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50" normalizeH="0" baseline="0" noProof="0" dirty="0">
                <a:ln>
                  <a:noFill/>
                </a:ln>
                <a:solidFill>
                  <a:srgbClr val="CA0438"/>
                </a:solidFill>
                <a:effectLst/>
                <a:uLnTx/>
                <a:uFillTx/>
                <a:latin typeface="Arial Black"/>
                <a:ea typeface="+mn-ea"/>
                <a:cs typeface="Arial Black"/>
                <a:hlinkClick r:id="" action="ppaction://noaction"/>
              </a:rPr>
              <a:t>Penetration </a:t>
            </a:r>
            <a:r>
              <a:rPr kumimoji="0" sz="1000" b="0" i="0" u="none" strike="noStrike" kern="0" cap="none" spc="-10" normalizeH="0" baseline="0" noProof="0" dirty="0">
                <a:ln>
                  <a:noFill/>
                </a:ln>
                <a:solidFill>
                  <a:srgbClr val="CA0438"/>
                </a:solidFill>
                <a:effectLst/>
                <a:uLnTx/>
                <a:uFillTx/>
                <a:latin typeface="Arial Black"/>
                <a:ea typeface="+mn-ea"/>
                <a:cs typeface="Arial Black"/>
                <a:hlinkClick r:id="" action="ppaction://noaction"/>
              </a:rPr>
              <a:t>Tester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28" name="object 5">
            <a:extLst>
              <a:ext uri="{FF2B5EF4-FFF2-40B4-BE49-F238E27FC236}">
                <a16:creationId xmlns:a16="http://schemas.microsoft.com/office/drawing/2014/main" id="{55796946-6546-5BD3-F381-8EFD078A52AA}"/>
              </a:ext>
            </a:extLst>
          </p:cNvPr>
          <p:cNvPicPr/>
          <p:nvPr/>
        </p:nvPicPr>
        <p:blipFill>
          <a:blip r:embed="rId3" cstate="print"/>
          <a:stretch>
            <a:fillRect/>
          </a:stretch>
        </p:blipFill>
        <p:spPr>
          <a:xfrm>
            <a:off x="7284914" y="579814"/>
            <a:ext cx="330039" cy="475517"/>
          </a:xfrm>
          <a:prstGeom prst="rect">
            <a:avLst/>
          </a:prstGeom>
        </p:spPr>
      </p:pic>
      <p:pic>
        <p:nvPicPr>
          <p:cNvPr id="29" name="object 9">
            <a:extLst>
              <a:ext uri="{FF2B5EF4-FFF2-40B4-BE49-F238E27FC236}">
                <a16:creationId xmlns:a16="http://schemas.microsoft.com/office/drawing/2014/main" id="{CFB88D7A-0FDA-E5AE-C0B9-D92769014CA1}"/>
              </a:ext>
            </a:extLst>
          </p:cNvPr>
          <p:cNvPicPr/>
          <p:nvPr/>
        </p:nvPicPr>
        <p:blipFill>
          <a:blip r:embed="rId5" cstate="print"/>
          <a:stretch>
            <a:fillRect/>
          </a:stretch>
        </p:blipFill>
        <p:spPr>
          <a:xfrm>
            <a:off x="4403452" y="4703736"/>
            <a:ext cx="485940" cy="345342"/>
          </a:xfrm>
          <a:prstGeom prst="rect">
            <a:avLst/>
          </a:prstGeom>
        </p:spPr>
      </p:pic>
      <p:pic>
        <p:nvPicPr>
          <p:cNvPr id="30" name="object 19">
            <a:extLst>
              <a:ext uri="{FF2B5EF4-FFF2-40B4-BE49-F238E27FC236}">
                <a16:creationId xmlns:a16="http://schemas.microsoft.com/office/drawing/2014/main" id="{2D179716-1ABF-D6DE-72F9-B884443418D6}"/>
              </a:ext>
            </a:extLst>
          </p:cNvPr>
          <p:cNvPicPr/>
          <p:nvPr/>
        </p:nvPicPr>
        <p:blipFill>
          <a:blip r:embed="rId10" cstate="print"/>
          <a:stretch>
            <a:fillRect/>
          </a:stretch>
        </p:blipFill>
        <p:spPr>
          <a:xfrm>
            <a:off x="3828841" y="242356"/>
            <a:ext cx="485940" cy="423408"/>
          </a:xfrm>
          <a:prstGeom prst="rect">
            <a:avLst/>
          </a:prstGeom>
        </p:spPr>
      </p:pic>
      <p:sp>
        <p:nvSpPr>
          <p:cNvPr id="31" name="TextBox 30">
            <a:extLst>
              <a:ext uri="{FF2B5EF4-FFF2-40B4-BE49-F238E27FC236}">
                <a16:creationId xmlns:a16="http://schemas.microsoft.com/office/drawing/2014/main" id="{FFBE981B-D984-1C8B-DCBC-2F6A0C218DF2}"/>
              </a:ext>
            </a:extLst>
          </p:cNvPr>
          <p:cNvSpPr txBox="1"/>
          <p:nvPr/>
        </p:nvSpPr>
        <p:spPr>
          <a:xfrm>
            <a:off x="1890399" y="858959"/>
            <a:ext cx="1480598" cy="307777"/>
          </a:xfrm>
          <a:prstGeom prst="rect">
            <a:avLst/>
          </a:prstGeom>
          <a:noFill/>
        </p:spPr>
        <p:txBody>
          <a:bodyPr wrap="none" rtlCol="0">
            <a:spAutoFit/>
          </a:bodyPr>
          <a:lstStyle/>
          <a:p>
            <a:pPr algn="ctr"/>
            <a:r>
              <a:rPr lang="fr-BE" sz="1400" dirty="0" err="1"/>
              <a:t>Technical</a:t>
            </a:r>
            <a:r>
              <a:rPr lang="fr-BE" sz="1400" dirty="0"/>
              <a:t> Support</a:t>
            </a:r>
          </a:p>
        </p:txBody>
      </p:sp>
      <p:sp>
        <p:nvSpPr>
          <p:cNvPr id="2048" name="TextBox 2047">
            <a:extLst>
              <a:ext uri="{FF2B5EF4-FFF2-40B4-BE49-F238E27FC236}">
                <a16:creationId xmlns:a16="http://schemas.microsoft.com/office/drawing/2014/main" id="{0579BD24-5698-7A8D-C7E1-0491AB83814F}"/>
              </a:ext>
            </a:extLst>
          </p:cNvPr>
          <p:cNvSpPr txBox="1"/>
          <p:nvPr/>
        </p:nvSpPr>
        <p:spPr>
          <a:xfrm>
            <a:off x="1639817" y="1599760"/>
            <a:ext cx="1731180" cy="307777"/>
          </a:xfrm>
          <a:prstGeom prst="rect">
            <a:avLst/>
          </a:prstGeom>
          <a:noFill/>
        </p:spPr>
        <p:txBody>
          <a:bodyPr wrap="none" rtlCol="0">
            <a:spAutoFit/>
          </a:bodyPr>
          <a:lstStyle/>
          <a:p>
            <a:pPr algn="ctr"/>
            <a:r>
              <a:rPr lang="fr-BE" sz="1400" dirty="0"/>
              <a:t>Network Operations</a:t>
            </a:r>
          </a:p>
        </p:txBody>
      </p:sp>
      <p:sp>
        <p:nvSpPr>
          <p:cNvPr id="2051" name="TextBox 2050">
            <a:extLst>
              <a:ext uri="{FF2B5EF4-FFF2-40B4-BE49-F238E27FC236}">
                <a16:creationId xmlns:a16="http://schemas.microsoft.com/office/drawing/2014/main" id="{A54C1EFC-38A6-B850-F35C-2166E71D23F7}"/>
              </a:ext>
            </a:extLst>
          </p:cNvPr>
          <p:cNvSpPr txBox="1"/>
          <p:nvPr/>
        </p:nvSpPr>
        <p:spPr>
          <a:xfrm>
            <a:off x="1489072" y="1959133"/>
            <a:ext cx="1881925" cy="307777"/>
          </a:xfrm>
          <a:prstGeom prst="rect">
            <a:avLst/>
          </a:prstGeom>
          <a:noFill/>
        </p:spPr>
        <p:txBody>
          <a:bodyPr wrap="none" rtlCol="0">
            <a:spAutoFit/>
          </a:bodyPr>
          <a:lstStyle/>
          <a:p>
            <a:pPr algn="ctr"/>
            <a:r>
              <a:rPr lang="fr-BE" sz="1400" dirty="0" err="1"/>
              <a:t>Systems</a:t>
            </a:r>
            <a:r>
              <a:rPr lang="fr-BE" sz="1400" dirty="0"/>
              <a:t> Administration</a:t>
            </a:r>
          </a:p>
        </p:txBody>
      </p:sp>
      <p:sp>
        <p:nvSpPr>
          <p:cNvPr id="2053" name="TextBox 2052">
            <a:extLst>
              <a:ext uri="{FF2B5EF4-FFF2-40B4-BE49-F238E27FC236}">
                <a16:creationId xmlns:a16="http://schemas.microsoft.com/office/drawing/2014/main" id="{ABCD58C6-7E82-162C-0E52-448EBC745635}"/>
              </a:ext>
            </a:extLst>
          </p:cNvPr>
          <p:cNvSpPr txBox="1"/>
          <p:nvPr/>
        </p:nvSpPr>
        <p:spPr>
          <a:xfrm>
            <a:off x="1356150" y="2357471"/>
            <a:ext cx="2014847" cy="307777"/>
          </a:xfrm>
          <a:prstGeom prst="rect">
            <a:avLst/>
          </a:prstGeom>
          <a:noFill/>
        </p:spPr>
        <p:txBody>
          <a:bodyPr wrap="none" rtlCol="0">
            <a:spAutoFit/>
          </a:bodyPr>
          <a:lstStyle/>
          <a:p>
            <a:pPr algn="ctr"/>
            <a:r>
              <a:rPr lang="fr-BE" sz="1400" dirty="0" err="1"/>
              <a:t>Systems</a:t>
            </a:r>
            <a:r>
              <a:rPr lang="fr-BE" sz="1400" dirty="0"/>
              <a:t> Security </a:t>
            </a:r>
            <a:r>
              <a:rPr lang="fr-BE" sz="1400" dirty="0" err="1"/>
              <a:t>Analysis</a:t>
            </a:r>
            <a:endParaRPr lang="fr-BE" sz="1400" dirty="0"/>
          </a:p>
        </p:txBody>
      </p:sp>
      <p:sp>
        <p:nvSpPr>
          <p:cNvPr id="2055" name="TextBox 2054">
            <a:extLst>
              <a:ext uri="{FF2B5EF4-FFF2-40B4-BE49-F238E27FC236}">
                <a16:creationId xmlns:a16="http://schemas.microsoft.com/office/drawing/2014/main" id="{74FE525E-5FBF-94D9-53C5-0025464A1453}"/>
              </a:ext>
            </a:extLst>
          </p:cNvPr>
          <p:cNvSpPr txBox="1"/>
          <p:nvPr/>
        </p:nvSpPr>
        <p:spPr>
          <a:xfrm>
            <a:off x="1556077" y="2729211"/>
            <a:ext cx="1814920" cy="307777"/>
          </a:xfrm>
          <a:prstGeom prst="rect">
            <a:avLst/>
          </a:prstGeom>
          <a:noFill/>
        </p:spPr>
        <p:txBody>
          <a:bodyPr wrap="none" rtlCol="0">
            <a:spAutoFit/>
          </a:bodyPr>
          <a:lstStyle/>
          <a:p>
            <a:pPr algn="ctr"/>
            <a:r>
              <a:rPr lang="fr-BE" sz="1400" dirty="0"/>
              <a:t>Infrastructure Support</a:t>
            </a:r>
          </a:p>
        </p:txBody>
      </p:sp>
      <p:sp>
        <p:nvSpPr>
          <p:cNvPr id="2057" name="TextBox 2056">
            <a:extLst>
              <a:ext uri="{FF2B5EF4-FFF2-40B4-BE49-F238E27FC236}">
                <a16:creationId xmlns:a16="http://schemas.microsoft.com/office/drawing/2014/main" id="{6459BE63-4B88-8683-2329-ECEA095C74D5}"/>
              </a:ext>
            </a:extLst>
          </p:cNvPr>
          <p:cNvSpPr txBox="1"/>
          <p:nvPr/>
        </p:nvSpPr>
        <p:spPr>
          <a:xfrm>
            <a:off x="968415" y="3143454"/>
            <a:ext cx="2402582" cy="307777"/>
          </a:xfrm>
          <a:prstGeom prst="rect">
            <a:avLst/>
          </a:prstGeom>
          <a:noFill/>
        </p:spPr>
        <p:txBody>
          <a:bodyPr wrap="none" rtlCol="0">
            <a:spAutoFit/>
          </a:bodyPr>
          <a:lstStyle/>
          <a:p>
            <a:pPr algn="ctr"/>
            <a:r>
              <a:rPr lang="fr-BE" sz="1400" dirty="0"/>
              <a:t>Secure Software </a:t>
            </a:r>
            <a:r>
              <a:rPr lang="fr-BE" sz="1400" dirty="0" err="1"/>
              <a:t>Development</a:t>
            </a:r>
            <a:endParaRPr lang="fr-BE" sz="1400" dirty="0"/>
          </a:p>
        </p:txBody>
      </p:sp>
      <p:sp>
        <p:nvSpPr>
          <p:cNvPr id="2058" name="TextBox 2057">
            <a:extLst>
              <a:ext uri="{FF2B5EF4-FFF2-40B4-BE49-F238E27FC236}">
                <a16:creationId xmlns:a16="http://schemas.microsoft.com/office/drawing/2014/main" id="{F692CD9B-7EE9-B22A-205E-B65E774EA22C}"/>
              </a:ext>
            </a:extLst>
          </p:cNvPr>
          <p:cNvSpPr txBox="1"/>
          <p:nvPr/>
        </p:nvSpPr>
        <p:spPr>
          <a:xfrm>
            <a:off x="1018173" y="3480840"/>
            <a:ext cx="2352824" cy="307777"/>
          </a:xfrm>
          <a:prstGeom prst="rect">
            <a:avLst/>
          </a:prstGeom>
          <a:noFill/>
        </p:spPr>
        <p:txBody>
          <a:bodyPr wrap="none" rtlCol="0">
            <a:spAutoFit/>
          </a:bodyPr>
          <a:lstStyle/>
          <a:p>
            <a:pPr algn="ctr"/>
            <a:r>
              <a:rPr lang="fr-BE" sz="1400" dirty="0"/>
              <a:t>Software Security </a:t>
            </a:r>
            <a:r>
              <a:rPr lang="fr-BE" sz="1400" dirty="0" err="1"/>
              <a:t>Assessment</a:t>
            </a:r>
            <a:endParaRPr lang="fr-BE" sz="1400" dirty="0"/>
          </a:p>
        </p:txBody>
      </p:sp>
      <p:sp>
        <p:nvSpPr>
          <p:cNvPr id="2059" name="TextBox 2058">
            <a:extLst>
              <a:ext uri="{FF2B5EF4-FFF2-40B4-BE49-F238E27FC236}">
                <a16:creationId xmlns:a16="http://schemas.microsoft.com/office/drawing/2014/main" id="{C8894ECE-EF81-9292-1966-068E1E14F3DC}"/>
              </a:ext>
            </a:extLst>
          </p:cNvPr>
          <p:cNvSpPr txBox="1"/>
          <p:nvPr/>
        </p:nvSpPr>
        <p:spPr>
          <a:xfrm>
            <a:off x="1007144" y="3821008"/>
            <a:ext cx="2363853" cy="307777"/>
          </a:xfrm>
          <a:prstGeom prst="rect">
            <a:avLst/>
          </a:prstGeom>
          <a:noFill/>
        </p:spPr>
        <p:txBody>
          <a:bodyPr wrap="none" rtlCol="0">
            <a:spAutoFit/>
          </a:bodyPr>
          <a:lstStyle/>
          <a:p>
            <a:pPr algn="ctr"/>
            <a:r>
              <a:rPr lang="fr-BE" sz="1400" dirty="0"/>
              <a:t>Product Support Management</a:t>
            </a:r>
          </a:p>
        </p:txBody>
      </p:sp>
      <p:sp>
        <p:nvSpPr>
          <p:cNvPr id="2060" name="TextBox 2059">
            <a:extLst>
              <a:ext uri="{FF2B5EF4-FFF2-40B4-BE49-F238E27FC236}">
                <a16:creationId xmlns:a16="http://schemas.microsoft.com/office/drawing/2014/main" id="{641312D4-3898-FE67-8335-1C6A7FD54BC3}"/>
              </a:ext>
            </a:extLst>
          </p:cNvPr>
          <p:cNvSpPr txBox="1"/>
          <p:nvPr/>
        </p:nvSpPr>
        <p:spPr>
          <a:xfrm>
            <a:off x="8102121" y="1324480"/>
            <a:ext cx="2371163" cy="307777"/>
          </a:xfrm>
          <a:prstGeom prst="rect">
            <a:avLst/>
          </a:prstGeom>
          <a:noFill/>
        </p:spPr>
        <p:txBody>
          <a:bodyPr wrap="none" rtlCol="0">
            <a:spAutoFit/>
          </a:bodyPr>
          <a:lstStyle/>
          <a:p>
            <a:pPr algn="ctr"/>
            <a:r>
              <a:rPr lang="fr-BE" sz="1400" dirty="0" err="1"/>
              <a:t>Systems</a:t>
            </a:r>
            <a:r>
              <a:rPr lang="fr-BE" sz="1400" dirty="0"/>
              <a:t> Security Management</a:t>
            </a:r>
          </a:p>
        </p:txBody>
      </p:sp>
      <p:sp>
        <p:nvSpPr>
          <p:cNvPr id="2061" name="TextBox 2060">
            <a:extLst>
              <a:ext uri="{FF2B5EF4-FFF2-40B4-BE49-F238E27FC236}">
                <a16:creationId xmlns:a16="http://schemas.microsoft.com/office/drawing/2014/main" id="{5420274F-8B2D-BAE3-221B-1BFD0D8F0AC3}"/>
              </a:ext>
            </a:extLst>
          </p:cNvPr>
          <p:cNvSpPr txBox="1"/>
          <p:nvPr/>
        </p:nvSpPr>
        <p:spPr>
          <a:xfrm>
            <a:off x="8102121" y="1694204"/>
            <a:ext cx="3021854" cy="307777"/>
          </a:xfrm>
          <a:prstGeom prst="rect">
            <a:avLst/>
          </a:prstGeom>
          <a:noFill/>
        </p:spPr>
        <p:txBody>
          <a:bodyPr wrap="none" rtlCol="0">
            <a:spAutoFit/>
          </a:bodyPr>
          <a:lstStyle/>
          <a:p>
            <a:pPr algn="ctr"/>
            <a:r>
              <a:rPr lang="fr-BE" sz="1400" dirty="0"/>
              <a:t>Communications Security Management</a:t>
            </a:r>
          </a:p>
        </p:txBody>
      </p:sp>
      <p:sp>
        <p:nvSpPr>
          <p:cNvPr id="2062" name="TextBox 2061">
            <a:extLst>
              <a:ext uri="{FF2B5EF4-FFF2-40B4-BE49-F238E27FC236}">
                <a16:creationId xmlns:a16="http://schemas.microsoft.com/office/drawing/2014/main" id="{C2A1E7CF-8B68-108F-27FE-C0F838B2534B}"/>
              </a:ext>
            </a:extLst>
          </p:cNvPr>
          <p:cNvSpPr txBox="1"/>
          <p:nvPr/>
        </p:nvSpPr>
        <p:spPr>
          <a:xfrm>
            <a:off x="8102121" y="2067083"/>
            <a:ext cx="3020442" cy="307777"/>
          </a:xfrm>
          <a:prstGeom prst="rect">
            <a:avLst/>
          </a:prstGeom>
          <a:noFill/>
        </p:spPr>
        <p:txBody>
          <a:bodyPr wrap="none" rtlCol="0">
            <a:spAutoFit/>
          </a:bodyPr>
          <a:lstStyle/>
          <a:p>
            <a:pPr algn="ctr"/>
            <a:r>
              <a:rPr lang="fr-BE" sz="1400" dirty="0" err="1"/>
              <a:t>CyberSecurity</a:t>
            </a:r>
            <a:r>
              <a:rPr lang="fr-BE" sz="1400" dirty="0"/>
              <a:t> </a:t>
            </a:r>
            <a:r>
              <a:rPr lang="fr-BE" sz="1400" dirty="0" err="1"/>
              <a:t>Workforce</a:t>
            </a:r>
            <a:r>
              <a:rPr lang="fr-BE" sz="1400" dirty="0"/>
              <a:t> Management</a:t>
            </a:r>
          </a:p>
        </p:txBody>
      </p:sp>
      <p:sp>
        <p:nvSpPr>
          <p:cNvPr id="2063" name="TextBox 2062">
            <a:extLst>
              <a:ext uri="{FF2B5EF4-FFF2-40B4-BE49-F238E27FC236}">
                <a16:creationId xmlns:a16="http://schemas.microsoft.com/office/drawing/2014/main" id="{C200BC68-6CCF-1960-CE76-4E4AD7296BA9}"/>
              </a:ext>
            </a:extLst>
          </p:cNvPr>
          <p:cNvSpPr txBox="1"/>
          <p:nvPr/>
        </p:nvSpPr>
        <p:spPr>
          <a:xfrm>
            <a:off x="8102121" y="2436199"/>
            <a:ext cx="1773562" cy="307777"/>
          </a:xfrm>
          <a:prstGeom prst="rect">
            <a:avLst/>
          </a:prstGeom>
          <a:noFill/>
        </p:spPr>
        <p:txBody>
          <a:bodyPr wrap="none" rtlCol="0">
            <a:spAutoFit/>
          </a:bodyPr>
          <a:lstStyle/>
          <a:p>
            <a:pPr algn="ctr"/>
            <a:r>
              <a:rPr lang="fr-BE" sz="1400" dirty="0"/>
              <a:t>Program Management</a:t>
            </a:r>
          </a:p>
        </p:txBody>
      </p:sp>
      <p:sp>
        <p:nvSpPr>
          <p:cNvPr id="2064" name="TextBox 2063">
            <a:extLst>
              <a:ext uri="{FF2B5EF4-FFF2-40B4-BE49-F238E27FC236}">
                <a16:creationId xmlns:a16="http://schemas.microsoft.com/office/drawing/2014/main" id="{0103B169-6C81-98E9-065D-6450C47A7B56}"/>
              </a:ext>
            </a:extLst>
          </p:cNvPr>
          <p:cNvSpPr txBox="1"/>
          <p:nvPr/>
        </p:nvSpPr>
        <p:spPr>
          <a:xfrm>
            <a:off x="8102121" y="3241690"/>
            <a:ext cx="2670603" cy="307777"/>
          </a:xfrm>
          <a:prstGeom prst="rect">
            <a:avLst/>
          </a:prstGeom>
          <a:noFill/>
        </p:spPr>
        <p:txBody>
          <a:bodyPr wrap="none" rtlCol="0">
            <a:spAutoFit/>
          </a:bodyPr>
          <a:lstStyle/>
          <a:p>
            <a:pPr algn="ctr"/>
            <a:r>
              <a:rPr lang="fr-BE" sz="1400" dirty="0" err="1"/>
              <a:t>Technology</a:t>
            </a:r>
            <a:r>
              <a:rPr lang="fr-BE" sz="1400" dirty="0"/>
              <a:t> Portfolio Management</a:t>
            </a:r>
          </a:p>
        </p:txBody>
      </p:sp>
      <p:sp>
        <p:nvSpPr>
          <p:cNvPr id="2065" name="TextBox 2064">
            <a:extLst>
              <a:ext uri="{FF2B5EF4-FFF2-40B4-BE49-F238E27FC236}">
                <a16:creationId xmlns:a16="http://schemas.microsoft.com/office/drawing/2014/main" id="{9C0ED68F-FEA9-1EA2-344F-20E34E2E2BB7}"/>
              </a:ext>
            </a:extLst>
          </p:cNvPr>
          <p:cNvSpPr txBox="1"/>
          <p:nvPr/>
        </p:nvSpPr>
        <p:spPr>
          <a:xfrm>
            <a:off x="8102121" y="3589200"/>
            <a:ext cx="2918492" cy="307777"/>
          </a:xfrm>
          <a:prstGeom prst="rect">
            <a:avLst/>
          </a:prstGeom>
          <a:noFill/>
        </p:spPr>
        <p:txBody>
          <a:bodyPr wrap="none" rtlCol="0">
            <a:spAutoFit/>
          </a:bodyPr>
          <a:lstStyle/>
          <a:p>
            <a:pPr algn="ctr"/>
            <a:r>
              <a:rPr lang="fr-BE" sz="1400" dirty="0" err="1"/>
              <a:t>Executive</a:t>
            </a:r>
            <a:r>
              <a:rPr lang="fr-BE" sz="1400" dirty="0"/>
              <a:t> </a:t>
            </a:r>
            <a:r>
              <a:rPr lang="fr-BE" sz="1400" dirty="0" err="1"/>
              <a:t>Cybersecurity</a:t>
            </a:r>
            <a:r>
              <a:rPr lang="fr-BE" sz="1400" dirty="0"/>
              <a:t> Management</a:t>
            </a:r>
          </a:p>
        </p:txBody>
      </p:sp>
      <p:sp>
        <p:nvSpPr>
          <p:cNvPr id="2069" name="TextBox 2068">
            <a:extLst>
              <a:ext uri="{FF2B5EF4-FFF2-40B4-BE49-F238E27FC236}">
                <a16:creationId xmlns:a16="http://schemas.microsoft.com/office/drawing/2014/main" id="{94EC16A3-571E-B79B-6AEE-3EE3D8A7037D}"/>
              </a:ext>
            </a:extLst>
          </p:cNvPr>
          <p:cNvSpPr txBox="1"/>
          <p:nvPr/>
        </p:nvSpPr>
        <p:spPr>
          <a:xfrm>
            <a:off x="5394089" y="5337845"/>
            <a:ext cx="2220864" cy="307777"/>
          </a:xfrm>
          <a:prstGeom prst="rect">
            <a:avLst/>
          </a:prstGeom>
          <a:noFill/>
        </p:spPr>
        <p:txBody>
          <a:bodyPr wrap="none" rtlCol="0">
            <a:spAutoFit/>
          </a:bodyPr>
          <a:lstStyle/>
          <a:p>
            <a:pPr algn="ctr"/>
            <a:r>
              <a:rPr lang="fr-BE" sz="1400" dirty="0"/>
              <a:t>Partner </a:t>
            </a:r>
            <a:r>
              <a:rPr lang="fr-BE" sz="1400" dirty="0" err="1"/>
              <a:t>Integration</a:t>
            </a:r>
            <a:r>
              <a:rPr lang="fr-BE" sz="1400" dirty="0"/>
              <a:t> Planning</a:t>
            </a:r>
          </a:p>
        </p:txBody>
      </p:sp>
      <p:sp>
        <p:nvSpPr>
          <p:cNvPr id="2070" name="TextBox 2069">
            <a:extLst>
              <a:ext uri="{FF2B5EF4-FFF2-40B4-BE49-F238E27FC236}">
                <a16:creationId xmlns:a16="http://schemas.microsoft.com/office/drawing/2014/main" id="{02AD2C7D-DC08-D05A-D81E-09907A8284AD}"/>
              </a:ext>
            </a:extLst>
          </p:cNvPr>
          <p:cNvSpPr txBox="1"/>
          <p:nvPr/>
        </p:nvSpPr>
        <p:spPr>
          <a:xfrm>
            <a:off x="5394089" y="5712191"/>
            <a:ext cx="2154436" cy="307777"/>
          </a:xfrm>
          <a:prstGeom prst="rect">
            <a:avLst/>
          </a:prstGeom>
          <a:noFill/>
        </p:spPr>
        <p:txBody>
          <a:bodyPr wrap="none" rtlCol="0">
            <a:spAutoFit/>
          </a:bodyPr>
          <a:lstStyle/>
          <a:p>
            <a:pPr algn="ctr"/>
            <a:r>
              <a:rPr lang="fr-BE" sz="1400" dirty="0" err="1"/>
              <a:t>Cybersecurity</a:t>
            </a:r>
            <a:r>
              <a:rPr lang="fr-BE" sz="1400" dirty="0"/>
              <a:t> Legal </a:t>
            </a:r>
            <a:r>
              <a:rPr lang="fr-BE" sz="1400" dirty="0" err="1"/>
              <a:t>Advice</a:t>
            </a:r>
            <a:endParaRPr lang="fr-BE" sz="1400" dirty="0"/>
          </a:p>
        </p:txBody>
      </p:sp>
      <p:sp>
        <p:nvSpPr>
          <p:cNvPr id="2071" name="TextBox 2070">
            <a:extLst>
              <a:ext uri="{FF2B5EF4-FFF2-40B4-BE49-F238E27FC236}">
                <a16:creationId xmlns:a16="http://schemas.microsoft.com/office/drawing/2014/main" id="{1DD69B54-45DA-E7F0-B0BD-2A4AB310E79D}"/>
              </a:ext>
            </a:extLst>
          </p:cNvPr>
          <p:cNvSpPr txBox="1"/>
          <p:nvPr/>
        </p:nvSpPr>
        <p:spPr>
          <a:xfrm>
            <a:off x="5394089" y="6032415"/>
            <a:ext cx="1614545" cy="307777"/>
          </a:xfrm>
          <a:prstGeom prst="rect">
            <a:avLst/>
          </a:prstGeom>
          <a:noFill/>
        </p:spPr>
        <p:txBody>
          <a:bodyPr wrap="none" rtlCol="0">
            <a:spAutoFit/>
          </a:bodyPr>
          <a:lstStyle/>
          <a:p>
            <a:pPr algn="ctr"/>
            <a:r>
              <a:rPr lang="fr-BE" sz="1400" dirty="0" err="1"/>
              <a:t>Privacy</a:t>
            </a:r>
            <a:r>
              <a:rPr lang="fr-BE" sz="1400" dirty="0"/>
              <a:t> Compliance</a:t>
            </a:r>
          </a:p>
        </p:txBody>
      </p:sp>
      <p:sp>
        <p:nvSpPr>
          <p:cNvPr id="2072" name="TextBox 2071">
            <a:extLst>
              <a:ext uri="{FF2B5EF4-FFF2-40B4-BE49-F238E27FC236}">
                <a16:creationId xmlns:a16="http://schemas.microsoft.com/office/drawing/2014/main" id="{916C5040-F8DC-4B57-8DA4-DE91F84566F3}"/>
              </a:ext>
            </a:extLst>
          </p:cNvPr>
          <p:cNvSpPr txBox="1"/>
          <p:nvPr/>
        </p:nvSpPr>
        <p:spPr>
          <a:xfrm>
            <a:off x="5394089" y="6415782"/>
            <a:ext cx="2528577" cy="307777"/>
          </a:xfrm>
          <a:prstGeom prst="rect">
            <a:avLst/>
          </a:prstGeom>
          <a:noFill/>
        </p:spPr>
        <p:txBody>
          <a:bodyPr wrap="none" rtlCol="0">
            <a:spAutoFit/>
          </a:bodyPr>
          <a:lstStyle/>
          <a:p>
            <a:pPr algn="ctr"/>
            <a:r>
              <a:rPr lang="fr-BE" sz="1400" dirty="0" err="1"/>
              <a:t>Cybersecurity</a:t>
            </a:r>
            <a:r>
              <a:rPr lang="fr-BE" sz="1400" dirty="0"/>
              <a:t> </a:t>
            </a:r>
            <a:r>
              <a:rPr lang="fr-BE" sz="1400" dirty="0" err="1"/>
              <a:t>Poilicy</a:t>
            </a:r>
            <a:r>
              <a:rPr lang="fr-BE" sz="1400" dirty="0"/>
              <a:t> &amp; Planning</a:t>
            </a:r>
          </a:p>
        </p:txBody>
      </p:sp>
      <p:sp>
        <p:nvSpPr>
          <p:cNvPr id="2073" name="TextBox 2072">
            <a:extLst>
              <a:ext uri="{FF2B5EF4-FFF2-40B4-BE49-F238E27FC236}">
                <a16:creationId xmlns:a16="http://schemas.microsoft.com/office/drawing/2014/main" id="{9959EDDB-E991-A4D9-2A9D-372166C7D17A}"/>
              </a:ext>
            </a:extLst>
          </p:cNvPr>
          <p:cNvSpPr txBox="1"/>
          <p:nvPr/>
        </p:nvSpPr>
        <p:spPr>
          <a:xfrm>
            <a:off x="1400906" y="1252664"/>
            <a:ext cx="1970091" cy="307777"/>
          </a:xfrm>
          <a:prstGeom prst="rect">
            <a:avLst/>
          </a:prstGeom>
          <a:noFill/>
        </p:spPr>
        <p:txBody>
          <a:bodyPr wrap="none" rtlCol="0">
            <a:spAutoFit/>
          </a:bodyPr>
          <a:lstStyle/>
          <a:p>
            <a:pPr algn="ctr"/>
            <a:r>
              <a:rPr lang="fr-BE" sz="1400" dirty="0" err="1"/>
              <a:t>Database</a:t>
            </a:r>
            <a:r>
              <a:rPr lang="fr-BE" sz="1400" dirty="0"/>
              <a:t> Administration</a:t>
            </a:r>
          </a:p>
        </p:txBody>
      </p:sp>
      <p:sp>
        <p:nvSpPr>
          <p:cNvPr id="2074" name="TextBox 2073">
            <a:extLst>
              <a:ext uri="{FF2B5EF4-FFF2-40B4-BE49-F238E27FC236}">
                <a16:creationId xmlns:a16="http://schemas.microsoft.com/office/drawing/2014/main" id="{6EA28D9B-6DF1-806D-6B31-1D75E1417722}"/>
              </a:ext>
            </a:extLst>
          </p:cNvPr>
          <p:cNvSpPr txBox="1"/>
          <p:nvPr/>
        </p:nvSpPr>
        <p:spPr>
          <a:xfrm>
            <a:off x="8102121" y="2837372"/>
            <a:ext cx="2215608" cy="307777"/>
          </a:xfrm>
          <a:prstGeom prst="rect">
            <a:avLst/>
          </a:prstGeom>
          <a:noFill/>
        </p:spPr>
        <p:txBody>
          <a:bodyPr wrap="none" rtlCol="0">
            <a:spAutoFit/>
          </a:bodyPr>
          <a:lstStyle/>
          <a:p>
            <a:pPr algn="ctr"/>
            <a:r>
              <a:rPr lang="fr-BE" sz="1400" dirty="0"/>
              <a:t>Secure Project Management</a:t>
            </a:r>
          </a:p>
        </p:txBody>
      </p:sp>
    </p:spTree>
    <p:extLst>
      <p:ext uri="{BB962C8B-B14F-4D97-AF65-F5344CB8AC3E}">
        <p14:creationId xmlns:p14="http://schemas.microsoft.com/office/powerpoint/2010/main" val="39658627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31D10-D8DC-BC2F-8C73-63DEE81CFBE3}"/>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D45052AE-C63C-766D-4AE3-D36122136A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98538"/>
            <a:ext cx="12192000" cy="4137025"/>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4">
            <a:extLst>
              <a:ext uri="{FF2B5EF4-FFF2-40B4-BE49-F238E27FC236}">
                <a16:creationId xmlns:a16="http://schemas.microsoft.com/office/drawing/2014/main" id="{4EFA3FD9-DA4B-917E-2428-6A23C25CF5A0}"/>
              </a:ext>
            </a:extLst>
          </p:cNvPr>
          <p:cNvSpPr txBox="1"/>
          <p:nvPr/>
        </p:nvSpPr>
        <p:spPr>
          <a:xfrm>
            <a:off x="521922" y="-532519"/>
            <a:ext cx="1423670" cy="370205"/>
          </a:xfrm>
          <a:prstGeom prst="rect">
            <a:avLst/>
          </a:prstGeom>
        </p:spPr>
        <p:txBody>
          <a:bodyPr vert="horz" wrap="square" lIns="0" tIns="12700" rIns="0" bIns="0" rtlCol="0">
            <a:spAutoFit/>
          </a:bodyPr>
          <a:lstStyle/>
          <a:p>
            <a:pPr marL="12700" marR="5080" lvl="0" indent="137160" algn="l"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004F9F"/>
                </a:solidFill>
                <a:effectLst/>
                <a:uLnTx/>
                <a:uFillTx/>
                <a:latin typeface="Arial Black"/>
                <a:ea typeface="+mn-ea"/>
                <a:cs typeface="Arial Black"/>
                <a:hlinkClick r:id="" action="ppaction://noaction"/>
              </a:rPr>
              <a:t>Chief</a:t>
            </a:r>
            <a:r>
              <a:rPr kumimoji="0" sz="1000" b="0" i="0" u="none" strike="noStrike" kern="0" cap="none" spc="-40" normalizeH="0" baseline="0" noProof="0" dirty="0">
                <a:ln>
                  <a:noFill/>
                </a:ln>
                <a:solidFill>
                  <a:srgbClr val="004F9F"/>
                </a:solidFill>
                <a:effectLst/>
                <a:uLnTx/>
                <a:uFillTx/>
                <a:latin typeface="Arial Black"/>
                <a:ea typeface="+mn-ea"/>
                <a:cs typeface="Arial Black"/>
                <a:hlinkClick r:id="" action="ppaction://noaction"/>
              </a:rPr>
              <a:t> </a:t>
            </a:r>
            <a:r>
              <a:rPr kumimoji="0" sz="1000" b="0" i="0" u="none" strike="noStrike" kern="0" cap="none" spc="-10" normalizeH="0" baseline="0" noProof="0" dirty="0">
                <a:ln>
                  <a:noFill/>
                </a:ln>
                <a:solidFill>
                  <a:srgbClr val="004F9F"/>
                </a:solidFill>
                <a:effectLst/>
                <a:uLnTx/>
                <a:uFillTx/>
                <a:latin typeface="Arial Black"/>
                <a:ea typeface="+mn-ea"/>
                <a:cs typeface="Arial Black"/>
                <a:hlinkClick r:id="" action="ppaction://noaction"/>
              </a:rPr>
              <a:t>Information </a:t>
            </a:r>
            <a:r>
              <a:rPr kumimoji="0" sz="1000" b="0" i="0" u="none" strike="noStrike" kern="0" cap="none" spc="-70" normalizeH="0" baseline="0" noProof="0" dirty="0">
                <a:ln>
                  <a:noFill/>
                </a:ln>
                <a:solidFill>
                  <a:srgbClr val="004F9F"/>
                </a:solidFill>
                <a:effectLst/>
                <a:uLnTx/>
                <a:uFillTx/>
                <a:latin typeface="Arial Black"/>
                <a:ea typeface="+mn-ea"/>
                <a:cs typeface="Arial Black"/>
                <a:hlinkClick r:id="" action="ppaction://noaction"/>
              </a:rPr>
              <a:t>Security</a:t>
            </a:r>
            <a:r>
              <a:rPr kumimoji="0" sz="1000" b="0" i="0" u="none" strike="noStrike" kern="0" cap="none" spc="-40" normalizeH="0" baseline="0" noProof="0" dirty="0">
                <a:ln>
                  <a:noFill/>
                </a:ln>
                <a:solidFill>
                  <a:srgbClr val="004F9F"/>
                </a:solidFill>
                <a:effectLst/>
                <a:uLnTx/>
                <a:uFillTx/>
                <a:latin typeface="Arial Black"/>
                <a:ea typeface="+mn-ea"/>
                <a:cs typeface="Arial Black"/>
                <a:hlinkClick r:id="" action="ppaction://noaction"/>
              </a:rPr>
              <a:t> </a:t>
            </a:r>
            <a:r>
              <a:rPr kumimoji="0" sz="1000" b="0" i="0" u="none" strike="noStrike" kern="0" cap="none" spc="-55" normalizeH="0" baseline="0" noProof="0" dirty="0">
                <a:ln>
                  <a:noFill/>
                </a:ln>
                <a:solidFill>
                  <a:srgbClr val="004F9F"/>
                </a:solidFill>
                <a:effectLst/>
                <a:uLnTx/>
                <a:uFillTx/>
                <a:latin typeface="Arial Black"/>
                <a:ea typeface="+mn-ea"/>
                <a:cs typeface="Arial Black"/>
                <a:hlinkClick r:id="" action="ppaction://noaction"/>
              </a:rPr>
              <a:t>Officer</a:t>
            </a:r>
            <a:r>
              <a:rPr kumimoji="0" sz="1000" b="0" i="0" u="none" strike="noStrike" kern="0" cap="none" spc="-35" normalizeH="0" baseline="0" noProof="0" dirty="0">
                <a:ln>
                  <a:noFill/>
                </a:ln>
                <a:solidFill>
                  <a:srgbClr val="004F9F"/>
                </a:solidFill>
                <a:effectLst/>
                <a:uLnTx/>
                <a:uFillTx/>
                <a:latin typeface="Arial Black"/>
                <a:ea typeface="+mn-ea"/>
                <a:cs typeface="Arial Black"/>
                <a:hlinkClick r:id="" action="ppaction://noaction"/>
              </a:rPr>
              <a:t> </a:t>
            </a:r>
            <a:r>
              <a:rPr kumimoji="0" sz="1000" b="0" i="0" u="none" strike="noStrike" kern="0" cap="none" spc="-85" normalizeH="0" baseline="0" noProof="0" dirty="0">
                <a:ln>
                  <a:noFill/>
                </a:ln>
                <a:solidFill>
                  <a:srgbClr val="004F9F"/>
                </a:solidFill>
                <a:effectLst/>
                <a:uLnTx/>
                <a:uFillTx/>
                <a:latin typeface="Arial Black"/>
                <a:ea typeface="+mn-ea"/>
                <a:cs typeface="Arial Black"/>
                <a:hlinkClick r:id="" action="ppaction://noaction"/>
              </a:rPr>
              <a:t>(CISO)</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3" name="object 5">
            <a:extLst>
              <a:ext uri="{FF2B5EF4-FFF2-40B4-BE49-F238E27FC236}">
                <a16:creationId xmlns:a16="http://schemas.microsoft.com/office/drawing/2014/main" id="{235F22AE-0B8B-9FAE-1708-9A7F9165A51B}"/>
              </a:ext>
            </a:extLst>
          </p:cNvPr>
          <p:cNvPicPr/>
          <p:nvPr/>
        </p:nvPicPr>
        <p:blipFill>
          <a:blip r:embed="rId3" cstate="print"/>
          <a:stretch>
            <a:fillRect/>
          </a:stretch>
        </p:blipFill>
        <p:spPr>
          <a:xfrm>
            <a:off x="912244" y="-1561954"/>
            <a:ext cx="635139" cy="951035"/>
          </a:xfrm>
          <a:prstGeom prst="rect">
            <a:avLst/>
          </a:prstGeom>
        </p:spPr>
      </p:pic>
      <p:pic>
        <p:nvPicPr>
          <p:cNvPr id="4" name="object 6">
            <a:extLst>
              <a:ext uri="{FF2B5EF4-FFF2-40B4-BE49-F238E27FC236}">
                <a16:creationId xmlns:a16="http://schemas.microsoft.com/office/drawing/2014/main" id="{7FC14B28-78AA-72D8-2542-9C1D0142E907}"/>
              </a:ext>
            </a:extLst>
          </p:cNvPr>
          <p:cNvPicPr/>
          <p:nvPr/>
        </p:nvPicPr>
        <p:blipFill>
          <a:blip r:embed="rId4" cstate="print"/>
          <a:stretch>
            <a:fillRect/>
          </a:stretch>
        </p:blipFill>
        <p:spPr>
          <a:xfrm>
            <a:off x="2526627" y="-1596134"/>
            <a:ext cx="851375" cy="959551"/>
          </a:xfrm>
          <a:prstGeom prst="rect">
            <a:avLst/>
          </a:prstGeom>
        </p:spPr>
      </p:pic>
      <p:sp>
        <p:nvSpPr>
          <p:cNvPr id="5" name="object 7">
            <a:extLst>
              <a:ext uri="{FF2B5EF4-FFF2-40B4-BE49-F238E27FC236}">
                <a16:creationId xmlns:a16="http://schemas.microsoft.com/office/drawing/2014/main" id="{2C6388A2-06A4-F1F2-FED9-08347CED42B0}"/>
              </a:ext>
            </a:extLst>
          </p:cNvPr>
          <p:cNvSpPr txBox="1"/>
          <p:nvPr/>
        </p:nvSpPr>
        <p:spPr>
          <a:xfrm>
            <a:off x="2485971" y="-562390"/>
            <a:ext cx="948055" cy="370205"/>
          </a:xfrm>
          <a:prstGeom prst="rect">
            <a:avLst/>
          </a:prstGeom>
        </p:spPr>
        <p:txBody>
          <a:bodyPr vert="horz" wrap="square" lIns="0" tIns="12700" rIns="0" bIns="0" rtlCol="0">
            <a:spAutoFit/>
          </a:bodyPr>
          <a:lstStyle/>
          <a:p>
            <a:pPr marL="133985" marR="5080" lvl="0" indent="-121920" algn="l"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CA0438"/>
                </a:solidFill>
                <a:effectLst/>
                <a:uLnTx/>
                <a:uFillTx/>
                <a:latin typeface="Arial Black"/>
                <a:ea typeface="+mn-ea"/>
                <a:cs typeface="Arial Black"/>
                <a:hlinkClick r:id="" action="ppaction://noaction"/>
              </a:rPr>
              <a:t>Cyber</a:t>
            </a:r>
            <a:r>
              <a:rPr kumimoji="0" sz="1000" b="0" i="0" u="none" strike="noStrike" kern="0" cap="none" spc="-55" normalizeH="0" baseline="0" noProof="0" dirty="0">
                <a:ln>
                  <a:noFill/>
                </a:ln>
                <a:solidFill>
                  <a:srgbClr val="CA0438"/>
                </a:solidFill>
                <a:effectLst/>
                <a:uLnTx/>
                <a:uFillTx/>
                <a:latin typeface="Arial Black"/>
                <a:ea typeface="+mn-ea"/>
                <a:cs typeface="Arial Black"/>
                <a:hlinkClick r:id="" action="ppaction://noaction"/>
              </a:rPr>
              <a:t> Incident </a:t>
            </a:r>
            <a:r>
              <a:rPr kumimoji="0" sz="1000" b="0" i="0" u="none" strike="noStrike" kern="0" cap="none" spc="-10" normalizeH="0" baseline="0" noProof="0" dirty="0">
                <a:ln>
                  <a:noFill/>
                </a:ln>
                <a:solidFill>
                  <a:srgbClr val="CA0438"/>
                </a:solidFill>
                <a:effectLst/>
                <a:uLnTx/>
                <a:uFillTx/>
                <a:latin typeface="Arial Black"/>
                <a:ea typeface="+mn-ea"/>
                <a:cs typeface="Arial Black"/>
                <a:hlinkClick r:id="" action="ppaction://noaction"/>
              </a:rPr>
              <a:t>Responder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sp>
        <p:nvSpPr>
          <p:cNvPr id="6" name="object 8">
            <a:extLst>
              <a:ext uri="{FF2B5EF4-FFF2-40B4-BE49-F238E27FC236}">
                <a16:creationId xmlns:a16="http://schemas.microsoft.com/office/drawing/2014/main" id="{1871D9AC-AE69-4C76-62AB-0B16522026AC}"/>
              </a:ext>
            </a:extLst>
          </p:cNvPr>
          <p:cNvSpPr txBox="1"/>
          <p:nvPr/>
        </p:nvSpPr>
        <p:spPr>
          <a:xfrm>
            <a:off x="4212916" y="-562390"/>
            <a:ext cx="1473200" cy="370205"/>
          </a:xfrm>
          <a:prstGeom prst="rect">
            <a:avLst/>
          </a:prstGeom>
        </p:spPr>
        <p:txBody>
          <a:bodyPr vert="horz" wrap="square" lIns="0" tIns="12700" rIns="0" bIns="0" rtlCol="0">
            <a:spAutoFit/>
          </a:bodyPr>
          <a:lstStyle/>
          <a:p>
            <a:pPr marL="131445" marR="5080" lvl="0" indent="-119380" algn="l"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004F9F"/>
                </a:solidFill>
                <a:effectLst/>
                <a:uLnTx/>
                <a:uFillTx/>
                <a:latin typeface="Arial Black"/>
                <a:ea typeface="+mn-ea"/>
                <a:cs typeface="Arial Black"/>
                <a:hlinkClick r:id="" action="ppaction://noaction"/>
              </a:rPr>
              <a:t>Cyber</a:t>
            </a:r>
            <a:r>
              <a:rPr kumimoji="0" sz="1000" b="0" i="0" u="none" strike="noStrike" kern="0" cap="none" spc="-40" normalizeH="0" baseline="0" noProof="0" dirty="0">
                <a:ln>
                  <a:noFill/>
                </a:ln>
                <a:solidFill>
                  <a:srgbClr val="004F9F"/>
                </a:solidFill>
                <a:effectLst/>
                <a:uLnTx/>
                <a:uFillTx/>
                <a:latin typeface="Arial Black"/>
                <a:ea typeface="+mn-ea"/>
                <a:cs typeface="Arial Black"/>
                <a:hlinkClick r:id="" action="ppaction://noaction"/>
              </a:rPr>
              <a:t> </a:t>
            </a:r>
            <a:r>
              <a:rPr kumimoji="0" sz="1000" b="0" i="0" u="none" strike="noStrike" kern="0" cap="none" spc="-85" normalizeH="0" baseline="0" noProof="0" dirty="0">
                <a:ln>
                  <a:noFill/>
                </a:ln>
                <a:solidFill>
                  <a:srgbClr val="004F9F"/>
                </a:solidFill>
                <a:effectLst/>
                <a:uLnTx/>
                <a:uFillTx/>
                <a:latin typeface="Arial Black"/>
                <a:ea typeface="+mn-ea"/>
                <a:cs typeface="Arial Black"/>
                <a:hlinkClick r:id="" action="ppaction://noaction"/>
              </a:rPr>
              <a:t>Legal,</a:t>
            </a:r>
            <a:r>
              <a:rPr kumimoji="0" sz="1000" b="0" i="0" u="none" strike="noStrike" kern="0" cap="none" spc="-45" normalizeH="0" baseline="0" noProof="0" dirty="0">
                <a:ln>
                  <a:noFill/>
                </a:ln>
                <a:solidFill>
                  <a:srgbClr val="004F9F"/>
                </a:solidFill>
                <a:effectLst/>
                <a:uLnTx/>
                <a:uFillTx/>
                <a:latin typeface="Arial Black"/>
                <a:ea typeface="+mn-ea"/>
                <a:cs typeface="Arial Black"/>
                <a:hlinkClick r:id="" action="ppaction://noaction"/>
              </a:rPr>
              <a:t> </a:t>
            </a:r>
            <a:r>
              <a:rPr kumimoji="0" sz="1000" b="0" i="0" u="none" strike="noStrike" kern="0" cap="none" spc="-75" normalizeH="0" baseline="0" noProof="0" dirty="0">
                <a:ln>
                  <a:noFill/>
                </a:ln>
                <a:solidFill>
                  <a:srgbClr val="004F9F"/>
                </a:solidFill>
                <a:effectLst/>
                <a:uLnTx/>
                <a:uFillTx/>
                <a:latin typeface="Arial Black"/>
                <a:ea typeface="+mn-ea"/>
                <a:cs typeface="Arial Black"/>
                <a:hlinkClick r:id="" action="ppaction://noaction"/>
              </a:rPr>
              <a:t>Policy</a:t>
            </a:r>
            <a:r>
              <a:rPr kumimoji="0" sz="1000" b="0" i="0" u="none" strike="noStrike" kern="0" cap="none" spc="-40" normalizeH="0" baseline="0" noProof="0" dirty="0">
                <a:ln>
                  <a:noFill/>
                </a:ln>
                <a:solidFill>
                  <a:srgbClr val="004F9F"/>
                </a:solidFill>
                <a:effectLst/>
                <a:uLnTx/>
                <a:uFillTx/>
                <a:latin typeface="Arial Black"/>
                <a:ea typeface="+mn-ea"/>
                <a:cs typeface="Arial Black"/>
                <a:hlinkClick r:id="" action="ppaction://noaction"/>
              </a:rPr>
              <a:t> </a:t>
            </a:r>
            <a:r>
              <a:rPr kumimoji="0" sz="1000" b="0" i="0" u="none" strike="noStrike" kern="0" cap="none" spc="-25" normalizeH="0" baseline="0" noProof="0" dirty="0">
                <a:ln>
                  <a:noFill/>
                </a:ln>
                <a:solidFill>
                  <a:srgbClr val="004F9F"/>
                </a:solidFill>
                <a:effectLst/>
                <a:uLnTx/>
                <a:uFillTx/>
                <a:latin typeface="Arial Black"/>
                <a:ea typeface="+mn-ea"/>
                <a:cs typeface="Arial Black"/>
                <a:hlinkClick r:id="" action="ppaction://noaction"/>
              </a:rPr>
              <a:t>and </a:t>
            </a:r>
            <a:r>
              <a:rPr kumimoji="0" sz="1000" b="0" i="0" u="none" strike="noStrike" kern="0" cap="none" spc="-70" normalizeH="0" baseline="0" noProof="0" dirty="0">
                <a:ln>
                  <a:noFill/>
                </a:ln>
                <a:solidFill>
                  <a:srgbClr val="004F9F"/>
                </a:solidFill>
                <a:effectLst/>
                <a:uLnTx/>
                <a:uFillTx/>
                <a:latin typeface="Arial Black"/>
                <a:ea typeface="+mn-ea"/>
                <a:cs typeface="Arial Black"/>
                <a:hlinkClick r:id="" action="ppaction://noaction"/>
              </a:rPr>
              <a:t>Compliance</a:t>
            </a:r>
            <a:r>
              <a:rPr kumimoji="0" sz="1000" b="0" i="0" u="none" strike="noStrike" kern="0" cap="none" spc="-15" normalizeH="0" baseline="0" noProof="0" dirty="0">
                <a:ln>
                  <a:noFill/>
                </a:ln>
                <a:solidFill>
                  <a:srgbClr val="004F9F"/>
                </a:solidFill>
                <a:effectLst/>
                <a:uLnTx/>
                <a:uFillTx/>
                <a:latin typeface="Arial Black"/>
                <a:ea typeface="+mn-ea"/>
                <a:cs typeface="Arial Black"/>
                <a:hlinkClick r:id="" action="ppaction://noaction"/>
              </a:rPr>
              <a:t> </a:t>
            </a:r>
            <a:r>
              <a:rPr kumimoji="0" sz="1000" b="0" i="0" u="none" strike="noStrike" kern="0" cap="none" spc="-10" normalizeH="0" baseline="0" noProof="0" dirty="0">
                <a:ln>
                  <a:noFill/>
                </a:ln>
                <a:solidFill>
                  <a:srgbClr val="004F9F"/>
                </a:solidFill>
                <a:effectLst/>
                <a:uLnTx/>
                <a:uFillTx/>
                <a:latin typeface="Arial Black"/>
                <a:ea typeface="+mn-ea"/>
                <a:cs typeface="Arial Black"/>
                <a:hlinkClick r:id="" action="ppaction://noaction"/>
              </a:rPr>
              <a:t>Officer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7" name="object 9">
            <a:extLst>
              <a:ext uri="{FF2B5EF4-FFF2-40B4-BE49-F238E27FC236}">
                <a16:creationId xmlns:a16="http://schemas.microsoft.com/office/drawing/2014/main" id="{E506513B-C3A0-A5FD-2FDC-6C74A125A8CE}"/>
              </a:ext>
            </a:extLst>
          </p:cNvPr>
          <p:cNvPicPr/>
          <p:nvPr/>
        </p:nvPicPr>
        <p:blipFill>
          <a:blip r:embed="rId5" cstate="print"/>
          <a:stretch>
            <a:fillRect/>
          </a:stretch>
        </p:blipFill>
        <p:spPr>
          <a:xfrm>
            <a:off x="4314781" y="-1561889"/>
            <a:ext cx="1289636" cy="891202"/>
          </a:xfrm>
          <a:prstGeom prst="rect">
            <a:avLst/>
          </a:prstGeom>
        </p:spPr>
      </p:pic>
      <p:pic>
        <p:nvPicPr>
          <p:cNvPr id="8" name="object 10">
            <a:extLst>
              <a:ext uri="{FF2B5EF4-FFF2-40B4-BE49-F238E27FC236}">
                <a16:creationId xmlns:a16="http://schemas.microsoft.com/office/drawing/2014/main" id="{526C7788-173E-0A13-E349-9B59A1290748}"/>
              </a:ext>
            </a:extLst>
          </p:cNvPr>
          <p:cNvPicPr/>
          <p:nvPr/>
        </p:nvPicPr>
        <p:blipFill>
          <a:blip r:embed="rId6" cstate="print"/>
          <a:stretch>
            <a:fillRect/>
          </a:stretch>
        </p:blipFill>
        <p:spPr>
          <a:xfrm>
            <a:off x="6439096" y="-1639880"/>
            <a:ext cx="971871" cy="1128754"/>
          </a:xfrm>
          <a:prstGeom prst="rect">
            <a:avLst/>
          </a:prstGeom>
        </p:spPr>
      </p:pic>
      <p:sp>
        <p:nvSpPr>
          <p:cNvPr id="9" name="object 11">
            <a:extLst>
              <a:ext uri="{FF2B5EF4-FFF2-40B4-BE49-F238E27FC236}">
                <a16:creationId xmlns:a16="http://schemas.microsoft.com/office/drawing/2014/main" id="{1FC2E5F4-1D45-3FF4-1C6F-5BB09B25D852}"/>
              </a:ext>
            </a:extLst>
          </p:cNvPr>
          <p:cNvSpPr txBox="1"/>
          <p:nvPr/>
        </p:nvSpPr>
        <p:spPr>
          <a:xfrm>
            <a:off x="6214778" y="-523388"/>
            <a:ext cx="1400175" cy="370205"/>
          </a:xfrm>
          <a:prstGeom prst="rect">
            <a:avLst/>
          </a:prstGeom>
        </p:spPr>
        <p:txBody>
          <a:bodyPr vert="horz" wrap="square" lIns="0" tIns="12700" rIns="0" bIns="0" rtlCol="0">
            <a:spAutoFit/>
          </a:bodyPr>
          <a:lstStyle/>
          <a:p>
            <a:pPr marL="12700" marR="5080" lvl="0" indent="278765" algn="l"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F8B133"/>
                </a:solidFill>
                <a:effectLst/>
                <a:uLnTx/>
                <a:uFillTx/>
                <a:latin typeface="Arial Black"/>
                <a:ea typeface="+mn-ea"/>
                <a:cs typeface="Arial Black"/>
                <a:hlinkClick r:id="" action="ppaction://noaction"/>
              </a:rPr>
              <a:t>Cyber</a:t>
            </a:r>
            <a:r>
              <a:rPr kumimoji="0" sz="1000" b="0" i="0" u="none" strike="noStrike" kern="0" cap="none" spc="-55" normalizeH="0" baseline="0" noProof="0" dirty="0">
                <a:ln>
                  <a:noFill/>
                </a:ln>
                <a:solidFill>
                  <a:srgbClr val="F8B133"/>
                </a:solidFill>
                <a:effectLst/>
                <a:uLnTx/>
                <a:uFillTx/>
                <a:latin typeface="Arial Black"/>
                <a:ea typeface="+mn-ea"/>
                <a:cs typeface="Arial Black"/>
                <a:hlinkClick r:id="" action="ppaction://noaction"/>
              </a:rPr>
              <a:t> </a:t>
            </a:r>
            <a:r>
              <a:rPr kumimoji="0" sz="1000" b="0" i="0" u="none" strike="noStrike" kern="0" cap="none" spc="-10" normalizeH="0" baseline="0" noProof="0" dirty="0">
                <a:ln>
                  <a:noFill/>
                </a:ln>
                <a:solidFill>
                  <a:srgbClr val="F8B133"/>
                </a:solidFill>
                <a:effectLst/>
                <a:uLnTx/>
                <a:uFillTx/>
                <a:latin typeface="Arial Black"/>
                <a:ea typeface="+mn-ea"/>
                <a:cs typeface="Arial Black"/>
                <a:hlinkClick r:id="" action="ppaction://noaction"/>
              </a:rPr>
              <a:t>Threat </a:t>
            </a:r>
            <a:r>
              <a:rPr kumimoji="0" sz="1000" b="0" i="0" u="none" strike="noStrike" kern="0" cap="none" spc="-70" normalizeH="0" baseline="0" noProof="0" dirty="0">
                <a:ln>
                  <a:noFill/>
                </a:ln>
                <a:solidFill>
                  <a:srgbClr val="F8B133"/>
                </a:solidFill>
                <a:effectLst/>
                <a:uLnTx/>
                <a:uFillTx/>
                <a:latin typeface="Arial Black"/>
                <a:ea typeface="+mn-ea"/>
                <a:cs typeface="Arial Black"/>
                <a:hlinkClick r:id="" action="ppaction://noaction"/>
              </a:rPr>
              <a:t>Intelligence</a:t>
            </a:r>
            <a:r>
              <a:rPr kumimoji="0" sz="1000" b="0" i="0" u="none" strike="noStrike" kern="0" cap="none" spc="25" normalizeH="0" baseline="0" noProof="0" dirty="0">
                <a:ln>
                  <a:noFill/>
                </a:ln>
                <a:solidFill>
                  <a:srgbClr val="F8B133"/>
                </a:solidFill>
                <a:effectLst/>
                <a:uLnTx/>
                <a:uFillTx/>
                <a:latin typeface="Arial Black"/>
                <a:ea typeface="+mn-ea"/>
                <a:cs typeface="Arial Black"/>
                <a:hlinkClick r:id="" action="ppaction://noaction"/>
              </a:rPr>
              <a:t> </a:t>
            </a:r>
            <a:r>
              <a:rPr kumimoji="0" sz="1000" b="0" i="0" u="none" strike="noStrike" kern="0" cap="none" spc="-75" normalizeH="0" baseline="0" noProof="0" dirty="0">
                <a:ln>
                  <a:noFill/>
                </a:ln>
                <a:solidFill>
                  <a:srgbClr val="F8B133"/>
                </a:solidFill>
                <a:effectLst/>
                <a:uLnTx/>
                <a:uFillTx/>
                <a:latin typeface="Arial Black"/>
                <a:ea typeface="+mn-ea"/>
                <a:cs typeface="Arial Black"/>
                <a:hlinkClick r:id="" action="ppaction://noaction"/>
              </a:rPr>
              <a:t>Specialist</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10" name="object 12">
            <a:extLst>
              <a:ext uri="{FF2B5EF4-FFF2-40B4-BE49-F238E27FC236}">
                <a16:creationId xmlns:a16="http://schemas.microsoft.com/office/drawing/2014/main" id="{DD6955AA-29D0-37BC-66D5-69B1C009D643}"/>
              </a:ext>
            </a:extLst>
          </p:cNvPr>
          <p:cNvPicPr/>
          <p:nvPr/>
        </p:nvPicPr>
        <p:blipFill>
          <a:blip r:embed="rId7" cstate="print"/>
          <a:stretch>
            <a:fillRect/>
          </a:stretch>
        </p:blipFill>
        <p:spPr>
          <a:xfrm>
            <a:off x="8368905" y="-1596134"/>
            <a:ext cx="1051705" cy="1025630"/>
          </a:xfrm>
          <a:prstGeom prst="rect">
            <a:avLst/>
          </a:prstGeom>
        </p:spPr>
      </p:pic>
      <p:sp>
        <p:nvSpPr>
          <p:cNvPr id="11" name="object 13">
            <a:extLst>
              <a:ext uri="{FF2B5EF4-FFF2-40B4-BE49-F238E27FC236}">
                <a16:creationId xmlns:a16="http://schemas.microsoft.com/office/drawing/2014/main" id="{0EC3742C-A43D-1877-F59E-889B5C5AF1A9}"/>
              </a:ext>
            </a:extLst>
          </p:cNvPr>
          <p:cNvSpPr txBox="1"/>
          <p:nvPr/>
        </p:nvSpPr>
        <p:spPr>
          <a:xfrm>
            <a:off x="8455388" y="-503576"/>
            <a:ext cx="900430" cy="373380"/>
          </a:xfrm>
          <a:prstGeom prst="rect">
            <a:avLst/>
          </a:prstGeom>
        </p:spPr>
        <p:txBody>
          <a:bodyPr vert="horz" wrap="square" lIns="0" tIns="12700" rIns="0" bIns="0" rtlCol="0">
            <a:spAutoFit/>
          </a:bodyPr>
          <a:lstStyle/>
          <a:p>
            <a:pPr marL="157480" marR="5080" lvl="0" indent="-14478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94C11F"/>
                </a:solidFill>
                <a:effectLst/>
                <a:uLnTx/>
                <a:uFillTx/>
                <a:latin typeface="Arial Black"/>
                <a:ea typeface="+mn-ea"/>
                <a:cs typeface="Arial Black"/>
                <a:hlinkClick r:id="" action="ppaction://noaction"/>
              </a:rPr>
              <a:t>Cybersecurity </a:t>
            </a:r>
            <a:r>
              <a:rPr kumimoji="0" sz="1000" b="0" i="0" u="none" strike="noStrike" kern="0" cap="none" spc="-10" normalizeH="0" baseline="0" noProof="0" dirty="0">
                <a:ln>
                  <a:noFill/>
                </a:ln>
                <a:solidFill>
                  <a:srgbClr val="94C11F"/>
                </a:solidFill>
                <a:effectLst/>
                <a:uLnTx/>
                <a:uFillTx/>
                <a:latin typeface="Arial Black"/>
                <a:ea typeface="+mn-ea"/>
                <a:cs typeface="Arial Black"/>
                <a:hlinkClick r:id="" action="ppaction://noaction"/>
              </a:rPr>
              <a:t>Architect</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12" name="object 14">
            <a:extLst>
              <a:ext uri="{FF2B5EF4-FFF2-40B4-BE49-F238E27FC236}">
                <a16:creationId xmlns:a16="http://schemas.microsoft.com/office/drawing/2014/main" id="{0CE31752-04E1-44B4-A5F5-40F33DC468E3}"/>
              </a:ext>
            </a:extLst>
          </p:cNvPr>
          <p:cNvPicPr/>
          <p:nvPr/>
        </p:nvPicPr>
        <p:blipFill>
          <a:blip r:embed="rId8" cstate="print"/>
          <a:stretch>
            <a:fillRect/>
          </a:stretch>
        </p:blipFill>
        <p:spPr>
          <a:xfrm>
            <a:off x="10251294" y="-1573947"/>
            <a:ext cx="1214443" cy="1013287"/>
          </a:xfrm>
          <a:prstGeom prst="rect">
            <a:avLst/>
          </a:prstGeom>
        </p:spPr>
      </p:pic>
      <p:sp>
        <p:nvSpPr>
          <p:cNvPr id="13" name="object 15">
            <a:extLst>
              <a:ext uri="{FF2B5EF4-FFF2-40B4-BE49-F238E27FC236}">
                <a16:creationId xmlns:a16="http://schemas.microsoft.com/office/drawing/2014/main" id="{E1AA41D0-93D6-A1D8-FC4B-3DDFFFC27E6A}"/>
              </a:ext>
            </a:extLst>
          </p:cNvPr>
          <p:cNvSpPr txBox="1"/>
          <p:nvPr/>
        </p:nvSpPr>
        <p:spPr>
          <a:xfrm>
            <a:off x="10444462" y="-491384"/>
            <a:ext cx="900430" cy="370205"/>
          </a:xfrm>
          <a:prstGeom prst="rect">
            <a:avLst/>
          </a:prstGeom>
        </p:spPr>
        <p:txBody>
          <a:bodyPr vert="horz" wrap="square" lIns="0" tIns="12700" rIns="0" bIns="0" rtlCol="0">
            <a:spAutoFit/>
          </a:bodyPr>
          <a:lstStyle/>
          <a:p>
            <a:pPr marL="210820" marR="5080" lvl="0" indent="-198120" algn="l"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F8B133"/>
                </a:solidFill>
                <a:effectLst/>
                <a:uLnTx/>
                <a:uFillTx/>
                <a:latin typeface="Arial Black"/>
                <a:ea typeface="+mn-ea"/>
                <a:cs typeface="Arial Black"/>
                <a:hlinkClick r:id="" action="ppaction://noaction"/>
              </a:rPr>
              <a:t>Cybersecurity </a:t>
            </a:r>
            <a:r>
              <a:rPr kumimoji="0" sz="1000" b="0" i="0" u="none" strike="noStrike" kern="0" cap="none" spc="-10" normalizeH="0" baseline="0" noProof="0" dirty="0">
                <a:ln>
                  <a:noFill/>
                </a:ln>
                <a:solidFill>
                  <a:srgbClr val="F8B133"/>
                </a:solidFill>
                <a:effectLst/>
                <a:uLnTx/>
                <a:uFillTx/>
                <a:latin typeface="Arial Black"/>
                <a:ea typeface="+mn-ea"/>
                <a:cs typeface="Arial Black"/>
                <a:hlinkClick r:id="" action="ppaction://noaction"/>
              </a:rPr>
              <a:t>Auditor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sp>
        <p:nvSpPr>
          <p:cNvPr id="14" name="object 16">
            <a:extLst>
              <a:ext uri="{FF2B5EF4-FFF2-40B4-BE49-F238E27FC236}">
                <a16:creationId xmlns:a16="http://schemas.microsoft.com/office/drawing/2014/main" id="{AC0461E8-4496-1722-A879-CDE4D189E6E8}"/>
              </a:ext>
            </a:extLst>
          </p:cNvPr>
          <p:cNvSpPr txBox="1"/>
          <p:nvPr/>
        </p:nvSpPr>
        <p:spPr>
          <a:xfrm>
            <a:off x="865659" y="8217475"/>
            <a:ext cx="900430" cy="373380"/>
          </a:xfrm>
          <a:prstGeom prst="rect">
            <a:avLst/>
          </a:prstGeom>
        </p:spPr>
        <p:txBody>
          <a:bodyPr vert="horz" wrap="square" lIns="0" tIns="12700" rIns="0" bIns="0" rtlCol="0">
            <a:spAutoFit/>
          </a:bodyPr>
          <a:lstStyle/>
          <a:p>
            <a:pPr marL="165100" marR="5080" lvl="0" indent="-15240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94C11F"/>
                </a:solidFill>
                <a:effectLst/>
                <a:uLnTx/>
                <a:uFillTx/>
                <a:latin typeface="Arial Black"/>
                <a:ea typeface="+mn-ea"/>
                <a:cs typeface="Arial Black"/>
                <a:hlinkClick r:id="" action="ppaction://noaction"/>
              </a:rPr>
              <a:t>Cybersecurity </a:t>
            </a:r>
            <a:r>
              <a:rPr kumimoji="0" sz="1000" b="0" i="0" u="none" strike="noStrike" kern="0" cap="none" spc="-10" normalizeH="0" baseline="0" noProof="0" dirty="0">
                <a:ln>
                  <a:noFill/>
                </a:ln>
                <a:solidFill>
                  <a:srgbClr val="94C11F"/>
                </a:solidFill>
                <a:effectLst/>
                <a:uLnTx/>
                <a:uFillTx/>
                <a:latin typeface="Arial Black"/>
                <a:ea typeface="+mn-ea"/>
                <a:cs typeface="Arial Black"/>
                <a:hlinkClick r:id="" action="ppaction://noaction"/>
              </a:rPr>
              <a:t>Educator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15" name="object 17">
            <a:extLst>
              <a:ext uri="{FF2B5EF4-FFF2-40B4-BE49-F238E27FC236}">
                <a16:creationId xmlns:a16="http://schemas.microsoft.com/office/drawing/2014/main" id="{704A6813-8639-3A15-80B1-6824F44DC6EA}"/>
              </a:ext>
            </a:extLst>
          </p:cNvPr>
          <p:cNvPicPr/>
          <p:nvPr/>
        </p:nvPicPr>
        <p:blipFill>
          <a:blip r:embed="rId9" cstate="print"/>
          <a:stretch>
            <a:fillRect/>
          </a:stretch>
        </p:blipFill>
        <p:spPr>
          <a:xfrm>
            <a:off x="770420" y="7256338"/>
            <a:ext cx="1089458" cy="768000"/>
          </a:xfrm>
          <a:prstGeom prst="rect">
            <a:avLst/>
          </a:prstGeom>
        </p:spPr>
      </p:pic>
      <p:sp>
        <p:nvSpPr>
          <p:cNvPr id="16" name="object 18">
            <a:extLst>
              <a:ext uri="{FF2B5EF4-FFF2-40B4-BE49-F238E27FC236}">
                <a16:creationId xmlns:a16="http://schemas.microsoft.com/office/drawing/2014/main" id="{7E5ABB23-AC3A-B823-4ADA-597CA5901B23}"/>
              </a:ext>
            </a:extLst>
          </p:cNvPr>
          <p:cNvSpPr txBox="1"/>
          <p:nvPr/>
        </p:nvSpPr>
        <p:spPr>
          <a:xfrm>
            <a:off x="2854859" y="8217475"/>
            <a:ext cx="900430" cy="373380"/>
          </a:xfrm>
          <a:prstGeom prst="rect">
            <a:avLst/>
          </a:prstGeom>
        </p:spPr>
        <p:txBody>
          <a:bodyPr vert="horz" wrap="square" lIns="0" tIns="12700" rIns="0" bIns="0" rtlCol="0">
            <a:spAutoFit/>
          </a:bodyPr>
          <a:lstStyle/>
          <a:p>
            <a:pPr marL="33655" marR="5080" lvl="0" indent="-2159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004F9F"/>
                </a:solidFill>
                <a:effectLst/>
                <a:uLnTx/>
                <a:uFillTx/>
                <a:latin typeface="Arial Black"/>
                <a:ea typeface="+mn-ea"/>
                <a:cs typeface="Arial Black"/>
                <a:hlinkClick r:id="" action="ppaction://noaction"/>
              </a:rPr>
              <a:t>Cybersecurity </a:t>
            </a:r>
            <a:r>
              <a:rPr kumimoji="0" sz="1000" b="0" i="0" u="none" strike="noStrike" kern="0" cap="none" spc="-30" normalizeH="0" baseline="0" noProof="0" dirty="0">
                <a:ln>
                  <a:noFill/>
                </a:ln>
                <a:solidFill>
                  <a:srgbClr val="004F9F"/>
                </a:solidFill>
                <a:effectLst/>
                <a:uLnTx/>
                <a:uFillTx/>
                <a:latin typeface="Arial Black"/>
                <a:ea typeface="+mn-ea"/>
                <a:cs typeface="Arial Black"/>
                <a:hlinkClick r:id="" action="ppaction://noaction"/>
              </a:rPr>
              <a:t>Implementer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17" name="object 19">
            <a:extLst>
              <a:ext uri="{FF2B5EF4-FFF2-40B4-BE49-F238E27FC236}">
                <a16:creationId xmlns:a16="http://schemas.microsoft.com/office/drawing/2014/main" id="{A355CCBC-6F6C-EC05-E46E-D81D97E4F94E}"/>
              </a:ext>
            </a:extLst>
          </p:cNvPr>
          <p:cNvPicPr/>
          <p:nvPr/>
        </p:nvPicPr>
        <p:blipFill>
          <a:blip r:embed="rId10" cstate="print"/>
          <a:stretch>
            <a:fillRect/>
          </a:stretch>
        </p:blipFill>
        <p:spPr>
          <a:xfrm>
            <a:off x="2791530" y="7225308"/>
            <a:ext cx="1014008" cy="835570"/>
          </a:xfrm>
          <a:prstGeom prst="rect">
            <a:avLst/>
          </a:prstGeom>
        </p:spPr>
      </p:pic>
      <p:pic>
        <p:nvPicPr>
          <p:cNvPr id="18" name="object 20">
            <a:extLst>
              <a:ext uri="{FF2B5EF4-FFF2-40B4-BE49-F238E27FC236}">
                <a16:creationId xmlns:a16="http://schemas.microsoft.com/office/drawing/2014/main" id="{FAB6A370-7007-A6B2-0019-22620AF8A5E4}"/>
              </a:ext>
            </a:extLst>
          </p:cNvPr>
          <p:cNvPicPr/>
          <p:nvPr/>
        </p:nvPicPr>
        <p:blipFill>
          <a:blip r:embed="rId11" cstate="print"/>
          <a:stretch>
            <a:fillRect/>
          </a:stretch>
        </p:blipFill>
        <p:spPr>
          <a:xfrm>
            <a:off x="4873770" y="7224995"/>
            <a:ext cx="831765" cy="819817"/>
          </a:xfrm>
          <a:prstGeom prst="rect">
            <a:avLst/>
          </a:prstGeom>
        </p:spPr>
      </p:pic>
      <p:sp>
        <p:nvSpPr>
          <p:cNvPr id="19" name="object 21">
            <a:extLst>
              <a:ext uri="{FF2B5EF4-FFF2-40B4-BE49-F238E27FC236}">
                <a16:creationId xmlns:a16="http://schemas.microsoft.com/office/drawing/2014/main" id="{7803594F-E921-DE91-1554-C21A9CBF1BE9}"/>
              </a:ext>
            </a:extLst>
          </p:cNvPr>
          <p:cNvSpPr txBox="1"/>
          <p:nvPr/>
        </p:nvSpPr>
        <p:spPr>
          <a:xfrm>
            <a:off x="4845458" y="8203759"/>
            <a:ext cx="900430" cy="373380"/>
          </a:xfrm>
          <a:prstGeom prst="rect">
            <a:avLst/>
          </a:prstGeom>
        </p:spPr>
        <p:txBody>
          <a:bodyPr vert="horz" wrap="square" lIns="0" tIns="12700" rIns="0" bIns="0" rtlCol="0">
            <a:spAutoFit/>
          </a:bodyPr>
          <a:lstStyle/>
          <a:p>
            <a:pPr marL="93345" marR="5080" lvl="0" indent="-8128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94C11F"/>
                </a:solidFill>
                <a:effectLst/>
                <a:uLnTx/>
                <a:uFillTx/>
                <a:latin typeface="Arial Black"/>
                <a:ea typeface="+mn-ea"/>
                <a:cs typeface="Arial Black"/>
                <a:hlinkClick r:id="" action="ppaction://noaction"/>
              </a:rPr>
              <a:t>Cybersecurity </a:t>
            </a:r>
            <a:r>
              <a:rPr kumimoji="0" sz="1000" b="0" i="0" u="none" strike="noStrike" kern="0" cap="none" spc="-10" normalizeH="0" baseline="0" noProof="0" dirty="0">
                <a:ln>
                  <a:noFill/>
                </a:ln>
                <a:solidFill>
                  <a:srgbClr val="94C11F"/>
                </a:solidFill>
                <a:effectLst/>
                <a:uLnTx/>
                <a:uFillTx/>
                <a:latin typeface="Arial Black"/>
                <a:ea typeface="+mn-ea"/>
                <a:cs typeface="Arial Black"/>
                <a:hlinkClick r:id="" action="ppaction://noaction"/>
              </a:rPr>
              <a:t>Researcher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20" name="object 22">
            <a:extLst>
              <a:ext uri="{FF2B5EF4-FFF2-40B4-BE49-F238E27FC236}">
                <a16:creationId xmlns:a16="http://schemas.microsoft.com/office/drawing/2014/main" id="{CEFB3513-155C-2C06-ACC2-7463571CC4F8}"/>
              </a:ext>
            </a:extLst>
          </p:cNvPr>
          <p:cNvPicPr/>
          <p:nvPr/>
        </p:nvPicPr>
        <p:blipFill>
          <a:blip r:embed="rId12" cstate="print"/>
          <a:stretch>
            <a:fillRect/>
          </a:stretch>
        </p:blipFill>
        <p:spPr>
          <a:xfrm>
            <a:off x="6874951" y="7323809"/>
            <a:ext cx="898999" cy="755469"/>
          </a:xfrm>
          <a:prstGeom prst="rect">
            <a:avLst/>
          </a:prstGeom>
        </p:spPr>
      </p:pic>
      <p:sp>
        <p:nvSpPr>
          <p:cNvPr id="21" name="object 23">
            <a:extLst>
              <a:ext uri="{FF2B5EF4-FFF2-40B4-BE49-F238E27FC236}">
                <a16:creationId xmlns:a16="http://schemas.microsoft.com/office/drawing/2014/main" id="{6F2F8CB8-2B55-F57E-F7FA-60E0663ABEDE}"/>
              </a:ext>
            </a:extLst>
          </p:cNvPr>
          <p:cNvSpPr txBox="1"/>
          <p:nvPr/>
        </p:nvSpPr>
        <p:spPr>
          <a:xfrm>
            <a:off x="6732891" y="8268542"/>
            <a:ext cx="1197610" cy="373380"/>
          </a:xfrm>
          <a:prstGeom prst="rect">
            <a:avLst/>
          </a:prstGeom>
        </p:spPr>
        <p:txBody>
          <a:bodyPr vert="horz" wrap="square" lIns="0" tIns="12700" rIns="0" bIns="0" rtlCol="0">
            <a:spAutoFit/>
          </a:bodyPr>
          <a:lstStyle/>
          <a:p>
            <a:pPr marL="318770" marR="5080" lvl="0" indent="-306705"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CA0438"/>
                </a:solidFill>
                <a:effectLst/>
                <a:uLnTx/>
                <a:uFillTx/>
                <a:latin typeface="Arial Black"/>
                <a:ea typeface="+mn-ea"/>
                <a:cs typeface="Arial Black"/>
                <a:hlinkClick r:id="" action="ppaction://noaction"/>
              </a:rPr>
              <a:t>Cybersecurity</a:t>
            </a:r>
            <a:r>
              <a:rPr kumimoji="0" sz="1000" b="0" i="0" u="none" strike="noStrike" kern="0" cap="none" spc="-15" normalizeH="0" baseline="0" noProof="0" dirty="0">
                <a:ln>
                  <a:noFill/>
                </a:ln>
                <a:solidFill>
                  <a:srgbClr val="CA0438"/>
                </a:solidFill>
                <a:effectLst/>
                <a:uLnTx/>
                <a:uFillTx/>
                <a:latin typeface="Arial Black"/>
                <a:ea typeface="+mn-ea"/>
                <a:cs typeface="Arial Black"/>
                <a:hlinkClick r:id="" action="ppaction://noaction"/>
              </a:rPr>
              <a:t> </a:t>
            </a:r>
            <a:r>
              <a:rPr kumimoji="0" sz="1000" b="0" i="0" u="none" strike="noStrike" kern="0" cap="none" spc="-80" normalizeH="0" baseline="0" noProof="0" dirty="0">
                <a:ln>
                  <a:noFill/>
                </a:ln>
                <a:solidFill>
                  <a:srgbClr val="CA0438"/>
                </a:solidFill>
                <a:effectLst/>
                <a:uLnTx/>
                <a:uFillTx/>
                <a:latin typeface="Arial Black"/>
                <a:ea typeface="+mn-ea"/>
                <a:cs typeface="Arial Black"/>
                <a:hlinkClick r:id="" action="ppaction://noaction"/>
              </a:rPr>
              <a:t>Risk </a:t>
            </a:r>
            <a:r>
              <a:rPr kumimoji="0" sz="1000" b="0" i="0" u="none" strike="noStrike" kern="0" cap="none" spc="-10" normalizeH="0" baseline="0" noProof="0" dirty="0">
                <a:ln>
                  <a:noFill/>
                </a:ln>
                <a:solidFill>
                  <a:srgbClr val="CA0438"/>
                </a:solidFill>
                <a:effectLst/>
                <a:uLnTx/>
                <a:uFillTx/>
                <a:latin typeface="Arial Black"/>
                <a:ea typeface="+mn-ea"/>
                <a:cs typeface="Arial Black"/>
                <a:hlinkClick r:id="" action="ppaction://noaction"/>
              </a:rPr>
              <a:t>Manager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22" name="object 24">
            <a:extLst>
              <a:ext uri="{FF2B5EF4-FFF2-40B4-BE49-F238E27FC236}">
                <a16:creationId xmlns:a16="http://schemas.microsoft.com/office/drawing/2014/main" id="{4CB7202D-8ECF-AF21-AE88-39D5F331DAF0}"/>
              </a:ext>
            </a:extLst>
          </p:cNvPr>
          <p:cNvPicPr/>
          <p:nvPr/>
        </p:nvPicPr>
        <p:blipFill>
          <a:blip r:embed="rId13" cstate="print"/>
          <a:stretch>
            <a:fillRect/>
          </a:stretch>
        </p:blipFill>
        <p:spPr>
          <a:xfrm>
            <a:off x="8693841" y="7302051"/>
            <a:ext cx="1194513" cy="802980"/>
          </a:xfrm>
          <a:prstGeom prst="rect">
            <a:avLst/>
          </a:prstGeom>
        </p:spPr>
      </p:pic>
      <p:sp>
        <p:nvSpPr>
          <p:cNvPr id="23" name="object 25">
            <a:extLst>
              <a:ext uri="{FF2B5EF4-FFF2-40B4-BE49-F238E27FC236}">
                <a16:creationId xmlns:a16="http://schemas.microsoft.com/office/drawing/2014/main" id="{8DDBCD8B-A07F-B5FB-C119-CF51DD58E6C3}"/>
              </a:ext>
            </a:extLst>
          </p:cNvPr>
          <p:cNvSpPr txBox="1"/>
          <p:nvPr/>
        </p:nvSpPr>
        <p:spPr>
          <a:xfrm>
            <a:off x="8787574" y="8268542"/>
            <a:ext cx="1065530" cy="373380"/>
          </a:xfrm>
          <a:prstGeom prst="rect">
            <a:avLst/>
          </a:prstGeom>
        </p:spPr>
        <p:txBody>
          <a:bodyPr vert="horz" wrap="square" lIns="0" tIns="12700" rIns="0" bIns="0" rtlCol="0">
            <a:spAutoFit/>
          </a:bodyPr>
          <a:lstStyle/>
          <a:p>
            <a:pPr marL="147955" marR="5080" lvl="0" indent="-13589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55" normalizeH="0" baseline="0" noProof="0" dirty="0">
                <a:ln>
                  <a:noFill/>
                </a:ln>
                <a:solidFill>
                  <a:srgbClr val="F8B133"/>
                </a:solidFill>
                <a:effectLst/>
                <a:uLnTx/>
                <a:uFillTx/>
                <a:latin typeface="Arial Black"/>
                <a:ea typeface="+mn-ea"/>
                <a:cs typeface="Arial Black"/>
                <a:hlinkClick r:id="" action="ppaction://noaction"/>
              </a:rPr>
              <a:t>Digital</a:t>
            </a:r>
            <a:r>
              <a:rPr kumimoji="0" sz="1000" b="0" i="0" u="none" strike="noStrike" kern="0" cap="none" spc="-30" normalizeH="0" baseline="0" noProof="0" dirty="0">
                <a:ln>
                  <a:noFill/>
                </a:ln>
                <a:solidFill>
                  <a:srgbClr val="F8B133"/>
                </a:solidFill>
                <a:effectLst/>
                <a:uLnTx/>
                <a:uFillTx/>
                <a:latin typeface="Arial Black"/>
                <a:ea typeface="+mn-ea"/>
                <a:cs typeface="Arial Black"/>
                <a:hlinkClick r:id="" action="ppaction://noaction"/>
              </a:rPr>
              <a:t> </a:t>
            </a:r>
            <a:r>
              <a:rPr kumimoji="0" sz="1000" b="0" i="0" u="none" strike="noStrike" kern="0" cap="none" spc="-80" normalizeH="0" baseline="0" noProof="0" dirty="0">
                <a:ln>
                  <a:noFill/>
                </a:ln>
                <a:solidFill>
                  <a:srgbClr val="F8B133"/>
                </a:solidFill>
                <a:effectLst/>
                <a:uLnTx/>
                <a:uFillTx/>
                <a:latin typeface="Arial Black"/>
                <a:ea typeface="+mn-ea"/>
                <a:cs typeface="Arial Black"/>
                <a:hlinkClick r:id="" action="ppaction://noaction"/>
              </a:rPr>
              <a:t>Forensics </a:t>
            </a:r>
            <a:r>
              <a:rPr kumimoji="0" sz="1000" b="0" i="0" u="none" strike="noStrike" kern="0" cap="none" spc="-10" normalizeH="0" baseline="0" noProof="0" dirty="0">
                <a:ln>
                  <a:noFill/>
                </a:ln>
                <a:solidFill>
                  <a:srgbClr val="F8B133"/>
                </a:solidFill>
                <a:effectLst/>
                <a:uLnTx/>
                <a:uFillTx/>
                <a:latin typeface="Arial Black"/>
                <a:ea typeface="+mn-ea"/>
                <a:cs typeface="Arial Black"/>
                <a:hlinkClick r:id="" action="ppaction://noaction"/>
              </a:rPr>
              <a:t>Investigator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24" name="object 26">
            <a:extLst>
              <a:ext uri="{FF2B5EF4-FFF2-40B4-BE49-F238E27FC236}">
                <a16:creationId xmlns:a16="http://schemas.microsoft.com/office/drawing/2014/main" id="{24CB772D-3C72-5F7C-5F08-A319CA61291E}"/>
              </a:ext>
            </a:extLst>
          </p:cNvPr>
          <p:cNvPicPr/>
          <p:nvPr/>
        </p:nvPicPr>
        <p:blipFill>
          <a:blip r:embed="rId14" cstate="print"/>
          <a:stretch>
            <a:fillRect/>
          </a:stretch>
        </p:blipFill>
        <p:spPr>
          <a:xfrm>
            <a:off x="10731828" y="7244391"/>
            <a:ext cx="1226127" cy="914306"/>
          </a:xfrm>
          <a:prstGeom prst="rect">
            <a:avLst/>
          </a:prstGeom>
        </p:spPr>
      </p:pic>
      <p:sp>
        <p:nvSpPr>
          <p:cNvPr id="25" name="object 27">
            <a:extLst>
              <a:ext uri="{FF2B5EF4-FFF2-40B4-BE49-F238E27FC236}">
                <a16:creationId xmlns:a16="http://schemas.microsoft.com/office/drawing/2014/main" id="{3FB283C1-7052-7DEB-A7A6-368B47DCCBFF}"/>
              </a:ext>
            </a:extLst>
          </p:cNvPr>
          <p:cNvSpPr txBox="1"/>
          <p:nvPr/>
        </p:nvSpPr>
        <p:spPr>
          <a:xfrm>
            <a:off x="10919904" y="8268542"/>
            <a:ext cx="782320" cy="373380"/>
          </a:xfrm>
          <a:prstGeom prst="rect">
            <a:avLst/>
          </a:prstGeom>
        </p:spPr>
        <p:txBody>
          <a:bodyPr vert="horz" wrap="square" lIns="0" tIns="12700" rIns="0" bIns="0" rtlCol="0">
            <a:spAutoFit/>
          </a:bodyPr>
          <a:lstStyle/>
          <a:p>
            <a:pPr marL="192405" marR="5080" lvl="0" indent="-18034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50" normalizeH="0" baseline="0" noProof="0" dirty="0">
                <a:ln>
                  <a:noFill/>
                </a:ln>
                <a:solidFill>
                  <a:srgbClr val="CA0438"/>
                </a:solidFill>
                <a:effectLst/>
                <a:uLnTx/>
                <a:uFillTx/>
                <a:latin typeface="Arial Black"/>
                <a:ea typeface="+mn-ea"/>
                <a:cs typeface="Arial Black"/>
                <a:hlinkClick r:id="" action="ppaction://noaction"/>
              </a:rPr>
              <a:t>Penetration </a:t>
            </a:r>
            <a:r>
              <a:rPr kumimoji="0" sz="1000" b="0" i="0" u="none" strike="noStrike" kern="0" cap="none" spc="-10" normalizeH="0" baseline="0" noProof="0" dirty="0">
                <a:ln>
                  <a:noFill/>
                </a:ln>
                <a:solidFill>
                  <a:srgbClr val="CA0438"/>
                </a:solidFill>
                <a:effectLst/>
                <a:uLnTx/>
                <a:uFillTx/>
                <a:latin typeface="Arial Black"/>
                <a:ea typeface="+mn-ea"/>
                <a:cs typeface="Arial Black"/>
                <a:hlinkClick r:id="" action="ppaction://noaction"/>
              </a:rPr>
              <a:t>Tester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26" name="object 6">
            <a:extLst>
              <a:ext uri="{FF2B5EF4-FFF2-40B4-BE49-F238E27FC236}">
                <a16:creationId xmlns:a16="http://schemas.microsoft.com/office/drawing/2014/main" id="{F32E12CC-A2BC-EED5-1590-BD42A9A6CDDE}"/>
              </a:ext>
            </a:extLst>
          </p:cNvPr>
          <p:cNvPicPr/>
          <p:nvPr/>
        </p:nvPicPr>
        <p:blipFill>
          <a:blip r:embed="rId4" cstate="print"/>
          <a:stretch>
            <a:fillRect/>
          </a:stretch>
        </p:blipFill>
        <p:spPr>
          <a:xfrm>
            <a:off x="3505218" y="1303331"/>
            <a:ext cx="369102" cy="436680"/>
          </a:xfrm>
          <a:prstGeom prst="rect">
            <a:avLst/>
          </a:prstGeom>
        </p:spPr>
      </p:pic>
      <p:pic>
        <p:nvPicPr>
          <p:cNvPr id="27" name="object 22">
            <a:extLst>
              <a:ext uri="{FF2B5EF4-FFF2-40B4-BE49-F238E27FC236}">
                <a16:creationId xmlns:a16="http://schemas.microsoft.com/office/drawing/2014/main" id="{B5CE5643-EC03-B818-2733-54AD470C1800}"/>
              </a:ext>
            </a:extLst>
          </p:cNvPr>
          <p:cNvPicPr/>
          <p:nvPr/>
        </p:nvPicPr>
        <p:blipFill>
          <a:blip r:embed="rId12" cstate="print"/>
          <a:stretch>
            <a:fillRect/>
          </a:stretch>
        </p:blipFill>
        <p:spPr>
          <a:xfrm>
            <a:off x="8117741" y="1333395"/>
            <a:ext cx="481717" cy="376552"/>
          </a:xfrm>
          <a:prstGeom prst="rect">
            <a:avLst/>
          </a:prstGeom>
        </p:spPr>
      </p:pic>
      <p:pic>
        <p:nvPicPr>
          <p:cNvPr id="28" name="object 26">
            <a:extLst>
              <a:ext uri="{FF2B5EF4-FFF2-40B4-BE49-F238E27FC236}">
                <a16:creationId xmlns:a16="http://schemas.microsoft.com/office/drawing/2014/main" id="{FE376B51-F053-28E3-D851-02BE0DAE788D}"/>
              </a:ext>
            </a:extLst>
          </p:cNvPr>
          <p:cNvPicPr/>
          <p:nvPr/>
        </p:nvPicPr>
        <p:blipFill>
          <a:blip r:embed="rId14" cstate="print"/>
          <a:stretch>
            <a:fillRect/>
          </a:stretch>
        </p:blipFill>
        <p:spPr>
          <a:xfrm>
            <a:off x="4169500" y="3794077"/>
            <a:ext cx="579921" cy="573205"/>
          </a:xfrm>
          <a:prstGeom prst="rect">
            <a:avLst/>
          </a:prstGeom>
        </p:spPr>
      </p:pic>
      <p:sp>
        <p:nvSpPr>
          <p:cNvPr id="29" name="TextBox 28">
            <a:extLst>
              <a:ext uri="{FF2B5EF4-FFF2-40B4-BE49-F238E27FC236}">
                <a16:creationId xmlns:a16="http://schemas.microsoft.com/office/drawing/2014/main" id="{021CBA9F-6CD2-78EE-E5D0-F5895FB44ACE}"/>
              </a:ext>
            </a:extLst>
          </p:cNvPr>
          <p:cNvSpPr txBox="1"/>
          <p:nvPr/>
        </p:nvSpPr>
        <p:spPr>
          <a:xfrm>
            <a:off x="515545" y="2078938"/>
            <a:ext cx="1969899" cy="307777"/>
          </a:xfrm>
          <a:prstGeom prst="rect">
            <a:avLst/>
          </a:prstGeom>
          <a:noFill/>
        </p:spPr>
        <p:txBody>
          <a:bodyPr wrap="none" rtlCol="0">
            <a:spAutoFit/>
          </a:bodyPr>
          <a:lstStyle/>
          <a:p>
            <a:pPr algn="ctr"/>
            <a:r>
              <a:rPr lang="fr-BE" sz="1400" dirty="0" err="1"/>
              <a:t>Defensive</a:t>
            </a:r>
            <a:r>
              <a:rPr lang="fr-BE" sz="1400" dirty="0"/>
              <a:t> </a:t>
            </a:r>
            <a:r>
              <a:rPr lang="fr-BE" sz="1400" dirty="0" err="1"/>
              <a:t>Cybersecurity</a:t>
            </a:r>
            <a:endParaRPr lang="fr-BE" sz="1400" dirty="0"/>
          </a:p>
        </p:txBody>
      </p:sp>
      <p:sp>
        <p:nvSpPr>
          <p:cNvPr id="30" name="TextBox 29">
            <a:extLst>
              <a:ext uri="{FF2B5EF4-FFF2-40B4-BE49-F238E27FC236}">
                <a16:creationId xmlns:a16="http://schemas.microsoft.com/office/drawing/2014/main" id="{24B64584-019E-443D-46BA-165A1A33AEA1}"/>
              </a:ext>
            </a:extLst>
          </p:cNvPr>
          <p:cNvSpPr txBox="1"/>
          <p:nvPr/>
        </p:nvSpPr>
        <p:spPr>
          <a:xfrm>
            <a:off x="878914" y="2579852"/>
            <a:ext cx="1606530" cy="307777"/>
          </a:xfrm>
          <a:prstGeom prst="rect">
            <a:avLst/>
          </a:prstGeom>
          <a:noFill/>
        </p:spPr>
        <p:txBody>
          <a:bodyPr wrap="none" rtlCol="0">
            <a:spAutoFit/>
          </a:bodyPr>
          <a:lstStyle/>
          <a:p>
            <a:pPr algn="ctr"/>
            <a:r>
              <a:rPr lang="fr-BE" sz="1400" dirty="0"/>
              <a:t>Incident </a:t>
            </a:r>
            <a:r>
              <a:rPr lang="fr-BE" sz="1400" dirty="0" err="1"/>
              <a:t>Responder</a:t>
            </a:r>
            <a:endParaRPr lang="fr-BE" sz="1400" dirty="0"/>
          </a:p>
        </p:txBody>
      </p:sp>
      <p:sp>
        <p:nvSpPr>
          <p:cNvPr id="31" name="TextBox 30">
            <a:extLst>
              <a:ext uri="{FF2B5EF4-FFF2-40B4-BE49-F238E27FC236}">
                <a16:creationId xmlns:a16="http://schemas.microsoft.com/office/drawing/2014/main" id="{AD8D7D8D-90F1-FC9A-887E-37BAF2538557}"/>
              </a:ext>
            </a:extLst>
          </p:cNvPr>
          <p:cNvSpPr txBox="1"/>
          <p:nvPr/>
        </p:nvSpPr>
        <p:spPr>
          <a:xfrm>
            <a:off x="5289652" y="4656089"/>
            <a:ext cx="1695144" cy="307777"/>
          </a:xfrm>
          <a:prstGeom prst="rect">
            <a:avLst/>
          </a:prstGeom>
          <a:noFill/>
        </p:spPr>
        <p:txBody>
          <a:bodyPr wrap="none" rtlCol="0">
            <a:spAutoFit/>
          </a:bodyPr>
          <a:lstStyle/>
          <a:p>
            <a:pPr algn="ctr"/>
            <a:r>
              <a:rPr lang="fr-BE" sz="1400" dirty="0" err="1"/>
              <a:t>Vulnerability</a:t>
            </a:r>
            <a:r>
              <a:rPr lang="fr-BE" sz="1400" dirty="0"/>
              <a:t> </a:t>
            </a:r>
            <a:r>
              <a:rPr lang="fr-BE" sz="1400" dirty="0" err="1"/>
              <a:t>Analysis</a:t>
            </a:r>
            <a:endParaRPr lang="fr-BE" sz="1400" dirty="0"/>
          </a:p>
        </p:txBody>
      </p:sp>
      <p:sp>
        <p:nvSpPr>
          <p:cNvPr id="2048" name="TextBox 2047">
            <a:extLst>
              <a:ext uri="{FF2B5EF4-FFF2-40B4-BE49-F238E27FC236}">
                <a16:creationId xmlns:a16="http://schemas.microsoft.com/office/drawing/2014/main" id="{E9FF01E4-C362-AD3F-8DA4-84791E4D0481}"/>
              </a:ext>
            </a:extLst>
          </p:cNvPr>
          <p:cNvSpPr txBox="1"/>
          <p:nvPr/>
        </p:nvSpPr>
        <p:spPr>
          <a:xfrm>
            <a:off x="9138549" y="2059748"/>
            <a:ext cx="2159566" cy="307777"/>
          </a:xfrm>
          <a:prstGeom prst="rect">
            <a:avLst/>
          </a:prstGeom>
          <a:noFill/>
        </p:spPr>
        <p:txBody>
          <a:bodyPr wrap="none" rtlCol="0">
            <a:spAutoFit/>
          </a:bodyPr>
          <a:lstStyle/>
          <a:p>
            <a:pPr algn="ctr"/>
            <a:r>
              <a:rPr lang="fr-BE" sz="1400" dirty="0"/>
              <a:t>Cyber Operations Planning</a:t>
            </a:r>
          </a:p>
        </p:txBody>
      </p:sp>
      <p:sp>
        <p:nvSpPr>
          <p:cNvPr id="2049" name="TextBox 2048">
            <a:extLst>
              <a:ext uri="{FF2B5EF4-FFF2-40B4-BE49-F238E27FC236}">
                <a16:creationId xmlns:a16="http://schemas.microsoft.com/office/drawing/2014/main" id="{E20F2941-5CA6-0E33-B927-45D5AE105B41}"/>
              </a:ext>
            </a:extLst>
          </p:cNvPr>
          <p:cNvSpPr txBox="1"/>
          <p:nvPr/>
        </p:nvSpPr>
        <p:spPr>
          <a:xfrm>
            <a:off x="9138549" y="2531036"/>
            <a:ext cx="1808187" cy="307777"/>
          </a:xfrm>
          <a:prstGeom prst="rect">
            <a:avLst/>
          </a:prstGeom>
          <a:noFill/>
        </p:spPr>
        <p:txBody>
          <a:bodyPr wrap="none" rtlCol="0">
            <a:spAutoFit/>
          </a:bodyPr>
          <a:lstStyle/>
          <a:p>
            <a:pPr algn="ctr"/>
            <a:r>
              <a:rPr lang="fr-BE" sz="1400" dirty="0" err="1"/>
              <a:t>Systems</a:t>
            </a:r>
            <a:r>
              <a:rPr lang="fr-BE" sz="1400" dirty="0"/>
              <a:t> </a:t>
            </a:r>
            <a:r>
              <a:rPr lang="fr-BE" sz="1400" dirty="0" err="1"/>
              <a:t>Authorization</a:t>
            </a:r>
            <a:endParaRPr lang="fr-BE" sz="1400" dirty="0"/>
          </a:p>
        </p:txBody>
      </p:sp>
      <p:sp>
        <p:nvSpPr>
          <p:cNvPr id="2050" name="TextBox 2049">
            <a:extLst>
              <a:ext uri="{FF2B5EF4-FFF2-40B4-BE49-F238E27FC236}">
                <a16:creationId xmlns:a16="http://schemas.microsoft.com/office/drawing/2014/main" id="{04E35904-61DE-32D4-4AB1-B9E64C889B6E}"/>
              </a:ext>
            </a:extLst>
          </p:cNvPr>
          <p:cNvSpPr txBox="1"/>
          <p:nvPr/>
        </p:nvSpPr>
        <p:spPr>
          <a:xfrm>
            <a:off x="9138549" y="3429000"/>
            <a:ext cx="1806072" cy="307777"/>
          </a:xfrm>
          <a:prstGeom prst="rect">
            <a:avLst/>
          </a:prstGeom>
          <a:noFill/>
        </p:spPr>
        <p:txBody>
          <a:bodyPr wrap="none" rtlCol="0">
            <a:spAutoFit/>
          </a:bodyPr>
          <a:lstStyle/>
          <a:p>
            <a:pPr algn="ctr"/>
            <a:r>
              <a:rPr lang="fr-BE" sz="1400" dirty="0" err="1"/>
              <a:t>Insider</a:t>
            </a:r>
            <a:r>
              <a:rPr lang="fr-BE" sz="1400" dirty="0"/>
              <a:t> </a:t>
            </a:r>
            <a:r>
              <a:rPr lang="fr-BE" sz="1400" dirty="0" err="1"/>
              <a:t>Threat</a:t>
            </a:r>
            <a:r>
              <a:rPr lang="fr-BE" sz="1400" dirty="0"/>
              <a:t> </a:t>
            </a:r>
            <a:r>
              <a:rPr lang="fr-BE" sz="1400" dirty="0" err="1"/>
              <a:t>Analysis</a:t>
            </a:r>
            <a:endParaRPr lang="fr-BE" sz="1400" dirty="0"/>
          </a:p>
        </p:txBody>
      </p:sp>
      <p:sp>
        <p:nvSpPr>
          <p:cNvPr id="9216" name="TextBox 9215">
            <a:extLst>
              <a:ext uri="{FF2B5EF4-FFF2-40B4-BE49-F238E27FC236}">
                <a16:creationId xmlns:a16="http://schemas.microsoft.com/office/drawing/2014/main" id="{A9B0921E-B25F-78B9-0C3A-A4814A6E39F2}"/>
              </a:ext>
            </a:extLst>
          </p:cNvPr>
          <p:cNvSpPr txBox="1"/>
          <p:nvPr/>
        </p:nvSpPr>
        <p:spPr>
          <a:xfrm>
            <a:off x="8455388" y="3402222"/>
            <a:ext cx="720069" cy="369332"/>
          </a:xfrm>
          <a:prstGeom prst="rect">
            <a:avLst/>
          </a:prstGeom>
          <a:noFill/>
        </p:spPr>
        <p:txBody>
          <a:bodyPr wrap="none" rtlCol="0">
            <a:spAutoFit/>
          </a:bodyPr>
          <a:lstStyle/>
          <a:p>
            <a:r>
              <a:rPr lang="fr-BE" dirty="0"/>
              <a:t>NEW</a:t>
            </a:r>
          </a:p>
        </p:txBody>
      </p:sp>
    </p:spTree>
    <p:extLst>
      <p:ext uri="{BB962C8B-B14F-4D97-AF65-F5344CB8AC3E}">
        <p14:creationId xmlns:p14="http://schemas.microsoft.com/office/powerpoint/2010/main" val="28100931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EA2E7-B470-1D2B-04C9-5F89B89DB0FE}"/>
            </a:ext>
          </a:extLst>
        </p:cNvPr>
        <p:cNvGrpSpPr/>
        <p:nvPr/>
      </p:nvGrpSpPr>
      <p:grpSpPr>
        <a:xfrm>
          <a:off x="0" y="0"/>
          <a:ext cx="0" cy="0"/>
          <a:chOff x="0" y="0"/>
          <a:chExt cx="0" cy="0"/>
        </a:xfrm>
      </p:grpSpPr>
      <p:pic>
        <p:nvPicPr>
          <p:cNvPr id="7172" name="Picture 4">
            <a:extLst>
              <a:ext uri="{FF2B5EF4-FFF2-40B4-BE49-F238E27FC236}">
                <a16:creationId xmlns:a16="http://schemas.microsoft.com/office/drawing/2014/main" id="{45C0397C-DA59-474F-2A7C-255847C4FE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5350" y="0"/>
            <a:ext cx="104013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4">
            <a:extLst>
              <a:ext uri="{FF2B5EF4-FFF2-40B4-BE49-F238E27FC236}">
                <a16:creationId xmlns:a16="http://schemas.microsoft.com/office/drawing/2014/main" id="{486341DE-D11C-EC09-9ACE-BA77C189D4AF}"/>
              </a:ext>
            </a:extLst>
          </p:cNvPr>
          <p:cNvSpPr txBox="1"/>
          <p:nvPr/>
        </p:nvSpPr>
        <p:spPr>
          <a:xfrm>
            <a:off x="521922" y="-532519"/>
            <a:ext cx="1423670" cy="370205"/>
          </a:xfrm>
          <a:prstGeom prst="rect">
            <a:avLst/>
          </a:prstGeom>
        </p:spPr>
        <p:txBody>
          <a:bodyPr vert="horz" wrap="square" lIns="0" tIns="12700" rIns="0" bIns="0" rtlCol="0">
            <a:spAutoFit/>
          </a:bodyPr>
          <a:lstStyle/>
          <a:p>
            <a:pPr marL="12700" marR="5080" lvl="0" indent="137160" algn="l"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004F9F"/>
                </a:solidFill>
                <a:effectLst/>
                <a:uLnTx/>
                <a:uFillTx/>
                <a:latin typeface="Arial Black"/>
                <a:ea typeface="+mn-ea"/>
                <a:cs typeface="Arial Black"/>
                <a:hlinkClick r:id="" action="ppaction://noaction"/>
              </a:rPr>
              <a:t>Chief</a:t>
            </a:r>
            <a:r>
              <a:rPr kumimoji="0" sz="1000" b="0" i="0" u="none" strike="noStrike" kern="0" cap="none" spc="-40" normalizeH="0" baseline="0" noProof="0" dirty="0">
                <a:ln>
                  <a:noFill/>
                </a:ln>
                <a:solidFill>
                  <a:srgbClr val="004F9F"/>
                </a:solidFill>
                <a:effectLst/>
                <a:uLnTx/>
                <a:uFillTx/>
                <a:latin typeface="Arial Black"/>
                <a:ea typeface="+mn-ea"/>
                <a:cs typeface="Arial Black"/>
                <a:hlinkClick r:id="" action="ppaction://noaction"/>
              </a:rPr>
              <a:t> </a:t>
            </a:r>
            <a:r>
              <a:rPr kumimoji="0" sz="1000" b="0" i="0" u="none" strike="noStrike" kern="0" cap="none" spc="-10" normalizeH="0" baseline="0" noProof="0" dirty="0">
                <a:ln>
                  <a:noFill/>
                </a:ln>
                <a:solidFill>
                  <a:srgbClr val="004F9F"/>
                </a:solidFill>
                <a:effectLst/>
                <a:uLnTx/>
                <a:uFillTx/>
                <a:latin typeface="Arial Black"/>
                <a:ea typeface="+mn-ea"/>
                <a:cs typeface="Arial Black"/>
                <a:hlinkClick r:id="" action="ppaction://noaction"/>
              </a:rPr>
              <a:t>Information </a:t>
            </a:r>
            <a:r>
              <a:rPr kumimoji="0" sz="1000" b="0" i="0" u="none" strike="noStrike" kern="0" cap="none" spc="-70" normalizeH="0" baseline="0" noProof="0" dirty="0">
                <a:ln>
                  <a:noFill/>
                </a:ln>
                <a:solidFill>
                  <a:srgbClr val="004F9F"/>
                </a:solidFill>
                <a:effectLst/>
                <a:uLnTx/>
                <a:uFillTx/>
                <a:latin typeface="Arial Black"/>
                <a:ea typeface="+mn-ea"/>
                <a:cs typeface="Arial Black"/>
                <a:hlinkClick r:id="" action="ppaction://noaction"/>
              </a:rPr>
              <a:t>Security</a:t>
            </a:r>
            <a:r>
              <a:rPr kumimoji="0" sz="1000" b="0" i="0" u="none" strike="noStrike" kern="0" cap="none" spc="-40" normalizeH="0" baseline="0" noProof="0" dirty="0">
                <a:ln>
                  <a:noFill/>
                </a:ln>
                <a:solidFill>
                  <a:srgbClr val="004F9F"/>
                </a:solidFill>
                <a:effectLst/>
                <a:uLnTx/>
                <a:uFillTx/>
                <a:latin typeface="Arial Black"/>
                <a:ea typeface="+mn-ea"/>
                <a:cs typeface="Arial Black"/>
                <a:hlinkClick r:id="" action="ppaction://noaction"/>
              </a:rPr>
              <a:t> </a:t>
            </a:r>
            <a:r>
              <a:rPr kumimoji="0" sz="1000" b="0" i="0" u="none" strike="noStrike" kern="0" cap="none" spc="-55" normalizeH="0" baseline="0" noProof="0" dirty="0">
                <a:ln>
                  <a:noFill/>
                </a:ln>
                <a:solidFill>
                  <a:srgbClr val="004F9F"/>
                </a:solidFill>
                <a:effectLst/>
                <a:uLnTx/>
                <a:uFillTx/>
                <a:latin typeface="Arial Black"/>
                <a:ea typeface="+mn-ea"/>
                <a:cs typeface="Arial Black"/>
                <a:hlinkClick r:id="" action="ppaction://noaction"/>
              </a:rPr>
              <a:t>Officer</a:t>
            </a:r>
            <a:r>
              <a:rPr kumimoji="0" sz="1000" b="0" i="0" u="none" strike="noStrike" kern="0" cap="none" spc="-35" normalizeH="0" baseline="0" noProof="0" dirty="0">
                <a:ln>
                  <a:noFill/>
                </a:ln>
                <a:solidFill>
                  <a:srgbClr val="004F9F"/>
                </a:solidFill>
                <a:effectLst/>
                <a:uLnTx/>
                <a:uFillTx/>
                <a:latin typeface="Arial Black"/>
                <a:ea typeface="+mn-ea"/>
                <a:cs typeface="Arial Black"/>
                <a:hlinkClick r:id="" action="ppaction://noaction"/>
              </a:rPr>
              <a:t> </a:t>
            </a:r>
            <a:r>
              <a:rPr kumimoji="0" sz="1000" b="0" i="0" u="none" strike="noStrike" kern="0" cap="none" spc="-85" normalizeH="0" baseline="0" noProof="0" dirty="0">
                <a:ln>
                  <a:noFill/>
                </a:ln>
                <a:solidFill>
                  <a:srgbClr val="004F9F"/>
                </a:solidFill>
                <a:effectLst/>
                <a:uLnTx/>
                <a:uFillTx/>
                <a:latin typeface="Arial Black"/>
                <a:ea typeface="+mn-ea"/>
                <a:cs typeface="Arial Black"/>
                <a:hlinkClick r:id="" action="ppaction://noaction"/>
              </a:rPr>
              <a:t>(CISO)</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3" name="object 5">
            <a:extLst>
              <a:ext uri="{FF2B5EF4-FFF2-40B4-BE49-F238E27FC236}">
                <a16:creationId xmlns:a16="http://schemas.microsoft.com/office/drawing/2014/main" id="{168866D3-DB0C-5301-B1D7-40335D4A0FFC}"/>
              </a:ext>
            </a:extLst>
          </p:cNvPr>
          <p:cNvPicPr/>
          <p:nvPr/>
        </p:nvPicPr>
        <p:blipFill>
          <a:blip r:embed="rId3" cstate="print"/>
          <a:stretch>
            <a:fillRect/>
          </a:stretch>
        </p:blipFill>
        <p:spPr>
          <a:xfrm>
            <a:off x="912244" y="-1561954"/>
            <a:ext cx="635139" cy="951035"/>
          </a:xfrm>
          <a:prstGeom prst="rect">
            <a:avLst/>
          </a:prstGeom>
        </p:spPr>
      </p:pic>
      <p:pic>
        <p:nvPicPr>
          <p:cNvPr id="4" name="object 6">
            <a:extLst>
              <a:ext uri="{FF2B5EF4-FFF2-40B4-BE49-F238E27FC236}">
                <a16:creationId xmlns:a16="http://schemas.microsoft.com/office/drawing/2014/main" id="{E85DAE75-5362-21D7-EEEB-287BCBD92EE8}"/>
              </a:ext>
            </a:extLst>
          </p:cNvPr>
          <p:cNvPicPr/>
          <p:nvPr/>
        </p:nvPicPr>
        <p:blipFill>
          <a:blip r:embed="rId4" cstate="print"/>
          <a:stretch>
            <a:fillRect/>
          </a:stretch>
        </p:blipFill>
        <p:spPr>
          <a:xfrm>
            <a:off x="2526627" y="-1596134"/>
            <a:ext cx="851375" cy="959551"/>
          </a:xfrm>
          <a:prstGeom prst="rect">
            <a:avLst/>
          </a:prstGeom>
        </p:spPr>
      </p:pic>
      <p:sp>
        <p:nvSpPr>
          <p:cNvPr id="5" name="object 7">
            <a:extLst>
              <a:ext uri="{FF2B5EF4-FFF2-40B4-BE49-F238E27FC236}">
                <a16:creationId xmlns:a16="http://schemas.microsoft.com/office/drawing/2014/main" id="{B6D95351-8538-E598-40AE-070E31A7B10B}"/>
              </a:ext>
            </a:extLst>
          </p:cNvPr>
          <p:cNvSpPr txBox="1"/>
          <p:nvPr/>
        </p:nvSpPr>
        <p:spPr>
          <a:xfrm>
            <a:off x="2485971" y="-562390"/>
            <a:ext cx="948055" cy="370205"/>
          </a:xfrm>
          <a:prstGeom prst="rect">
            <a:avLst/>
          </a:prstGeom>
        </p:spPr>
        <p:txBody>
          <a:bodyPr vert="horz" wrap="square" lIns="0" tIns="12700" rIns="0" bIns="0" rtlCol="0">
            <a:spAutoFit/>
          </a:bodyPr>
          <a:lstStyle/>
          <a:p>
            <a:pPr marL="133985" marR="5080" lvl="0" indent="-121920" algn="l"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CA0438"/>
                </a:solidFill>
                <a:effectLst/>
                <a:uLnTx/>
                <a:uFillTx/>
                <a:latin typeface="Arial Black"/>
                <a:ea typeface="+mn-ea"/>
                <a:cs typeface="Arial Black"/>
                <a:hlinkClick r:id="" action="ppaction://noaction"/>
              </a:rPr>
              <a:t>Cyber</a:t>
            </a:r>
            <a:r>
              <a:rPr kumimoji="0" sz="1000" b="0" i="0" u="none" strike="noStrike" kern="0" cap="none" spc="-55" normalizeH="0" baseline="0" noProof="0" dirty="0">
                <a:ln>
                  <a:noFill/>
                </a:ln>
                <a:solidFill>
                  <a:srgbClr val="CA0438"/>
                </a:solidFill>
                <a:effectLst/>
                <a:uLnTx/>
                <a:uFillTx/>
                <a:latin typeface="Arial Black"/>
                <a:ea typeface="+mn-ea"/>
                <a:cs typeface="Arial Black"/>
                <a:hlinkClick r:id="" action="ppaction://noaction"/>
              </a:rPr>
              <a:t> Incident </a:t>
            </a:r>
            <a:r>
              <a:rPr kumimoji="0" sz="1000" b="0" i="0" u="none" strike="noStrike" kern="0" cap="none" spc="-10" normalizeH="0" baseline="0" noProof="0" dirty="0">
                <a:ln>
                  <a:noFill/>
                </a:ln>
                <a:solidFill>
                  <a:srgbClr val="CA0438"/>
                </a:solidFill>
                <a:effectLst/>
                <a:uLnTx/>
                <a:uFillTx/>
                <a:latin typeface="Arial Black"/>
                <a:ea typeface="+mn-ea"/>
                <a:cs typeface="Arial Black"/>
                <a:hlinkClick r:id="" action="ppaction://noaction"/>
              </a:rPr>
              <a:t>Responder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sp>
        <p:nvSpPr>
          <p:cNvPr id="6" name="object 8">
            <a:extLst>
              <a:ext uri="{FF2B5EF4-FFF2-40B4-BE49-F238E27FC236}">
                <a16:creationId xmlns:a16="http://schemas.microsoft.com/office/drawing/2014/main" id="{66432F2E-4E9B-6A78-016D-395CC0343617}"/>
              </a:ext>
            </a:extLst>
          </p:cNvPr>
          <p:cNvSpPr txBox="1"/>
          <p:nvPr/>
        </p:nvSpPr>
        <p:spPr>
          <a:xfrm>
            <a:off x="4212916" y="-562390"/>
            <a:ext cx="1473200" cy="370205"/>
          </a:xfrm>
          <a:prstGeom prst="rect">
            <a:avLst/>
          </a:prstGeom>
        </p:spPr>
        <p:txBody>
          <a:bodyPr vert="horz" wrap="square" lIns="0" tIns="12700" rIns="0" bIns="0" rtlCol="0">
            <a:spAutoFit/>
          </a:bodyPr>
          <a:lstStyle/>
          <a:p>
            <a:pPr marL="131445" marR="5080" lvl="0" indent="-119380" algn="l"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004F9F"/>
                </a:solidFill>
                <a:effectLst/>
                <a:uLnTx/>
                <a:uFillTx/>
                <a:latin typeface="Arial Black"/>
                <a:ea typeface="+mn-ea"/>
                <a:cs typeface="Arial Black"/>
                <a:hlinkClick r:id="" action="ppaction://noaction"/>
              </a:rPr>
              <a:t>Cyber</a:t>
            </a:r>
            <a:r>
              <a:rPr kumimoji="0" sz="1000" b="0" i="0" u="none" strike="noStrike" kern="0" cap="none" spc="-40" normalizeH="0" baseline="0" noProof="0" dirty="0">
                <a:ln>
                  <a:noFill/>
                </a:ln>
                <a:solidFill>
                  <a:srgbClr val="004F9F"/>
                </a:solidFill>
                <a:effectLst/>
                <a:uLnTx/>
                <a:uFillTx/>
                <a:latin typeface="Arial Black"/>
                <a:ea typeface="+mn-ea"/>
                <a:cs typeface="Arial Black"/>
                <a:hlinkClick r:id="" action="ppaction://noaction"/>
              </a:rPr>
              <a:t> </a:t>
            </a:r>
            <a:r>
              <a:rPr kumimoji="0" sz="1000" b="0" i="0" u="none" strike="noStrike" kern="0" cap="none" spc="-85" normalizeH="0" baseline="0" noProof="0" dirty="0">
                <a:ln>
                  <a:noFill/>
                </a:ln>
                <a:solidFill>
                  <a:srgbClr val="004F9F"/>
                </a:solidFill>
                <a:effectLst/>
                <a:uLnTx/>
                <a:uFillTx/>
                <a:latin typeface="Arial Black"/>
                <a:ea typeface="+mn-ea"/>
                <a:cs typeface="Arial Black"/>
                <a:hlinkClick r:id="" action="ppaction://noaction"/>
              </a:rPr>
              <a:t>Legal,</a:t>
            </a:r>
            <a:r>
              <a:rPr kumimoji="0" sz="1000" b="0" i="0" u="none" strike="noStrike" kern="0" cap="none" spc="-45" normalizeH="0" baseline="0" noProof="0" dirty="0">
                <a:ln>
                  <a:noFill/>
                </a:ln>
                <a:solidFill>
                  <a:srgbClr val="004F9F"/>
                </a:solidFill>
                <a:effectLst/>
                <a:uLnTx/>
                <a:uFillTx/>
                <a:latin typeface="Arial Black"/>
                <a:ea typeface="+mn-ea"/>
                <a:cs typeface="Arial Black"/>
                <a:hlinkClick r:id="" action="ppaction://noaction"/>
              </a:rPr>
              <a:t> </a:t>
            </a:r>
            <a:r>
              <a:rPr kumimoji="0" sz="1000" b="0" i="0" u="none" strike="noStrike" kern="0" cap="none" spc="-75" normalizeH="0" baseline="0" noProof="0" dirty="0">
                <a:ln>
                  <a:noFill/>
                </a:ln>
                <a:solidFill>
                  <a:srgbClr val="004F9F"/>
                </a:solidFill>
                <a:effectLst/>
                <a:uLnTx/>
                <a:uFillTx/>
                <a:latin typeface="Arial Black"/>
                <a:ea typeface="+mn-ea"/>
                <a:cs typeface="Arial Black"/>
                <a:hlinkClick r:id="" action="ppaction://noaction"/>
              </a:rPr>
              <a:t>Policy</a:t>
            </a:r>
            <a:r>
              <a:rPr kumimoji="0" sz="1000" b="0" i="0" u="none" strike="noStrike" kern="0" cap="none" spc="-40" normalizeH="0" baseline="0" noProof="0" dirty="0">
                <a:ln>
                  <a:noFill/>
                </a:ln>
                <a:solidFill>
                  <a:srgbClr val="004F9F"/>
                </a:solidFill>
                <a:effectLst/>
                <a:uLnTx/>
                <a:uFillTx/>
                <a:latin typeface="Arial Black"/>
                <a:ea typeface="+mn-ea"/>
                <a:cs typeface="Arial Black"/>
                <a:hlinkClick r:id="" action="ppaction://noaction"/>
              </a:rPr>
              <a:t> </a:t>
            </a:r>
            <a:r>
              <a:rPr kumimoji="0" sz="1000" b="0" i="0" u="none" strike="noStrike" kern="0" cap="none" spc="-25" normalizeH="0" baseline="0" noProof="0" dirty="0">
                <a:ln>
                  <a:noFill/>
                </a:ln>
                <a:solidFill>
                  <a:srgbClr val="004F9F"/>
                </a:solidFill>
                <a:effectLst/>
                <a:uLnTx/>
                <a:uFillTx/>
                <a:latin typeface="Arial Black"/>
                <a:ea typeface="+mn-ea"/>
                <a:cs typeface="Arial Black"/>
                <a:hlinkClick r:id="" action="ppaction://noaction"/>
              </a:rPr>
              <a:t>and </a:t>
            </a:r>
            <a:r>
              <a:rPr kumimoji="0" sz="1000" b="0" i="0" u="none" strike="noStrike" kern="0" cap="none" spc="-70" normalizeH="0" baseline="0" noProof="0" dirty="0">
                <a:ln>
                  <a:noFill/>
                </a:ln>
                <a:solidFill>
                  <a:srgbClr val="004F9F"/>
                </a:solidFill>
                <a:effectLst/>
                <a:uLnTx/>
                <a:uFillTx/>
                <a:latin typeface="Arial Black"/>
                <a:ea typeface="+mn-ea"/>
                <a:cs typeface="Arial Black"/>
                <a:hlinkClick r:id="" action="ppaction://noaction"/>
              </a:rPr>
              <a:t>Compliance</a:t>
            </a:r>
            <a:r>
              <a:rPr kumimoji="0" sz="1000" b="0" i="0" u="none" strike="noStrike" kern="0" cap="none" spc="-15" normalizeH="0" baseline="0" noProof="0" dirty="0">
                <a:ln>
                  <a:noFill/>
                </a:ln>
                <a:solidFill>
                  <a:srgbClr val="004F9F"/>
                </a:solidFill>
                <a:effectLst/>
                <a:uLnTx/>
                <a:uFillTx/>
                <a:latin typeface="Arial Black"/>
                <a:ea typeface="+mn-ea"/>
                <a:cs typeface="Arial Black"/>
                <a:hlinkClick r:id="" action="ppaction://noaction"/>
              </a:rPr>
              <a:t> </a:t>
            </a:r>
            <a:r>
              <a:rPr kumimoji="0" sz="1000" b="0" i="0" u="none" strike="noStrike" kern="0" cap="none" spc="-10" normalizeH="0" baseline="0" noProof="0" dirty="0">
                <a:ln>
                  <a:noFill/>
                </a:ln>
                <a:solidFill>
                  <a:srgbClr val="004F9F"/>
                </a:solidFill>
                <a:effectLst/>
                <a:uLnTx/>
                <a:uFillTx/>
                <a:latin typeface="Arial Black"/>
                <a:ea typeface="+mn-ea"/>
                <a:cs typeface="Arial Black"/>
                <a:hlinkClick r:id="" action="ppaction://noaction"/>
              </a:rPr>
              <a:t>Officer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7" name="object 9">
            <a:extLst>
              <a:ext uri="{FF2B5EF4-FFF2-40B4-BE49-F238E27FC236}">
                <a16:creationId xmlns:a16="http://schemas.microsoft.com/office/drawing/2014/main" id="{A9A6D250-523F-0FBB-2104-C0BC3BC9837B}"/>
              </a:ext>
            </a:extLst>
          </p:cNvPr>
          <p:cNvPicPr/>
          <p:nvPr/>
        </p:nvPicPr>
        <p:blipFill>
          <a:blip r:embed="rId5" cstate="print"/>
          <a:stretch>
            <a:fillRect/>
          </a:stretch>
        </p:blipFill>
        <p:spPr>
          <a:xfrm>
            <a:off x="4314781" y="-1561889"/>
            <a:ext cx="1289636" cy="891202"/>
          </a:xfrm>
          <a:prstGeom prst="rect">
            <a:avLst/>
          </a:prstGeom>
        </p:spPr>
      </p:pic>
      <p:pic>
        <p:nvPicPr>
          <p:cNvPr id="8" name="object 10">
            <a:extLst>
              <a:ext uri="{FF2B5EF4-FFF2-40B4-BE49-F238E27FC236}">
                <a16:creationId xmlns:a16="http://schemas.microsoft.com/office/drawing/2014/main" id="{4A9D2E9D-C79A-5830-2B83-14C434FE64E9}"/>
              </a:ext>
            </a:extLst>
          </p:cNvPr>
          <p:cNvPicPr/>
          <p:nvPr/>
        </p:nvPicPr>
        <p:blipFill>
          <a:blip r:embed="rId6" cstate="print"/>
          <a:stretch>
            <a:fillRect/>
          </a:stretch>
        </p:blipFill>
        <p:spPr>
          <a:xfrm>
            <a:off x="6439096" y="-1639880"/>
            <a:ext cx="971871" cy="1128754"/>
          </a:xfrm>
          <a:prstGeom prst="rect">
            <a:avLst/>
          </a:prstGeom>
        </p:spPr>
      </p:pic>
      <p:sp>
        <p:nvSpPr>
          <p:cNvPr id="9" name="object 11">
            <a:extLst>
              <a:ext uri="{FF2B5EF4-FFF2-40B4-BE49-F238E27FC236}">
                <a16:creationId xmlns:a16="http://schemas.microsoft.com/office/drawing/2014/main" id="{74F57853-98AC-C73D-668E-DA6718FCDC9B}"/>
              </a:ext>
            </a:extLst>
          </p:cNvPr>
          <p:cNvSpPr txBox="1"/>
          <p:nvPr/>
        </p:nvSpPr>
        <p:spPr>
          <a:xfrm>
            <a:off x="6214778" y="-523388"/>
            <a:ext cx="1400175" cy="370205"/>
          </a:xfrm>
          <a:prstGeom prst="rect">
            <a:avLst/>
          </a:prstGeom>
        </p:spPr>
        <p:txBody>
          <a:bodyPr vert="horz" wrap="square" lIns="0" tIns="12700" rIns="0" bIns="0" rtlCol="0">
            <a:spAutoFit/>
          </a:bodyPr>
          <a:lstStyle/>
          <a:p>
            <a:pPr marL="12700" marR="5080" lvl="0" indent="278765" algn="l"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F8B133"/>
                </a:solidFill>
                <a:effectLst/>
                <a:uLnTx/>
                <a:uFillTx/>
                <a:latin typeface="Arial Black"/>
                <a:ea typeface="+mn-ea"/>
                <a:cs typeface="Arial Black"/>
                <a:hlinkClick r:id="" action="ppaction://noaction"/>
              </a:rPr>
              <a:t>Cyber</a:t>
            </a:r>
            <a:r>
              <a:rPr kumimoji="0" sz="1000" b="0" i="0" u="none" strike="noStrike" kern="0" cap="none" spc="-55" normalizeH="0" baseline="0" noProof="0" dirty="0">
                <a:ln>
                  <a:noFill/>
                </a:ln>
                <a:solidFill>
                  <a:srgbClr val="F8B133"/>
                </a:solidFill>
                <a:effectLst/>
                <a:uLnTx/>
                <a:uFillTx/>
                <a:latin typeface="Arial Black"/>
                <a:ea typeface="+mn-ea"/>
                <a:cs typeface="Arial Black"/>
                <a:hlinkClick r:id="" action="ppaction://noaction"/>
              </a:rPr>
              <a:t> </a:t>
            </a:r>
            <a:r>
              <a:rPr kumimoji="0" sz="1000" b="0" i="0" u="none" strike="noStrike" kern="0" cap="none" spc="-10" normalizeH="0" baseline="0" noProof="0" dirty="0">
                <a:ln>
                  <a:noFill/>
                </a:ln>
                <a:solidFill>
                  <a:srgbClr val="F8B133"/>
                </a:solidFill>
                <a:effectLst/>
                <a:uLnTx/>
                <a:uFillTx/>
                <a:latin typeface="Arial Black"/>
                <a:ea typeface="+mn-ea"/>
                <a:cs typeface="Arial Black"/>
                <a:hlinkClick r:id="" action="ppaction://noaction"/>
              </a:rPr>
              <a:t>Threat </a:t>
            </a:r>
            <a:r>
              <a:rPr kumimoji="0" sz="1000" b="0" i="0" u="none" strike="noStrike" kern="0" cap="none" spc="-70" normalizeH="0" baseline="0" noProof="0" dirty="0">
                <a:ln>
                  <a:noFill/>
                </a:ln>
                <a:solidFill>
                  <a:srgbClr val="F8B133"/>
                </a:solidFill>
                <a:effectLst/>
                <a:uLnTx/>
                <a:uFillTx/>
                <a:latin typeface="Arial Black"/>
                <a:ea typeface="+mn-ea"/>
                <a:cs typeface="Arial Black"/>
                <a:hlinkClick r:id="" action="ppaction://noaction"/>
              </a:rPr>
              <a:t>Intelligence</a:t>
            </a:r>
            <a:r>
              <a:rPr kumimoji="0" sz="1000" b="0" i="0" u="none" strike="noStrike" kern="0" cap="none" spc="25" normalizeH="0" baseline="0" noProof="0" dirty="0">
                <a:ln>
                  <a:noFill/>
                </a:ln>
                <a:solidFill>
                  <a:srgbClr val="F8B133"/>
                </a:solidFill>
                <a:effectLst/>
                <a:uLnTx/>
                <a:uFillTx/>
                <a:latin typeface="Arial Black"/>
                <a:ea typeface="+mn-ea"/>
                <a:cs typeface="Arial Black"/>
                <a:hlinkClick r:id="" action="ppaction://noaction"/>
              </a:rPr>
              <a:t> </a:t>
            </a:r>
            <a:r>
              <a:rPr kumimoji="0" sz="1000" b="0" i="0" u="none" strike="noStrike" kern="0" cap="none" spc="-75" normalizeH="0" baseline="0" noProof="0" dirty="0">
                <a:ln>
                  <a:noFill/>
                </a:ln>
                <a:solidFill>
                  <a:srgbClr val="F8B133"/>
                </a:solidFill>
                <a:effectLst/>
                <a:uLnTx/>
                <a:uFillTx/>
                <a:latin typeface="Arial Black"/>
                <a:ea typeface="+mn-ea"/>
                <a:cs typeface="Arial Black"/>
                <a:hlinkClick r:id="" action="ppaction://noaction"/>
              </a:rPr>
              <a:t>Specialist</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10" name="object 12">
            <a:extLst>
              <a:ext uri="{FF2B5EF4-FFF2-40B4-BE49-F238E27FC236}">
                <a16:creationId xmlns:a16="http://schemas.microsoft.com/office/drawing/2014/main" id="{811CFC0F-3F75-AADB-AD40-1C89E20FF723}"/>
              </a:ext>
            </a:extLst>
          </p:cNvPr>
          <p:cNvPicPr/>
          <p:nvPr/>
        </p:nvPicPr>
        <p:blipFill>
          <a:blip r:embed="rId7" cstate="print"/>
          <a:stretch>
            <a:fillRect/>
          </a:stretch>
        </p:blipFill>
        <p:spPr>
          <a:xfrm>
            <a:off x="8368905" y="-1596134"/>
            <a:ext cx="1051705" cy="1025630"/>
          </a:xfrm>
          <a:prstGeom prst="rect">
            <a:avLst/>
          </a:prstGeom>
        </p:spPr>
      </p:pic>
      <p:sp>
        <p:nvSpPr>
          <p:cNvPr id="11" name="object 13">
            <a:extLst>
              <a:ext uri="{FF2B5EF4-FFF2-40B4-BE49-F238E27FC236}">
                <a16:creationId xmlns:a16="http://schemas.microsoft.com/office/drawing/2014/main" id="{DB9EEAAA-DC22-86DA-6736-3AE3E02CCD9A}"/>
              </a:ext>
            </a:extLst>
          </p:cNvPr>
          <p:cNvSpPr txBox="1"/>
          <p:nvPr/>
        </p:nvSpPr>
        <p:spPr>
          <a:xfrm>
            <a:off x="8455388" y="-503576"/>
            <a:ext cx="900430" cy="373380"/>
          </a:xfrm>
          <a:prstGeom prst="rect">
            <a:avLst/>
          </a:prstGeom>
        </p:spPr>
        <p:txBody>
          <a:bodyPr vert="horz" wrap="square" lIns="0" tIns="12700" rIns="0" bIns="0" rtlCol="0">
            <a:spAutoFit/>
          </a:bodyPr>
          <a:lstStyle/>
          <a:p>
            <a:pPr marL="157480" marR="5080" lvl="0" indent="-14478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94C11F"/>
                </a:solidFill>
                <a:effectLst/>
                <a:uLnTx/>
                <a:uFillTx/>
                <a:latin typeface="Arial Black"/>
                <a:ea typeface="+mn-ea"/>
                <a:cs typeface="Arial Black"/>
                <a:hlinkClick r:id="" action="ppaction://noaction"/>
              </a:rPr>
              <a:t>Cybersecurity </a:t>
            </a:r>
            <a:r>
              <a:rPr kumimoji="0" sz="1000" b="0" i="0" u="none" strike="noStrike" kern="0" cap="none" spc="-10" normalizeH="0" baseline="0" noProof="0" dirty="0">
                <a:ln>
                  <a:noFill/>
                </a:ln>
                <a:solidFill>
                  <a:srgbClr val="94C11F"/>
                </a:solidFill>
                <a:effectLst/>
                <a:uLnTx/>
                <a:uFillTx/>
                <a:latin typeface="Arial Black"/>
                <a:ea typeface="+mn-ea"/>
                <a:cs typeface="Arial Black"/>
                <a:hlinkClick r:id="" action="ppaction://noaction"/>
              </a:rPr>
              <a:t>Architect</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12" name="object 14">
            <a:extLst>
              <a:ext uri="{FF2B5EF4-FFF2-40B4-BE49-F238E27FC236}">
                <a16:creationId xmlns:a16="http://schemas.microsoft.com/office/drawing/2014/main" id="{9128BFE8-A78B-69DA-C96A-BA8B3F0732E3}"/>
              </a:ext>
            </a:extLst>
          </p:cNvPr>
          <p:cNvPicPr/>
          <p:nvPr/>
        </p:nvPicPr>
        <p:blipFill>
          <a:blip r:embed="rId8" cstate="print"/>
          <a:stretch>
            <a:fillRect/>
          </a:stretch>
        </p:blipFill>
        <p:spPr>
          <a:xfrm>
            <a:off x="10251294" y="-1573947"/>
            <a:ext cx="1214443" cy="1013287"/>
          </a:xfrm>
          <a:prstGeom prst="rect">
            <a:avLst/>
          </a:prstGeom>
        </p:spPr>
      </p:pic>
      <p:sp>
        <p:nvSpPr>
          <p:cNvPr id="13" name="object 15">
            <a:extLst>
              <a:ext uri="{FF2B5EF4-FFF2-40B4-BE49-F238E27FC236}">
                <a16:creationId xmlns:a16="http://schemas.microsoft.com/office/drawing/2014/main" id="{5C12AF2C-DCC9-469C-69EE-D896E6CD4545}"/>
              </a:ext>
            </a:extLst>
          </p:cNvPr>
          <p:cNvSpPr txBox="1"/>
          <p:nvPr/>
        </p:nvSpPr>
        <p:spPr>
          <a:xfrm>
            <a:off x="10444462" y="-491384"/>
            <a:ext cx="900430" cy="370205"/>
          </a:xfrm>
          <a:prstGeom prst="rect">
            <a:avLst/>
          </a:prstGeom>
        </p:spPr>
        <p:txBody>
          <a:bodyPr vert="horz" wrap="square" lIns="0" tIns="12700" rIns="0" bIns="0" rtlCol="0">
            <a:spAutoFit/>
          </a:bodyPr>
          <a:lstStyle/>
          <a:p>
            <a:pPr marL="210820" marR="5080" lvl="0" indent="-198120" algn="l"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F8B133"/>
                </a:solidFill>
                <a:effectLst/>
                <a:uLnTx/>
                <a:uFillTx/>
                <a:latin typeface="Arial Black"/>
                <a:ea typeface="+mn-ea"/>
                <a:cs typeface="Arial Black"/>
                <a:hlinkClick r:id="" action="ppaction://noaction"/>
              </a:rPr>
              <a:t>Cybersecurity </a:t>
            </a:r>
            <a:r>
              <a:rPr kumimoji="0" sz="1000" b="0" i="0" u="none" strike="noStrike" kern="0" cap="none" spc="-10" normalizeH="0" baseline="0" noProof="0" dirty="0">
                <a:ln>
                  <a:noFill/>
                </a:ln>
                <a:solidFill>
                  <a:srgbClr val="F8B133"/>
                </a:solidFill>
                <a:effectLst/>
                <a:uLnTx/>
                <a:uFillTx/>
                <a:latin typeface="Arial Black"/>
                <a:ea typeface="+mn-ea"/>
                <a:cs typeface="Arial Black"/>
                <a:hlinkClick r:id="" action="ppaction://noaction"/>
              </a:rPr>
              <a:t>Auditor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sp>
        <p:nvSpPr>
          <p:cNvPr id="14" name="object 16">
            <a:extLst>
              <a:ext uri="{FF2B5EF4-FFF2-40B4-BE49-F238E27FC236}">
                <a16:creationId xmlns:a16="http://schemas.microsoft.com/office/drawing/2014/main" id="{9E86B61B-D680-5B0F-C0A1-7CCD2D6C9052}"/>
              </a:ext>
            </a:extLst>
          </p:cNvPr>
          <p:cNvSpPr txBox="1"/>
          <p:nvPr/>
        </p:nvSpPr>
        <p:spPr>
          <a:xfrm>
            <a:off x="865659" y="8217475"/>
            <a:ext cx="900430" cy="373380"/>
          </a:xfrm>
          <a:prstGeom prst="rect">
            <a:avLst/>
          </a:prstGeom>
        </p:spPr>
        <p:txBody>
          <a:bodyPr vert="horz" wrap="square" lIns="0" tIns="12700" rIns="0" bIns="0" rtlCol="0">
            <a:spAutoFit/>
          </a:bodyPr>
          <a:lstStyle/>
          <a:p>
            <a:pPr marL="165100" marR="5080" lvl="0" indent="-15240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94C11F"/>
                </a:solidFill>
                <a:effectLst/>
                <a:uLnTx/>
                <a:uFillTx/>
                <a:latin typeface="Arial Black"/>
                <a:ea typeface="+mn-ea"/>
                <a:cs typeface="Arial Black"/>
                <a:hlinkClick r:id="" action="ppaction://noaction"/>
              </a:rPr>
              <a:t>Cybersecurity </a:t>
            </a:r>
            <a:r>
              <a:rPr kumimoji="0" sz="1000" b="0" i="0" u="none" strike="noStrike" kern="0" cap="none" spc="-10" normalizeH="0" baseline="0" noProof="0" dirty="0">
                <a:ln>
                  <a:noFill/>
                </a:ln>
                <a:solidFill>
                  <a:srgbClr val="94C11F"/>
                </a:solidFill>
                <a:effectLst/>
                <a:uLnTx/>
                <a:uFillTx/>
                <a:latin typeface="Arial Black"/>
                <a:ea typeface="+mn-ea"/>
                <a:cs typeface="Arial Black"/>
                <a:hlinkClick r:id="" action="ppaction://noaction"/>
              </a:rPr>
              <a:t>Educator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15" name="object 17">
            <a:extLst>
              <a:ext uri="{FF2B5EF4-FFF2-40B4-BE49-F238E27FC236}">
                <a16:creationId xmlns:a16="http://schemas.microsoft.com/office/drawing/2014/main" id="{FFA8C256-2D2E-CAF1-8DE4-C7C3903E2FC8}"/>
              </a:ext>
            </a:extLst>
          </p:cNvPr>
          <p:cNvPicPr/>
          <p:nvPr/>
        </p:nvPicPr>
        <p:blipFill>
          <a:blip r:embed="rId9" cstate="print"/>
          <a:stretch>
            <a:fillRect/>
          </a:stretch>
        </p:blipFill>
        <p:spPr>
          <a:xfrm>
            <a:off x="770420" y="7256338"/>
            <a:ext cx="1089458" cy="768000"/>
          </a:xfrm>
          <a:prstGeom prst="rect">
            <a:avLst/>
          </a:prstGeom>
        </p:spPr>
      </p:pic>
      <p:sp>
        <p:nvSpPr>
          <p:cNvPr id="16" name="object 18">
            <a:extLst>
              <a:ext uri="{FF2B5EF4-FFF2-40B4-BE49-F238E27FC236}">
                <a16:creationId xmlns:a16="http://schemas.microsoft.com/office/drawing/2014/main" id="{D2408B48-2886-18C9-82C0-8F7C9EA39429}"/>
              </a:ext>
            </a:extLst>
          </p:cNvPr>
          <p:cNvSpPr txBox="1"/>
          <p:nvPr/>
        </p:nvSpPr>
        <p:spPr>
          <a:xfrm>
            <a:off x="2854859" y="8217475"/>
            <a:ext cx="900430" cy="373380"/>
          </a:xfrm>
          <a:prstGeom prst="rect">
            <a:avLst/>
          </a:prstGeom>
        </p:spPr>
        <p:txBody>
          <a:bodyPr vert="horz" wrap="square" lIns="0" tIns="12700" rIns="0" bIns="0" rtlCol="0">
            <a:spAutoFit/>
          </a:bodyPr>
          <a:lstStyle/>
          <a:p>
            <a:pPr marL="33655" marR="5080" lvl="0" indent="-2159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004F9F"/>
                </a:solidFill>
                <a:effectLst/>
                <a:uLnTx/>
                <a:uFillTx/>
                <a:latin typeface="Arial Black"/>
                <a:ea typeface="+mn-ea"/>
                <a:cs typeface="Arial Black"/>
                <a:hlinkClick r:id="" action="ppaction://noaction"/>
              </a:rPr>
              <a:t>Cybersecurity </a:t>
            </a:r>
            <a:r>
              <a:rPr kumimoji="0" sz="1000" b="0" i="0" u="none" strike="noStrike" kern="0" cap="none" spc="-30" normalizeH="0" baseline="0" noProof="0" dirty="0">
                <a:ln>
                  <a:noFill/>
                </a:ln>
                <a:solidFill>
                  <a:srgbClr val="004F9F"/>
                </a:solidFill>
                <a:effectLst/>
                <a:uLnTx/>
                <a:uFillTx/>
                <a:latin typeface="Arial Black"/>
                <a:ea typeface="+mn-ea"/>
                <a:cs typeface="Arial Black"/>
                <a:hlinkClick r:id="" action="ppaction://noaction"/>
              </a:rPr>
              <a:t>Implementer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17" name="object 19">
            <a:extLst>
              <a:ext uri="{FF2B5EF4-FFF2-40B4-BE49-F238E27FC236}">
                <a16:creationId xmlns:a16="http://schemas.microsoft.com/office/drawing/2014/main" id="{AFBA8357-47D5-4253-31C0-06D4EC785F3F}"/>
              </a:ext>
            </a:extLst>
          </p:cNvPr>
          <p:cNvPicPr/>
          <p:nvPr/>
        </p:nvPicPr>
        <p:blipFill>
          <a:blip r:embed="rId10" cstate="print"/>
          <a:stretch>
            <a:fillRect/>
          </a:stretch>
        </p:blipFill>
        <p:spPr>
          <a:xfrm>
            <a:off x="2791530" y="7225308"/>
            <a:ext cx="1014008" cy="835570"/>
          </a:xfrm>
          <a:prstGeom prst="rect">
            <a:avLst/>
          </a:prstGeom>
        </p:spPr>
      </p:pic>
      <p:pic>
        <p:nvPicPr>
          <p:cNvPr id="18" name="object 20">
            <a:extLst>
              <a:ext uri="{FF2B5EF4-FFF2-40B4-BE49-F238E27FC236}">
                <a16:creationId xmlns:a16="http://schemas.microsoft.com/office/drawing/2014/main" id="{D76AB6A6-7FE8-B860-ECEA-08E719B71D97}"/>
              </a:ext>
            </a:extLst>
          </p:cNvPr>
          <p:cNvPicPr/>
          <p:nvPr/>
        </p:nvPicPr>
        <p:blipFill>
          <a:blip r:embed="rId11" cstate="print"/>
          <a:stretch>
            <a:fillRect/>
          </a:stretch>
        </p:blipFill>
        <p:spPr>
          <a:xfrm>
            <a:off x="4873770" y="7224995"/>
            <a:ext cx="831765" cy="819817"/>
          </a:xfrm>
          <a:prstGeom prst="rect">
            <a:avLst/>
          </a:prstGeom>
        </p:spPr>
      </p:pic>
      <p:sp>
        <p:nvSpPr>
          <p:cNvPr id="19" name="object 21">
            <a:extLst>
              <a:ext uri="{FF2B5EF4-FFF2-40B4-BE49-F238E27FC236}">
                <a16:creationId xmlns:a16="http://schemas.microsoft.com/office/drawing/2014/main" id="{E8FE5286-4BE8-6A27-912F-ACD9FBFD1D90}"/>
              </a:ext>
            </a:extLst>
          </p:cNvPr>
          <p:cNvSpPr txBox="1"/>
          <p:nvPr/>
        </p:nvSpPr>
        <p:spPr>
          <a:xfrm>
            <a:off x="4845458" y="8203759"/>
            <a:ext cx="900430" cy="373380"/>
          </a:xfrm>
          <a:prstGeom prst="rect">
            <a:avLst/>
          </a:prstGeom>
        </p:spPr>
        <p:txBody>
          <a:bodyPr vert="horz" wrap="square" lIns="0" tIns="12700" rIns="0" bIns="0" rtlCol="0">
            <a:spAutoFit/>
          </a:bodyPr>
          <a:lstStyle/>
          <a:p>
            <a:pPr marL="93345" marR="5080" lvl="0" indent="-8128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94C11F"/>
                </a:solidFill>
                <a:effectLst/>
                <a:uLnTx/>
                <a:uFillTx/>
                <a:latin typeface="Arial Black"/>
                <a:ea typeface="+mn-ea"/>
                <a:cs typeface="Arial Black"/>
                <a:hlinkClick r:id="" action="ppaction://noaction"/>
              </a:rPr>
              <a:t>Cybersecurity </a:t>
            </a:r>
            <a:r>
              <a:rPr kumimoji="0" sz="1000" b="0" i="0" u="none" strike="noStrike" kern="0" cap="none" spc="-10" normalizeH="0" baseline="0" noProof="0" dirty="0">
                <a:ln>
                  <a:noFill/>
                </a:ln>
                <a:solidFill>
                  <a:srgbClr val="94C11F"/>
                </a:solidFill>
                <a:effectLst/>
                <a:uLnTx/>
                <a:uFillTx/>
                <a:latin typeface="Arial Black"/>
                <a:ea typeface="+mn-ea"/>
                <a:cs typeface="Arial Black"/>
                <a:hlinkClick r:id="" action="ppaction://noaction"/>
              </a:rPr>
              <a:t>Researcher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20" name="object 22">
            <a:extLst>
              <a:ext uri="{FF2B5EF4-FFF2-40B4-BE49-F238E27FC236}">
                <a16:creationId xmlns:a16="http://schemas.microsoft.com/office/drawing/2014/main" id="{8746DFB4-CD9A-05EE-1222-4BABF630E270}"/>
              </a:ext>
            </a:extLst>
          </p:cNvPr>
          <p:cNvPicPr/>
          <p:nvPr/>
        </p:nvPicPr>
        <p:blipFill>
          <a:blip r:embed="rId12" cstate="print"/>
          <a:stretch>
            <a:fillRect/>
          </a:stretch>
        </p:blipFill>
        <p:spPr>
          <a:xfrm>
            <a:off x="6874951" y="7323809"/>
            <a:ext cx="898999" cy="755469"/>
          </a:xfrm>
          <a:prstGeom prst="rect">
            <a:avLst/>
          </a:prstGeom>
        </p:spPr>
      </p:pic>
      <p:sp>
        <p:nvSpPr>
          <p:cNvPr id="21" name="object 23">
            <a:extLst>
              <a:ext uri="{FF2B5EF4-FFF2-40B4-BE49-F238E27FC236}">
                <a16:creationId xmlns:a16="http://schemas.microsoft.com/office/drawing/2014/main" id="{C530DEF2-3EA5-EC83-0ACC-2ED0448DCE24}"/>
              </a:ext>
            </a:extLst>
          </p:cNvPr>
          <p:cNvSpPr txBox="1"/>
          <p:nvPr/>
        </p:nvSpPr>
        <p:spPr>
          <a:xfrm>
            <a:off x="6732891" y="8268542"/>
            <a:ext cx="1197610" cy="373380"/>
          </a:xfrm>
          <a:prstGeom prst="rect">
            <a:avLst/>
          </a:prstGeom>
        </p:spPr>
        <p:txBody>
          <a:bodyPr vert="horz" wrap="square" lIns="0" tIns="12700" rIns="0" bIns="0" rtlCol="0">
            <a:spAutoFit/>
          </a:bodyPr>
          <a:lstStyle/>
          <a:p>
            <a:pPr marL="318770" marR="5080" lvl="0" indent="-306705"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CA0438"/>
                </a:solidFill>
                <a:effectLst/>
                <a:uLnTx/>
                <a:uFillTx/>
                <a:latin typeface="Arial Black"/>
                <a:ea typeface="+mn-ea"/>
                <a:cs typeface="Arial Black"/>
                <a:hlinkClick r:id="" action="ppaction://noaction"/>
              </a:rPr>
              <a:t>Cybersecurity</a:t>
            </a:r>
            <a:r>
              <a:rPr kumimoji="0" sz="1000" b="0" i="0" u="none" strike="noStrike" kern="0" cap="none" spc="-15" normalizeH="0" baseline="0" noProof="0" dirty="0">
                <a:ln>
                  <a:noFill/>
                </a:ln>
                <a:solidFill>
                  <a:srgbClr val="CA0438"/>
                </a:solidFill>
                <a:effectLst/>
                <a:uLnTx/>
                <a:uFillTx/>
                <a:latin typeface="Arial Black"/>
                <a:ea typeface="+mn-ea"/>
                <a:cs typeface="Arial Black"/>
                <a:hlinkClick r:id="" action="ppaction://noaction"/>
              </a:rPr>
              <a:t> </a:t>
            </a:r>
            <a:r>
              <a:rPr kumimoji="0" sz="1000" b="0" i="0" u="none" strike="noStrike" kern="0" cap="none" spc="-80" normalizeH="0" baseline="0" noProof="0" dirty="0">
                <a:ln>
                  <a:noFill/>
                </a:ln>
                <a:solidFill>
                  <a:srgbClr val="CA0438"/>
                </a:solidFill>
                <a:effectLst/>
                <a:uLnTx/>
                <a:uFillTx/>
                <a:latin typeface="Arial Black"/>
                <a:ea typeface="+mn-ea"/>
                <a:cs typeface="Arial Black"/>
                <a:hlinkClick r:id="" action="ppaction://noaction"/>
              </a:rPr>
              <a:t>Risk </a:t>
            </a:r>
            <a:r>
              <a:rPr kumimoji="0" sz="1000" b="0" i="0" u="none" strike="noStrike" kern="0" cap="none" spc="-10" normalizeH="0" baseline="0" noProof="0" dirty="0">
                <a:ln>
                  <a:noFill/>
                </a:ln>
                <a:solidFill>
                  <a:srgbClr val="CA0438"/>
                </a:solidFill>
                <a:effectLst/>
                <a:uLnTx/>
                <a:uFillTx/>
                <a:latin typeface="Arial Black"/>
                <a:ea typeface="+mn-ea"/>
                <a:cs typeface="Arial Black"/>
                <a:hlinkClick r:id="" action="ppaction://noaction"/>
              </a:rPr>
              <a:t>Manager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22" name="object 24">
            <a:extLst>
              <a:ext uri="{FF2B5EF4-FFF2-40B4-BE49-F238E27FC236}">
                <a16:creationId xmlns:a16="http://schemas.microsoft.com/office/drawing/2014/main" id="{1126D8FC-9A69-878E-CE91-8A00FB6AC3E7}"/>
              </a:ext>
            </a:extLst>
          </p:cNvPr>
          <p:cNvPicPr/>
          <p:nvPr/>
        </p:nvPicPr>
        <p:blipFill>
          <a:blip r:embed="rId13" cstate="print"/>
          <a:stretch>
            <a:fillRect/>
          </a:stretch>
        </p:blipFill>
        <p:spPr>
          <a:xfrm>
            <a:off x="8693841" y="7302051"/>
            <a:ext cx="1194513" cy="802980"/>
          </a:xfrm>
          <a:prstGeom prst="rect">
            <a:avLst/>
          </a:prstGeom>
        </p:spPr>
      </p:pic>
      <p:sp>
        <p:nvSpPr>
          <p:cNvPr id="23" name="object 25">
            <a:extLst>
              <a:ext uri="{FF2B5EF4-FFF2-40B4-BE49-F238E27FC236}">
                <a16:creationId xmlns:a16="http://schemas.microsoft.com/office/drawing/2014/main" id="{E1236A89-C70D-2B34-29F2-92C4DEA85AAF}"/>
              </a:ext>
            </a:extLst>
          </p:cNvPr>
          <p:cNvSpPr txBox="1"/>
          <p:nvPr/>
        </p:nvSpPr>
        <p:spPr>
          <a:xfrm>
            <a:off x="8787574" y="8268542"/>
            <a:ext cx="1065530" cy="373380"/>
          </a:xfrm>
          <a:prstGeom prst="rect">
            <a:avLst/>
          </a:prstGeom>
        </p:spPr>
        <p:txBody>
          <a:bodyPr vert="horz" wrap="square" lIns="0" tIns="12700" rIns="0" bIns="0" rtlCol="0">
            <a:spAutoFit/>
          </a:bodyPr>
          <a:lstStyle/>
          <a:p>
            <a:pPr marL="147955" marR="5080" lvl="0" indent="-13589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55" normalizeH="0" baseline="0" noProof="0" dirty="0">
                <a:ln>
                  <a:noFill/>
                </a:ln>
                <a:solidFill>
                  <a:srgbClr val="F8B133"/>
                </a:solidFill>
                <a:effectLst/>
                <a:uLnTx/>
                <a:uFillTx/>
                <a:latin typeface="Arial Black"/>
                <a:ea typeface="+mn-ea"/>
                <a:cs typeface="Arial Black"/>
                <a:hlinkClick r:id="" action="ppaction://noaction"/>
              </a:rPr>
              <a:t>Digital</a:t>
            </a:r>
            <a:r>
              <a:rPr kumimoji="0" sz="1000" b="0" i="0" u="none" strike="noStrike" kern="0" cap="none" spc="-30" normalizeH="0" baseline="0" noProof="0" dirty="0">
                <a:ln>
                  <a:noFill/>
                </a:ln>
                <a:solidFill>
                  <a:srgbClr val="F8B133"/>
                </a:solidFill>
                <a:effectLst/>
                <a:uLnTx/>
                <a:uFillTx/>
                <a:latin typeface="Arial Black"/>
                <a:ea typeface="+mn-ea"/>
                <a:cs typeface="Arial Black"/>
                <a:hlinkClick r:id="" action="ppaction://noaction"/>
              </a:rPr>
              <a:t> </a:t>
            </a:r>
            <a:r>
              <a:rPr kumimoji="0" sz="1000" b="0" i="0" u="none" strike="noStrike" kern="0" cap="none" spc="-80" normalizeH="0" baseline="0" noProof="0" dirty="0">
                <a:ln>
                  <a:noFill/>
                </a:ln>
                <a:solidFill>
                  <a:srgbClr val="F8B133"/>
                </a:solidFill>
                <a:effectLst/>
                <a:uLnTx/>
                <a:uFillTx/>
                <a:latin typeface="Arial Black"/>
                <a:ea typeface="+mn-ea"/>
                <a:cs typeface="Arial Black"/>
                <a:hlinkClick r:id="" action="ppaction://noaction"/>
              </a:rPr>
              <a:t>Forensics </a:t>
            </a:r>
            <a:r>
              <a:rPr kumimoji="0" sz="1000" b="0" i="0" u="none" strike="noStrike" kern="0" cap="none" spc="-10" normalizeH="0" baseline="0" noProof="0" dirty="0">
                <a:ln>
                  <a:noFill/>
                </a:ln>
                <a:solidFill>
                  <a:srgbClr val="F8B133"/>
                </a:solidFill>
                <a:effectLst/>
                <a:uLnTx/>
                <a:uFillTx/>
                <a:latin typeface="Arial Black"/>
                <a:ea typeface="+mn-ea"/>
                <a:cs typeface="Arial Black"/>
                <a:hlinkClick r:id="" action="ppaction://noaction"/>
              </a:rPr>
              <a:t>Investigator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24" name="object 26">
            <a:extLst>
              <a:ext uri="{FF2B5EF4-FFF2-40B4-BE49-F238E27FC236}">
                <a16:creationId xmlns:a16="http://schemas.microsoft.com/office/drawing/2014/main" id="{47269663-1B46-52A3-B347-DBCCEA74D503}"/>
              </a:ext>
            </a:extLst>
          </p:cNvPr>
          <p:cNvPicPr/>
          <p:nvPr/>
        </p:nvPicPr>
        <p:blipFill>
          <a:blip r:embed="rId14" cstate="print"/>
          <a:stretch>
            <a:fillRect/>
          </a:stretch>
        </p:blipFill>
        <p:spPr>
          <a:xfrm>
            <a:off x="10731828" y="7244391"/>
            <a:ext cx="1226127" cy="914306"/>
          </a:xfrm>
          <a:prstGeom prst="rect">
            <a:avLst/>
          </a:prstGeom>
        </p:spPr>
      </p:pic>
      <p:sp>
        <p:nvSpPr>
          <p:cNvPr id="25" name="object 27">
            <a:extLst>
              <a:ext uri="{FF2B5EF4-FFF2-40B4-BE49-F238E27FC236}">
                <a16:creationId xmlns:a16="http://schemas.microsoft.com/office/drawing/2014/main" id="{4B3F41FF-F0A6-66D7-9903-26D7C6894E0E}"/>
              </a:ext>
            </a:extLst>
          </p:cNvPr>
          <p:cNvSpPr txBox="1"/>
          <p:nvPr/>
        </p:nvSpPr>
        <p:spPr>
          <a:xfrm>
            <a:off x="10919904" y="8268542"/>
            <a:ext cx="782320" cy="373380"/>
          </a:xfrm>
          <a:prstGeom prst="rect">
            <a:avLst/>
          </a:prstGeom>
        </p:spPr>
        <p:txBody>
          <a:bodyPr vert="horz" wrap="square" lIns="0" tIns="12700" rIns="0" bIns="0" rtlCol="0">
            <a:spAutoFit/>
          </a:bodyPr>
          <a:lstStyle/>
          <a:p>
            <a:pPr marL="192405" marR="5080" lvl="0" indent="-18034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50" normalizeH="0" baseline="0" noProof="0" dirty="0">
                <a:ln>
                  <a:noFill/>
                </a:ln>
                <a:solidFill>
                  <a:srgbClr val="CA0438"/>
                </a:solidFill>
                <a:effectLst/>
                <a:uLnTx/>
                <a:uFillTx/>
                <a:latin typeface="Arial Black"/>
                <a:ea typeface="+mn-ea"/>
                <a:cs typeface="Arial Black"/>
                <a:hlinkClick r:id="" action="ppaction://noaction"/>
              </a:rPr>
              <a:t>Penetration </a:t>
            </a:r>
            <a:r>
              <a:rPr kumimoji="0" sz="1000" b="0" i="0" u="none" strike="noStrike" kern="0" cap="none" spc="-10" normalizeH="0" baseline="0" noProof="0" dirty="0">
                <a:ln>
                  <a:noFill/>
                </a:ln>
                <a:solidFill>
                  <a:srgbClr val="CA0438"/>
                </a:solidFill>
                <a:effectLst/>
                <a:uLnTx/>
                <a:uFillTx/>
                <a:latin typeface="Arial Black"/>
                <a:ea typeface="+mn-ea"/>
                <a:cs typeface="Arial Black"/>
                <a:hlinkClick r:id="" action="ppaction://noaction"/>
              </a:rPr>
              <a:t>Tester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26" name="object 10">
            <a:extLst>
              <a:ext uri="{FF2B5EF4-FFF2-40B4-BE49-F238E27FC236}">
                <a16:creationId xmlns:a16="http://schemas.microsoft.com/office/drawing/2014/main" id="{B7CD66EE-E98B-FF1D-07D1-DA41044EE008}"/>
              </a:ext>
            </a:extLst>
          </p:cNvPr>
          <p:cNvPicPr/>
          <p:nvPr/>
        </p:nvPicPr>
        <p:blipFill>
          <a:blip r:embed="rId6" cstate="print"/>
          <a:stretch>
            <a:fillRect/>
          </a:stretch>
        </p:blipFill>
        <p:spPr>
          <a:xfrm>
            <a:off x="3988215" y="284045"/>
            <a:ext cx="502669" cy="616689"/>
          </a:xfrm>
          <a:prstGeom prst="rect">
            <a:avLst/>
          </a:prstGeom>
        </p:spPr>
      </p:pic>
      <p:pic>
        <p:nvPicPr>
          <p:cNvPr id="28" name="object 14">
            <a:extLst>
              <a:ext uri="{FF2B5EF4-FFF2-40B4-BE49-F238E27FC236}">
                <a16:creationId xmlns:a16="http://schemas.microsoft.com/office/drawing/2014/main" id="{FE50618C-F6C9-EC58-9E11-4D0542233FAD}"/>
              </a:ext>
            </a:extLst>
          </p:cNvPr>
          <p:cNvPicPr/>
          <p:nvPr/>
        </p:nvPicPr>
        <p:blipFill>
          <a:blip r:embed="rId8" cstate="print"/>
          <a:stretch>
            <a:fillRect/>
          </a:stretch>
        </p:blipFill>
        <p:spPr>
          <a:xfrm>
            <a:off x="8003148" y="1377206"/>
            <a:ext cx="607221" cy="499857"/>
          </a:xfrm>
          <a:prstGeom prst="rect">
            <a:avLst/>
          </a:prstGeom>
        </p:spPr>
      </p:pic>
      <p:pic>
        <p:nvPicPr>
          <p:cNvPr id="27" name="object 24">
            <a:extLst>
              <a:ext uri="{FF2B5EF4-FFF2-40B4-BE49-F238E27FC236}">
                <a16:creationId xmlns:a16="http://schemas.microsoft.com/office/drawing/2014/main" id="{FF277644-4257-E43D-B050-A4BE6B849CB1}"/>
              </a:ext>
            </a:extLst>
          </p:cNvPr>
          <p:cNvPicPr/>
          <p:nvPr/>
        </p:nvPicPr>
        <p:blipFill>
          <a:blip r:embed="rId13" cstate="print"/>
          <a:stretch>
            <a:fillRect/>
          </a:stretch>
        </p:blipFill>
        <p:spPr>
          <a:xfrm>
            <a:off x="4340473" y="4855263"/>
            <a:ext cx="619126" cy="488262"/>
          </a:xfrm>
          <a:prstGeom prst="rect">
            <a:avLst/>
          </a:prstGeom>
        </p:spPr>
      </p:pic>
      <p:sp>
        <p:nvSpPr>
          <p:cNvPr id="29" name="TextBox 28">
            <a:extLst>
              <a:ext uri="{FF2B5EF4-FFF2-40B4-BE49-F238E27FC236}">
                <a16:creationId xmlns:a16="http://schemas.microsoft.com/office/drawing/2014/main" id="{6B9F8C8C-15EB-C691-A7ED-6CA8860B087C}"/>
              </a:ext>
            </a:extLst>
          </p:cNvPr>
          <p:cNvSpPr txBox="1"/>
          <p:nvPr/>
        </p:nvSpPr>
        <p:spPr>
          <a:xfrm>
            <a:off x="1971944" y="1128247"/>
            <a:ext cx="1558312" cy="307777"/>
          </a:xfrm>
          <a:prstGeom prst="rect">
            <a:avLst/>
          </a:prstGeom>
          <a:noFill/>
        </p:spPr>
        <p:txBody>
          <a:bodyPr wrap="none" rtlCol="0">
            <a:spAutoFit/>
          </a:bodyPr>
          <a:lstStyle/>
          <a:p>
            <a:pPr algn="ctr"/>
            <a:r>
              <a:rPr lang="fr-BE" sz="1400" dirty="0"/>
              <a:t>All-Source </a:t>
            </a:r>
            <a:r>
              <a:rPr lang="fr-BE" sz="1400" dirty="0" err="1"/>
              <a:t>Analysis</a:t>
            </a:r>
            <a:endParaRPr lang="fr-BE" sz="1400" dirty="0"/>
          </a:p>
        </p:txBody>
      </p:sp>
      <p:sp>
        <p:nvSpPr>
          <p:cNvPr id="30" name="TextBox 29">
            <a:extLst>
              <a:ext uri="{FF2B5EF4-FFF2-40B4-BE49-F238E27FC236}">
                <a16:creationId xmlns:a16="http://schemas.microsoft.com/office/drawing/2014/main" id="{6C131680-4063-1A48-FF11-58C07C3B6FEA}"/>
              </a:ext>
            </a:extLst>
          </p:cNvPr>
          <p:cNvSpPr txBox="1"/>
          <p:nvPr/>
        </p:nvSpPr>
        <p:spPr>
          <a:xfrm>
            <a:off x="1858452" y="1519601"/>
            <a:ext cx="1671804" cy="307777"/>
          </a:xfrm>
          <a:prstGeom prst="rect">
            <a:avLst/>
          </a:prstGeom>
          <a:noFill/>
        </p:spPr>
        <p:txBody>
          <a:bodyPr wrap="none" rtlCol="0">
            <a:spAutoFit/>
          </a:bodyPr>
          <a:lstStyle/>
          <a:p>
            <a:pPr algn="ctr"/>
            <a:r>
              <a:rPr lang="fr-BE" sz="1400" dirty="0"/>
              <a:t>Exploitation </a:t>
            </a:r>
            <a:r>
              <a:rPr lang="fr-BE" sz="1400" dirty="0" err="1"/>
              <a:t>Analysis</a:t>
            </a:r>
            <a:endParaRPr lang="fr-BE" sz="1400" dirty="0"/>
          </a:p>
        </p:txBody>
      </p:sp>
      <p:sp>
        <p:nvSpPr>
          <p:cNvPr id="31" name="TextBox 30">
            <a:extLst>
              <a:ext uri="{FF2B5EF4-FFF2-40B4-BE49-F238E27FC236}">
                <a16:creationId xmlns:a16="http://schemas.microsoft.com/office/drawing/2014/main" id="{6DC3B948-1917-04A1-FE02-B9B39E9E9A68}"/>
              </a:ext>
            </a:extLst>
          </p:cNvPr>
          <p:cNvSpPr txBox="1"/>
          <p:nvPr/>
        </p:nvSpPr>
        <p:spPr>
          <a:xfrm>
            <a:off x="2243557" y="1998619"/>
            <a:ext cx="1286699" cy="307777"/>
          </a:xfrm>
          <a:prstGeom prst="rect">
            <a:avLst/>
          </a:prstGeom>
          <a:noFill/>
        </p:spPr>
        <p:txBody>
          <a:bodyPr wrap="none" rtlCol="0">
            <a:spAutoFit/>
          </a:bodyPr>
          <a:lstStyle/>
          <a:p>
            <a:pPr algn="ctr"/>
            <a:r>
              <a:rPr lang="fr-BE" sz="1400" dirty="0" err="1"/>
              <a:t>Threat</a:t>
            </a:r>
            <a:r>
              <a:rPr lang="fr-BE" sz="1400" dirty="0"/>
              <a:t> </a:t>
            </a:r>
            <a:r>
              <a:rPr lang="fr-BE" sz="1400" dirty="0" err="1"/>
              <a:t>Analysis</a:t>
            </a:r>
            <a:endParaRPr lang="fr-BE" sz="1400" dirty="0"/>
          </a:p>
        </p:txBody>
      </p:sp>
      <p:sp>
        <p:nvSpPr>
          <p:cNvPr id="2048" name="TextBox 2047">
            <a:extLst>
              <a:ext uri="{FF2B5EF4-FFF2-40B4-BE49-F238E27FC236}">
                <a16:creationId xmlns:a16="http://schemas.microsoft.com/office/drawing/2014/main" id="{0E45A56D-1810-F5B8-83EA-BAC6AE769BF2}"/>
              </a:ext>
            </a:extLst>
          </p:cNvPr>
          <p:cNvSpPr txBox="1"/>
          <p:nvPr/>
        </p:nvSpPr>
        <p:spPr>
          <a:xfrm>
            <a:off x="794058" y="2531137"/>
            <a:ext cx="2736198" cy="307777"/>
          </a:xfrm>
          <a:prstGeom prst="rect">
            <a:avLst/>
          </a:prstGeom>
          <a:noFill/>
        </p:spPr>
        <p:txBody>
          <a:bodyPr wrap="none" rtlCol="0">
            <a:spAutoFit/>
          </a:bodyPr>
          <a:lstStyle/>
          <a:p>
            <a:pPr algn="ctr"/>
            <a:r>
              <a:rPr lang="fr-BE" sz="1400" dirty="0"/>
              <a:t>Multi-</a:t>
            </a:r>
            <a:r>
              <a:rPr lang="fr-BE" sz="1400" dirty="0" err="1"/>
              <a:t>Disciplined</a:t>
            </a:r>
            <a:r>
              <a:rPr lang="fr-BE" sz="1400" dirty="0"/>
              <a:t> </a:t>
            </a:r>
            <a:r>
              <a:rPr lang="fr-BE" sz="1400" dirty="0" err="1"/>
              <a:t>Language</a:t>
            </a:r>
            <a:r>
              <a:rPr lang="fr-BE" sz="1400" dirty="0"/>
              <a:t> </a:t>
            </a:r>
            <a:r>
              <a:rPr lang="fr-BE" sz="1400" dirty="0" err="1"/>
              <a:t>Analysis</a:t>
            </a:r>
            <a:endParaRPr lang="fr-BE" sz="1400" dirty="0"/>
          </a:p>
        </p:txBody>
      </p:sp>
      <p:sp>
        <p:nvSpPr>
          <p:cNvPr id="2049" name="TextBox 2048">
            <a:extLst>
              <a:ext uri="{FF2B5EF4-FFF2-40B4-BE49-F238E27FC236}">
                <a16:creationId xmlns:a16="http://schemas.microsoft.com/office/drawing/2014/main" id="{037F092E-3EC3-BF6F-BA31-C139D67E1C3F}"/>
              </a:ext>
            </a:extLst>
          </p:cNvPr>
          <p:cNvSpPr txBox="1"/>
          <p:nvPr/>
        </p:nvSpPr>
        <p:spPr>
          <a:xfrm>
            <a:off x="806112" y="2969110"/>
            <a:ext cx="2724144" cy="307777"/>
          </a:xfrm>
          <a:prstGeom prst="rect">
            <a:avLst/>
          </a:prstGeom>
          <a:noFill/>
        </p:spPr>
        <p:txBody>
          <a:bodyPr wrap="none" rtlCol="0">
            <a:spAutoFit/>
          </a:bodyPr>
          <a:lstStyle/>
          <a:p>
            <a:pPr algn="ctr"/>
            <a:r>
              <a:rPr lang="fr-BE" sz="1400" dirty="0"/>
              <a:t>All-Source Collection Management</a:t>
            </a:r>
          </a:p>
        </p:txBody>
      </p:sp>
      <p:sp>
        <p:nvSpPr>
          <p:cNvPr id="2050" name="TextBox 2049">
            <a:extLst>
              <a:ext uri="{FF2B5EF4-FFF2-40B4-BE49-F238E27FC236}">
                <a16:creationId xmlns:a16="http://schemas.microsoft.com/office/drawing/2014/main" id="{936D171B-3634-03C0-3B42-F0003871EC13}"/>
              </a:ext>
            </a:extLst>
          </p:cNvPr>
          <p:cNvSpPr txBox="1"/>
          <p:nvPr/>
        </p:nvSpPr>
        <p:spPr>
          <a:xfrm>
            <a:off x="238125" y="3382585"/>
            <a:ext cx="3292131" cy="276999"/>
          </a:xfrm>
          <a:prstGeom prst="rect">
            <a:avLst/>
          </a:prstGeom>
          <a:noFill/>
        </p:spPr>
        <p:txBody>
          <a:bodyPr wrap="square" rtlCol="0">
            <a:spAutoFit/>
          </a:bodyPr>
          <a:lstStyle/>
          <a:p>
            <a:pPr algn="ctr"/>
            <a:r>
              <a:rPr lang="fr-BE" sz="1200" dirty="0"/>
              <a:t>All-Source Collection </a:t>
            </a:r>
            <a:r>
              <a:rPr lang="fr-BE" sz="1200" dirty="0" err="1"/>
              <a:t>RequirementsManagement</a:t>
            </a:r>
            <a:endParaRPr lang="fr-BE" sz="1200" dirty="0"/>
          </a:p>
        </p:txBody>
      </p:sp>
      <p:sp>
        <p:nvSpPr>
          <p:cNvPr id="2051" name="TextBox 2050">
            <a:extLst>
              <a:ext uri="{FF2B5EF4-FFF2-40B4-BE49-F238E27FC236}">
                <a16:creationId xmlns:a16="http://schemas.microsoft.com/office/drawing/2014/main" id="{4A29F297-78E6-E8B2-3D42-0B9C42EF07F9}"/>
              </a:ext>
            </a:extLst>
          </p:cNvPr>
          <p:cNvSpPr txBox="1"/>
          <p:nvPr/>
        </p:nvSpPr>
        <p:spPr>
          <a:xfrm>
            <a:off x="1380308" y="3773939"/>
            <a:ext cx="2149948" cy="307777"/>
          </a:xfrm>
          <a:prstGeom prst="rect">
            <a:avLst/>
          </a:prstGeom>
          <a:noFill/>
        </p:spPr>
        <p:txBody>
          <a:bodyPr wrap="none" rtlCol="0">
            <a:spAutoFit/>
          </a:bodyPr>
          <a:lstStyle/>
          <a:p>
            <a:pPr algn="ctr"/>
            <a:r>
              <a:rPr lang="fr-BE" sz="1400" dirty="0"/>
              <a:t>Cyber Intelligence Planning</a:t>
            </a:r>
          </a:p>
        </p:txBody>
      </p:sp>
      <p:sp>
        <p:nvSpPr>
          <p:cNvPr id="2053" name="TextBox 2052">
            <a:extLst>
              <a:ext uri="{FF2B5EF4-FFF2-40B4-BE49-F238E27FC236}">
                <a16:creationId xmlns:a16="http://schemas.microsoft.com/office/drawing/2014/main" id="{C31A76AA-F73A-EC8A-1CDF-F6D01FA80121}"/>
              </a:ext>
            </a:extLst>
          </p:cNvPr>
          <p:cNvSpPr txBox="1"/>
          <p:nvPr/>
        </p:nvSpPr>
        <p:spPr>
          <a:xfrm>
            <a:off x="2384237" y="4205926"/>
            <a:ext cx="1146019" cy="307777"/>
          </a:xfrm>
          <a:prstGeom prst="rect">
            <a:avLst/>
          </a:prstGeom>
          <a:noFill/>
        </p:spPr>
        <p:txBody>
          <a:bodyPr wrap="none" rtlCol="0">
            <a:spAutoFit/>
          </a:bodyPr>
          <a:lstStyle/>
          <a:p>
            <a:pPr algn="ctr"/>
            <a:r>
              <a:rPr lang="fr-BE" sz="1400" dirty="0"/>
              <a:t>Data </a:t>
            </a:r>
            <a:r>
              <a:rPr lang="fr-BE" sz="1400" dirty="0" err="1"/>
              <a:t>Analysis</a:t>
            </a:r>
            <a:endParaRPr lang="fr-BE" sz="1400" dirty="0"/>
          </a:p>
        </p:txBody>
      </p:sp>
      <p:sp>
        <p:nvSpPr>
          <p:cNvPr id="2054" name="TextBox 2053">
            <a:extLst>
              <a:ext uri="{FF2B5EF4-FFF2-40B4-BE49-F238E27FC236}">
                <a16:creationId xmlns:a16="http://schemas.microsoft.com/office/drawing/2014/main" id="{9986E01D-AB94-719B-B5D1-FCB13FE038CC}"/>
              </a:ext>
            </a:extLst>
          </p:cNvPr>
          <p:cNvSpPr txBox="1"/>
          <p:nvPr/>
        </p:nvSpPr>
        <p:spPr>
          <a:xfrm>
            <a:off x="9328826" y="2072605"/>
            <a:ext cx="2287806" cy="307777"/>
          </a:xfrm>
          <a:prstGeom prst="rect">
            <a:avLst/>
          </a:prstGeom>
          <a:noFill/>
        </p:spPr>
        <p:txBody>
          <a:bodyPr wrap="none" rtlCol="0">
            <a:spAutoFit/>
          </a:bodyPr>
          <a:lstStyle/>
          <a:p>
            <a:pPr algn="ctr"/>
            <a:r>
              <a:rPr lang="fr-BE" sz="1400" dirty="0"/>
              <a:t>Security Control </a:t>
            </a:r>
            <a:r>
              <a:rPr lang="fr-BE" sz="1400" dirty="0" err="1"/>
              <a:t>Assessment</a:t>
            </a:r>
            <a:endParaRPr lang="fr-BE" sz="1400" dirty="0"/>
          </a:p>
        </p:txBody>
      </p:sp>
      <p:sp>
        <p:nvSpPr>
          <p:cNvPr id="2055" name="TextBox 2054">
            <a:extLst>
              <a:ext uri="{FF2B5EF4-FFF2-40B4-BE49-F238E27FC236}">
                <a16:creationId xmlns:a16="http://schemas.microsoft.com/office/drawing/2014/main" id="{E739E775-A516-EB89-1338-275E6D2141EB}"/>
              </a:ext>
            </a:extLst>
          </p:cNvPr>
          <p:cNvSpPr txBox="1"/>
          <p:nvPr/>
        </p:nvSpPr>
        <p:spPr>
          <a:xfrm>
            <a:off x="9328826" y="2499681"/>
            <a:ext cx="2249655" cy="307777"/>
          </a:xfrm>
          <a:prstGeom prst="rect">
            <a:avLst/>
          </a:prstGeom>
          <a:noFill/>
        </p:spPr>
        <p:txBody>
          <a:bodyPr wrap="none" rtlCol="0">
            <a:spAutoFit/>
          </a:bodyPr>
          <a:lstStyle/>
          <a:p>
            <a:pPr algn="ctr"/>
            <a:r>
              <a:rPr lang="fr-BE" sz="1400" dirty="0" err="1"/>
              <a:t>Systems</a:t>
            </a:r>
            <a:r>
              <a:rPr lang="fr-BE" sz="1400" dirty="0"/>
              <a:t> </a:t>
            </a:r>
            <a:r>
              <a:rPr lang="fr-BE" sz="1400" dirty="0" err="1"/>
              <a:t>Testing</a:t>
            </a:r>
            <a:r>
              <a:rPr lang="fr-BE" sz="1400" dirty="0"/>
              <a:t> &amp; Evaluation</a:t>
            </a:r>
          </a:p>
        </p:txBody>
      </p:sp>
      <p:sp>
        <p:nvSpPr>
          <p:cNvPr id="2056" name="TextBox 2055">
            <a:extLst>
              <a:ext uri="{FF2B5EF4-FFF2-40B4-BE49-F238E27FC236}">
                <a16:creationId xmlns:a16="http://schemas.microsoft.com/office/drawing/2014/main" id="{14BBE622-596C-FEC8-F008-B640B98FF3AC}"/>
              </a:ext>
            </a:extLst>
          </p:cNvPr>
          <p:cNvSpPr txBox="1"/>
          <p:nvPr/>
        </p:nvSpPr>
        <p:spPr>
          <a:xfrm>
            <a:off x="9328826" y="2886072"/>
            <a:ext cx="2317366" cy="307777"/>
          </a:xfrm>
          <a:prstGeom prst="rect">
            <a:avLst/>
          </a:prstGeom>
          <a:noFill/>
        </p:spPr>
        <p:txBody>
          <a:bodyPr wrap="none" rtlCol="0">
            <a:spAutoFit/>
          </a:bodyPr>
          <a:lstStyle/>
          <a:p>
            <a:pPr algn="ctr"/>
            <a:r>
              <a:rPr lang="fr-BE" sz="1400" dirty="0" err="1"/>
              <a:t>Technology</a:t>
            </a:r>
            <a:r>
              <a:rPr lang="fr-BE" sz="1400" dirty="0"/>
              <a:t> Program </a:t>
            </a:r>
            <a:r>
              <a:rPr lang="fr-BE" sz="1400" dirty="0" err="1"/>
              <a:t>Auditing</a:t>
            </a:r>
            <a:endParaRPr lang="fr-BE" sz="1400" dirty="0"/>
          </a:p>
        </p:txBody>
      </p:sp>
      <p:sp>
        <p:nvSpPr>
          <p:cNvPr id="2057" name="TextBox 2056">
            <a:extLst>
              <a:ext uri="{FF2B5EF4-FFF2-40B4-BE49-F238E27FC236}">
                <a16:creationId xmlns:a16="http://schemas.microsoft.com/office/drawing/2014/main" id="{8430A5D6-7F34-B568-908D-DCD23D6A777C}"/>
              </a:ext>
            </a:extLst>
          </p:cNvPr>
          <p:cNvSpPr txBox="1"/>
          <p:nvPr/>
        </p:nvSpPr>
        <p:spPr>
          <a:xfrm>
            <a:off x="5460526" y="5560052"/>
            <a:ext cx="1957139" cy="307777"/>
          </a:xfrm>
          <a:prstGeom prst="rect">
            <a:avLst/>
          </a:prstGeom>
          <a:noFill/>
        </p:spPr>
        <p:txBody>
          <a:bodyPr wrap="none" rtlCol="0">
            <a:spAutoFit/>
          </a:bodyPr>
          <a:lstStyle/>
          <a:p>
            <a:pPr algn="ctr"/>
            <a:r>
              <a:rPr lang="fr-BE" sz="1400" dirty="0"/>
              <a:t>Digital Evidence </a:t>
            </a:r>
            <a:r>
              <a:rPr lang="fr-BE" sz="1400" dirty="0" err="1"/>
              <a:t>Analysis</a:t>
            </a:r>
            <a:endParaRPr lang="fr-BE" sz="1400" dirty="0"/>
          </a:p>
        </p:txBody>
      </p:sp>
      <p:sp>
        <p:nvSpPr>
          <p:cNvPr id="2058" name="TextBox 2057">
            <a:extLst>
              <a:ext uri="{FF2B5EF4-FFF2-40B4-BE49-F238E27FC236}">
                <a16:creationId xmlns:a16="http://schemas.microsoft.com/office/drawing/2014/main" id="{072490A1-4E7F-C479-3DFE-E243286F61E6}"/>
              </a:ext>
            </a:extLst>
          </p:cNvPr>
          <p:cNvSpPr txBox="1"/>
          <p:nvPr/>
        </p:nvSpPr>
        <p:spPr>
          <a:xfrm>
            <a:off x="5460526" y="6394928"/>
            <a:ext cx="1999715" cy="307777"/>
          </a:xfrm>
          <a:prstGeom prst="rect">
            <a:avLst/>
          </a:prstGeom>
          <a:noFill/>
        </p:spPr>
        <p:txBody>
          <a:bodyPr wrap="none" rtlCol="0">
            <a:spAutoFit/>
          </a:bodyPr>
          <a:lstStyle/>
          <a:p>
            <a:pPr algn="ctr"/>
            <a:r>
              <a:rPr lang="fr-BE" sz="1400" dirty="0"/>
              <a:t>Cybercrime Investigation</a:t>
            </a:r>
          </a:p>
        </p:txBody>
      </p:sp>
      <p:sp>
        <p:nvSpPr>
          <p:cNvPr id="2059" name="TextBox 2058">
            <a:extLst>
              <a:ext uri="{FF2B5EF4-FFF2-40B4-BE49-F238E27FC236}">
                <a16:creationId xmlns:a16="http://schemas.microsoft.com/office/drawing/2014/main" id="{3BC800E9-9C69-F3C7-5E79-0641E9900237}"/>
              </a:ext>
            </a:extLst>
          </p:cNvPr>
          <p:cNvSpPr txBox="1"/>
          <p:nvPr/>
        </p:nvSpPr>
        <p:spPr>
          <a:xfrm>
            <a:off x="5460526" y="5975844"/>
            <a:ext cx="1383840" cy="307777"/>
          </a:xfrm>
          <a:prstGeom prst="rect">
            <a:avLst/>
          </a:prstGeom>
          <a:noFill/>
        </p:spPr>
        <p:txBody>
          <a:bodyPr wrap="none" rtlCol="0">
            <a:spAutoFit/>
          </a:bodyPr>
          <a:lstStyle/>
          <a:p>
            <a:pPr algn="ctr"/>
            <a:r>
              <a:rPr lang="fr-BE" sz="1400" dirty="0"/>
              <a:t>Digital </a:t>
            </a:r>
            <a:r>
              <a:rPr lang="fr-BE" sz="1400" dirty="0" err="1"/>
              <a:t>Forensics</a:t>
            </a:r>
            <a:endParaRPr lang="fr-BE" sz="1400" dirty="0"/>
          </a:p>
        </p:txBody>
      </p:sp>
    </p:spTree>
    <p:extLst>
      <p:ext uri="{BB962C8B-B14F-4D97-AF65-F5344CB8AC3E}">
        <p14:creationId xmlns:p14="http://schemas.microsoft.com/office/powerpoint/2010/main" val="15963181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29387-8B01-029D-F637-6CFD6DC96088}"/>
            </a:ext>
          </a:extLst>
        </p:cNvPr>
        <p:cNvGrpSpPr/>
        <p:nvPr/>
      </p:nvGrpSpPr>
      <p:grpSpPr>
        <a:xfrm>
          <a:off x="0" y="0"/>
          <a:ext cx="0" cy="0"/>
          <a:chOff x="0" y="0"/>
          <a:chExt cx="0" cy="0"/>
        </a:xfrm>
      </p:grpSpPr>
      <p:pic>
        <p:nvPicPr>
          <p:cNvPr id="8194" name="Picture 2">
            <a:extLst>
              <a:ext uri="{FF2B5EF4-FFF2-40B4-BE49-F238E27FC236}">
                <a16:creationId xmlns:a16="http://schemas.microsoft.com/office/drawing/2014/main" id="{8184BD02-85DE-D619-F825-CE0FEBE74D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90588"/>
            <a:ext cx="12192000" cy="5075237"/>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4">
            <a:extLst>
              <a:ext uri="{FF2B5EF4-FFF2-40B4-BE49-F238E27FC236}">
                <a16:creationId xmlns:a16="http://schemas.microsoft.com/office/drawing/2014/main" id="{62DA0120-A9C3-A5B6-9B62-B376E8153FDE}"/>
              </a:ext>
            </a:extLst>
          </p:cNvPr>
          <p:cNvSpPr txBox="1"/>
          <p:nvPr/>
        </p:nvSpPr>
        <p:spPr>
          <a:xfrm>
            <a:off x="521922" y="-532519"/>
            <a:ext cx="1423670" cy="370205"/>
          </a:xfrm>
          <a:prstGeom prst="rect">
            <a:avLst/>
          </a:prstGeom>
        </p:spPr>
        <p:txBody>
          <a:bodyPr vert="horz" wrap="square" lIns="0" tIns="12700" rIns="0" bIns="0" rtlCol="0">
            <a:spAutoFit/>
          </a:bodyPr>
          <a:lstStyle/>
          <a:p>
            <a:pPr marL="12700" marR="5080" lvl="0" indent="137160" algn="l"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004F9F"/>
                </a:solidFill>
                <a:effectLst/>
                <a:uLnTx/>
                <a:uFillTx/>
                <a:latin typeface="Arial Black"/>
                <a:ea typeface="+mn-ea"/>
                <a:cs typeface="Arial Black"/>
                <a:hlinkClick r:id="" action="ppaction://noaction"/>
              </a:rPr>
              <a:t>Chief</a:t>
            </a:r>
            <a:r>
              <a:rPr kumimoji="0" sz="1000" b="0" i="0" u="none" strike="noStrike" kern="0" cap="none" spc="-40" normalizeH="0" baseline="0" noProof="0" dirty="0">
                <a:ln>
                  <a:noFill/>
                </a:ln>
                <a:solidFill>
                  <a:srgbClr val="004F9F"/>
                </a:solidFill>
                <a:effectLst/>
                <a:uLnTx/>
                <a:uFillTx/>
                <a:latin typeface="Arial Black"/>
                <a:ea typeface="+mn-ea"/>
                <a:cs typeface="Arial Black"/>
                <a:hlinkClick r:id="" action="ppaction://noaction"/>
              </a:rPr>
              <a:t> </a:t>
            </a:r>
            <a:r>
              <a:rPr kumimoji="0" sz="1000" b="0" i="0" u="none" strike="noStrike" kern="0" cap="none" spc="-10" normalizeH="0" baseline="0" noProof="0" dirty="0">
                <a:ln>
                  <a:noFill/>
                </a:ln>
                <a:solidFill>
                  <a:srgbClr val="004F9F"/>
                </a:solidFill>
                <a:effectLst/>
                <a:uLnTx/>
                <a:uFillTx/>
                <a:latin typeface="Arial Black"/>
                <a:ea typeface="+mn-ea"/>
                <a:cs typeface="Arial Black"/>
                <a:hlinkClick r:id="" action="ppaction://noaction"/>
              </a:rPr>
              <a:t>Information </a:t>
            </a:r>
            <a:r>
              <a:rPr kumimoji="0" sz="1000" b="0" i="0" u="none" strike="noStrike" kern="0" cap="none" spc="-70" normalizeH="0" baseline="0" noProof="0" dirty="0">
                <a:ln>
                  <a:noFill/>
                </a:ln>
                <a:solidFill>
                  <a:srgbClr val="004F9F"/>
                </a:solidFill>
                <a:effectLst/>
                <a:uLnTx/>
                <a:uFillTx/>
                <a:latin typeface="Arial Black"/>
                <a:ea typeface="+mn-ea"/>
                <a:cs typeface="Arial Black"/>
                <a:hlinkClick r:id="" action="ppaction://noaction"/>
              </a:rPr>
              <a:t>Security</a:t>
            </a:r>
            <a:r>
              <a:rPr kumimoji="0" sz="1000" b="0" i="0" u="none" strike="noStrike" kern="0" cap="none" spc="-40" normalizeH="0" baseline="0" noProof="0" dirty="0">
                <a:ln>
                  <a:noFill/>
                </a:ln>
                <a:solidFill>
                  <a:srgbClr val="004F9F"/>
                </a:solidFill>
                <a:effectLst/>
                <a:uLnTx/>
                <a:uFillTx/>
                <a:latin typeface="Arial Black"/>
                <a:ea typeface="+mn-ea"/>
                <a:cs typeface="Arial Black"/>
                <a:hlinkClick r:id="" action="ppaction://noaction"/>
              </a:rPr>
              <a:t> </a:t>
            </a:r>
            <a:r>
              <a:rPr kumimoji="0" sz="1000" b="0" i="0" u="none" strike="noStrike" kern="0" cap="none" spc="-55" normalizeH="0" baseline="0" noProof="0" dirty="0">
                <a:ln>
                  <a:noFill/>
                </a:ln>
                <a:solidFill>
                  <a:srgbClr val="004F9F"/>
                </a:solidFill>
                <a:effectLst/>
                <a:uLnTx/>
                <a:uFillTx/>
                <a:latin typeface="Arial Black"/>
                <a:ea typeface="+mn-ea"/>
                <a:cs typeface="Arial Black"/>
                <a:hlinkClick r:id="" action="ppaction://noaction"/>
              </a:rPr>
              <a:t>Officer</a:t>
            </a:r>
            <a:r>
              <a:rPr kumimoji="0" sz="1000" b="0" i="0" u="none" strike="noStrike" kern="0" cap="none" spc="-35" normalizeH="0" baseline="0" noProof="0" dirty="0">
                <a:ln>
                  <a:noFill/>
                </a:ln>
                <a:solidFill>
                  <a:srgbClr val="004F9F"/>
                </a:solidFill>
                <a:effectLst/>
                <a:uLnTx/>
                <a:uFillTx/>
                <a:latin typeface="Arial Black"/>
                <a:ea typeface="+mn-ea"/>
                <a:cs typeface="Arial Black"/>
                <a:hlinkClick r:id="" action="ppaction://noaction"/>
              </a:rPr>
              <a:t> </a:t>
            </a:r>
            <a:r>
              <a:rPr kumimoji="0" sz="1000" b="0" i="0" u="none" strike="noStrike" kern="0" cap="none" spc="-85" normalizeH="0" baseline="0" noProof="0" dirty="0">
                <a:ln>
                  <a:noFill/>
                </a:ln>
                <a:solidFill>
                  <a:srgbClr val="004F9F"/>
                </a:solidFill>
                <a:effectLst/>
                <a:uLnTx/>
                <a:uFillTx/>
                <a:latin typeface="Arial Black"/>
                <a:ea typeface="+mn-ea"/>
                <a:cs typeface="Arial Black"/>
                <a:hlinkClick r:id="" action="ppaction://noaction"/>
              </a:rPr>
              <a:t>(CISO)</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3" name="object 5">
            <a:extLst>
              <a:ext uri="{FF2B5EF4-FFF2-40B4-BE49-F238E27FC236}">
                <a16:creationId xmlns:a16="http://schemas.microsoft.com/office/drawing/2014/main" id="{1385FBFA-D8DE-9BF4-7B23-A2E9FCF948B3}"/>
              </a:ext>
            </a:extLst>
          </p:cNvPr>
          <p:cNvPicPr/>
          <p:nvPr/>
        </p:nvPicPr>
        <p:blipFill>
          <a:blip r:embed="rId3" cstate="print"/>
          <a:stretch>
            <a:fillRect/>
          </a:stretch>
        </p:blipFill>
        <p:spPr>
          <a:xfrm>
            <a:off x="912244" y="-1561954"/>
            <a:ext cx="635139" cy="951035"/>
          </a:xfrm>
          <a:prstGeom prst="rect">
            <a:avLst/>
          </a:prstGeom>
        </p:spPr>
      </p:pic>
      <p:pic>
        <p:nvPicPr>
          <p:cNvPr id="4" name="object 6">
            <a:extLst>
              <a:ext uri="{FF2B5EF4-FFF2-40B4-BE49-F238E27FC236}">
                <a16:creationId xmlns:a16="http://schemas.microsoft.com/office/drawing/2014/main" id="{A7A6BB68-565A-E54F-241E-85B10E136C88}"/>
              </a:ext>
            </a:extLst>
          </p:cNvPr>
          <p:cNvPicPr/>
          <p:nvPr/>
        </p:nvPicPr>
        <p:blipFill>
          <a:blip r:embed="rId4" cstate="print"/>
          <a:stretch>
            <a:fillRect/>
          </a:stretch>
        </p:blipFill>
        <p:spPr>
          <a:xfrm>
            <a:off x="2526627" y="-1596134"/>
            <a:ext cx="851375" cy="959551"/>
          </a:xfrm>
          <a:prstGeom prst="rect">
            <a:avLst/>
          </a:prstGeom>
        </p:spPr>
      </p:pic>
      <p:sp>
        <p:nvSpPr>
          <p:cNvPr id="5" name="object 7">
            <a:extLst>
              <a:ext uri="{FF2B5EF4-FFF2-40B4-BE49-F238E27FC236}">
                <a16:creationId xmlns:a16="http://schemas.microsoft.com/office/drawing/2014/main" id="{B5DE4BAE-43C5-BAFF-CB95-138BE0E26E55}"/>
              </a:ext>
            </a:extLst>
          </p:cNvPr>
          <p:cNvSpPr txBox="1"/>
          <p:nvPr/>
        </p:nvSpPr>
        <p:spPr>
          <a:xfrm>
            <a:off x="2485971" y="-562390"/>
            <a:ext cx="948055" cy="370205"/>
          </a:xfrm>
          <a:prstGeom prst="rect">
            <a:avLst/>
          </a:prstGeom>
        </p:spPr>
        <p:txBody>
          <a:bodyPr vert="horz" wrap="square" lIns="0" tIns="12700" rIns="0" bIns="0" rtlCol="0">
            <a:spAutoFit/>
          </a:bodyPr>
          <a:lstStyle/>
          <a:p>
            <a:pPr marL="133985" marR="5080" lvl="0" indent="-121920" algn="l"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CA0438"/>
                </a:solidFill>
                <a:effectLst/>
                <a:uLnTx/>
                <a:uFillTx/>
                <a:latin typeface="Arial Black"/>
                <a:ea typeface="+mn-ea"/>
                <a:cs typeface="Arial Black"/>
                <a:hlinkClick r:id="" action="ppaction://noaction"/>
              </a:rPr>
              <a:t>Cyber</a:t>
            </a:r>
            <a:r>
              <a:rPr kumimoji="0" sz="1000" b="0" i="0" u="none" strike="noStrike" kern="0" cap="none" spc="-55" normalizeH="0" baseline="0" noProof="0" dirty="0">
                <a:ln>
                  <a:noFill/>
                </a:ln>
                <a:solidFill>
                  <a:srgbClr val="CA0438"/>
                </a:solidFill>
                <a:effectLst/>
                <a:uLnTx/>
                <a:uFillTx/>
                <a:latin typeface="Arial Black"/>
                <a:ea typeface="+mn-ea"/>
                <a:cs typeface="Arial Black"/>
                <a:hlinkClick r:id="" action="ppaction://noaction"/>
              </a:rPr>
              <a:t> Incident </a:t>
            </a:r>
            <a:r>
              <a:rPr kumimoji="0" sz="1000" b="0" i="0" u="none" strike="noStrike" kern="0" cap="none" spc="-10" normalizeH="0" baseline="0" noProof="0" dirty="0">
                <a:ln>
                  <a:noFill/>
                </a:ln>
                <a:solidFill>
                  <a:srgbClr val="CA0438"/>
                </a:solidFill>
                <a:effectLst/>
                <a:uLnTx/>
                <a:uFillTx/>
                <a:latin typeface="Arial Black"/>
                <a:ea typeface="+mn-ea"/>
                <a:cs typeface="Arial Black"/>
                <a:hlinkClick r:id="" action="ppaction://noaction"/>
              </a:rPr>
              <a:t>Responder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sp>
        <p:nvSpPr>
          <p:cNvPr id="6" name="object 8">
            <a:extLst>
              <a:ext uri="{FF2B5EF4-FFF2-40B4-BE49-F238E27FC236}">
                <a16:creationId xmlns:a16="http://schemas.microsoft.com/office/drawing/2014/main" id="{A0DDDEAC-CE62-4DF9-4A7C-A58CCDB191E0}"/>
              </a:ext>
            </a:extLst>
          </p:cNvPr>
          <p:cNvSpPr txBox="1"/>
          <p:nvPr/>
        </p:nvSpPr>
        <p:spPr>
          <a:xfrm>
            <a:off x="4212916" y="-562390"/>
            <a:ext cx="1473200" cy="370205"/>
          </a:xfrm>
          <a:prstGeom prst="rect">
            <a:avLst/>
          </a:prstGeom>
        </p:spPr>
        <p:txBody>
          <a:bodyPr vert="horz" wrap="square" lIns="0" tIns="12700" rIns="0" bIns="0" rtlCol="0">
            <a:spAutoFit/>
          </a:bodyPr>
          <a:lstStyle/>
          <a:p>
            <a:pPr marL="131445" marR="5080" lvl="0" indent="-119380" algn="l"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004F9F"/>
                </a:solidFill>
                <a:effectLst/>
                <a:uLnTx/>
                <a:uFillTx/>
                <a:latin typeface="Arial Black"/>
                <a:ea typeface="+mn-ea"/>
                <a:cs typeface="Arial Black"/>
                <a:hlinkClick r:id="" action="ppaction://noaction"/>
              </a:rPr>
              <a:t>Cyber</a:t>
            </a:r>
            <a:r>
              <a:rPr kumimoji="0" sz="1000" b="0" i="0" u="none" strike="noStrike" kern="0" cap="none" spc="-40" normalizeH="0" baseline="0" noProof="0" dirty="0">
                <a:ln>
                  <a:noFill/>
                </a:ln>
                <a:solidFill>
                  <a:srgbClr val="004F9F"/>
                </a:solidFill>
                <a:effectLst/>
                <a:uLnTx/>
                <a:uFillTx/>
                <a:latin typeface="Arial Black"/>
                <a:ea typeface="+mn-ea"/>
                <a:cs typeface="Arial Black"/>
                <a:hlinkClick r:id="" action="ppaction://noaction"/>
              </a:rPr>
              <a:t> </a:t>
            </a:r>
            <a:r>
              <a:rPr kumimoji="0" sz="1000" b="0" i="0" u="none" strike="noStrike" kern="0" cap="none" spc="-85" normalizeH="0" baseline="0" noProof="0" dirty="0">
                <a:ln>
                  <a:noFill/>
                </a:ln>
                <a:solidFill>
                  <a:srgbClr val="004F9F"/>
                </a:solidFill>
                <a:effectLst/>
                <a:uLnTx/>
                <a:uFillTx/>
                <a:latin typeface="Arial Black"/>
                <a:ea typeface="+mn-ea"/>
                <a:cs typeface="Arial Black"/>
                <a:hlinkClick r:id="" action="ppaction://noaction"/>
              </a:rPr>
              <a:t>Legal,</a:t>
            </a:r>
            <a:r>
              <a:rPr kumimoji="0" sz="1000" b="0" i="0" u="none" strike="noStrike" kern="0" cap="none" spc="-45" normalizeH="0" baseline="0" noProof="0" dirty="0">
                <a:ln>
                  <a:noFill/>
                </a:ln>
                <a:solidFill>
                  <a:srgbClr val="004F9F"/>
                </a:solidFill>
                <a:effectLst/>
                <a:uLnTx/>
                <a:uFillTx/>
                <a:latin typeface="Arial Black"/>
                <a:ea typeface="+mn-ea"/>
                <a:cs typeface="Arial Black"/>
                <a:hlinkClick r:id="" action="ppaction://noaction"/>
              </a:rPr>
              <a:t> </a:t>
            </a:r>
            <a:r>
              <a:rPr kumimoji="0" sz="1000" b="0" i="0" u="none" strike="noStrike" kern="0" cap="none" spc="-75" normalizeH="0" baseline="0" noProof="0" dirty="0">
                <a:ln>
                  <a:noFill/>
                </a:ln>
                <a:solidFill>
                  <a:srgbClr val="004F9F"/>
                </a:solidFill>
                <a:effectLst/>
                <a:uLnTx/>
                <a:uFillTx/>
                <a:latin typeface="Arial Black"/>
                <a:ea typeface="+mn-ea"/>
                <a:cs typeface="Arial Black"/>
                <a:hlinkClick r:id="" action="ppaction://noaction"/>
              </a:rPr>
              <a:t>Policy</a:t>
            </a:r>
            <a:r>
              <a:rPr kumimoji="0" sz="1000" b="0" i="0" u="none" strike="noStrike" kern="0" cap="none" spc="-40" normalizeH="0" baseline="0" noProof="0" dirty="0">
                <a:ln>
                  <a:noFill/>
                </a:ln>
                <a:solidFill>
                  <a:srgbClr val="004F9F"/>
                </a:solidFill>
                <a:effectLst/>
                <a:uLnTx/>
                <a:uFillTx/>
                <a:latin typeface="Arial Black"/>
                <a:ea typeface="+mn-ea"/>
                <a:cs typeface="Arial Black"/>
                <a:hlinkClick r:id="" action="ppaction://noaction"/>
              </a:rPr>
              <a:t> </a:t>
            </a:r>
            <a:r>
              <a:rPr kumimoji="0" sz="1000" b="0" i="0" u="none" strike="noStrike" kern="0" cap="none" spc="-25" normalizeH="0" baseline="0" noProof="0" dirty="0">
                <a:ln>
                  <a:noFill/>
                </a:ln>
                <a:solidFill>
                  <a:srgbClr val="004F9F"/>
                </a:solidFill>
                <a:effectLst/>
                <a:uLnTx/>
                <a:uFillTx/>
                <a:latin typeface="Arial Black"/>
                <a:ea typeface="+mn-ea"/>
                <a:cs typeface="Arial Black"/>
                <a:hlinkClick r:id="" action="ppaction://noaction"/>
              </a:rPr>
              <a:t>and </a:t>
            </a:r>
            <a:r>
              <a:rPr kumimoji="0" sz="1000" b="0" i="0" u="none" strike="noStrike" kern="0" cap="none" spc="-70" normalizeH="0" baseline="0" noProof="0" dirty="0">
                <a:ln>
                  <a:noFill/>
                </a:ln>
                <a:solidFill>
                  <a:srgbClr val="004F9F"/>
                </a:solidFill>
                <a:effectLst/>
                <a:uLnTx/>
                <a:uFillTx/>
                <a:latin typeface="Arial Black"/>
                <a:ea typeface="+mn-ea"/>
                <a:cs typeface="Arial Black"/>
                <a:hlinkClick r:id="" action="ppaction://noaction"/>
              </a:rPr>
              <a:t>Compliance</a:t>
            </a:r>
            <a:r>
              <a:rPr kumimoji="0" sz="1000" b="0" i="0" u="none" strike="noStrike" kern="0" cap="none" spc="-15" normalizeH="0" baseline="0" noProof="0" dirty="0">
                <a:ln>
                  <a:noFill/>
                </a:ln>
                <a:solidFill>
                  <a:srgbClr val="004F9F"/>
                </a:solidFill>
                <a:effectLst/>
                <a:uLnTx/>
                <a:uFillTx/>
                <a:latin typeface="Arial Black"/>
                <a:ea typeface="+mn-ea"/>
                <a:cs typeface="Arial Black"/>
                <a:hlinkClick r:id="" action="ppaction://noaction"/>
              </a:rPr>
              <a:t> </a:t>
            </a:r>
            <a:r>
              <a:rPr kumimoji="0" sz="1000" b="0" i="0" u="none" strike="noStrike" kern="0" cap="none" spc="-10" normalizeH="0" baseline="0" noProof="0" dirty="0">
                <a:ln>
                  <a:noFill/>
                </a:ln>
                <a:solidFill>
                  <a:srgbClr val="004F9F"/>
                </a:solidFill>
                <a:effectLst/>
                <a:uLnTx/>
                <a:uFillTx/>
                <a:latin typeface="Arial Black"/>
                <a:ea typeface="+mn-ea"/>
                <a:cs typeface="Arial Black"/>
                <a:hlinkClick r:id="" action="ppaction://noaction"/>
              </a:rPr>
              <a:t>Officer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7" name="object 9">
            <a:extLst>
              <a:ext uri="{FF2B5EF4-FFF2-40B4-BE49-F238E27FC236}">
                <a16:creationId xmlns:a16="http://schemas.microsoft.com/office/drawing/2014/main" id="{B2D0B489-F206-0F1A-83AB-6FB8CDE6D116}"/>
              </a:ext>
            </a:extLst>
          </p:cNvPr>
          <p:cNvPicPr/>
          <p:nvPr/>
        </p:nvPicPr>
        <p:blipFill>
          <a:blip r:embed="rId5" cstate="print"/>
          <a:stretch>
            <a:fillRect/>
          </a:stretch>
        </p:blipFill>
        <p:spPr>
          <a:xfrm>
            <a:off x="4314781" y="-1561889"/>
            <a:ext cx="1289636" cy="891202"/>
          </a:xfrm>
          <a:prstGeom prst="rect">
            <a:avLst/>
          </a:prstGeom>
        </p:spPr>
      </p:pic>
      <p:pic>
        <p:nvPicPr>
          <p:cNvPr id="8" name="object 10">
            <a:extLst>
              <a:ext uri="{FF2B5EF4-FFF2-40B4-BE49-F238E27FC236}">
                <a16:creationId xmlns:a16="http://schemas.microsoft.com/office/drawing/2014/main" id="{114A6E89-5772-77EB-4539-03F8087A4B97}"/>
              </a:ext>
            </a:extLst>
          </p:cNvPr>
          <p:cNvPicPr/>
          <p:nvPr/>
        </p:nvPicPr>
        <p:blipFill>
          <a:blip r:embed="rId6" cstate="print"/>
          <a:stretch>
            <a:fillRect/>
          </a:stretch>
        </p:blipFill>
        <p:spPr>
          <a:xfrm>
            <a:off x="6439096" y="-1639880"/>
            <a:ext cx="971871" cy="1128754"/>
          </a:xfrm>
          <a:prstGeom prst="rect">
            <a:avLst/>
          </a:prstGeom>
        </p:spPr>
      </p:pic>
      <p:sp>
        <p:nvSpPr>
          <p:cNvPr id="9" name="object 11">
            <a:extLst>
              <a:ext uri="{FF2B5EF4-FFF2-40B4-BE49-F238E27FC236}">
                <a16:creationId xmlns:a16="http://schemas.microsoft.com/office/drawing/2014/main" id="{73EB1E3A-BC14-C935-E801-8CEF859CF16C}"/>
              </a:ext>
            </a:extLst>
          </p:cNvPr>
          <p:cNvSpPr txBox="1"/>
          <p:nvPr/>
        </p:nvSpPr>
        <p:spPr>
          <a:xfrm>
            <a:off x="6214778" y="-523388"/>
            <a:ext cx="1400175" cy="370205"/>
          </a:xfrm>
          <a:prstGeom prst="rect">
            <a:avLst/>
          </a:prstGeom>
        </p:spPr>
        <p:txBody>
          <a:bodyPr vert="horz" wrap="square" lIns="0" tIns="12700" rIns="0" bIns="0" rtlCol="0">
            <a:spAutoFit/>
          </a:bodyPr>
          <a:lstStyle/>
          <a:p>
            <a:pPr marL="12700" marR="5080" lvl="0" indent="278765" algn="l"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F8B133"/>
                </a:solidFill>
                <a:effectLst/>
                <a:uLnTx/>
                <a:uFillTx/>
                <a:latin typeface="Arial Black"/>
                <a:ea typeface="+mn-ea"/>
                <a:cs typeface="Arial Black"/>
                <a:hlinkClick r:id="" action="ppaction://noaction"/>
              </a:rPr>
              <a:t>Cyber</a:t>
            </a:r>
            <a:r>
              <a:rPr kumimoji="0" sz="1000" b="0" i="0" u="none" strike="noStrike" kern="0" cap="none" spc="-55" normalizeH="0" baseline="0" noProof="0" dirty="0">
                <a:ln>
                  <a:noFill/>
                </a:ln>
                <a:solidFill>
                  <a:srgbClr val="F8B133"/>
                </a:solidFill>
                <a:effectLst/>
                <a:uLnTx/>
                <a:uFillTx/>
                <a:latin typeface="Arial Black"/>
                <a:ea typeface="+mn-ea"/>
                <a:cs typeface="Arial Black"/>
                <a:hlinkClick r:id="" action="ppaction://noaction"/>
              </a:rPr>
              <a:t> </a:t>
            </a:r>
            <a:r>
              <a:rPr kumimoji="0" sz="1000" b="0" i="0" u="none" strike="noStrike" kern="0" cap="none" spc="-10" normalizeH="0" baseline="0" noProof="0" dirty="0">
                <a:ln>
                  <a:noFill/>
                </a:ln>
                <a:solidFill>
                  <a:srgbClr val="F8B133"/>
                </a:solidFill>
                <a:effectLst/>
                <a:uLnTx/>
                <a:uFillTx/>
                <a:latin typeface="Arial Black"/>
                <a:ea typeface="+mn-ea"/>
                <a:cs typeface="Arial Black"/>
                <a:hlinkClick r:id="" action="ppaction://noaction"/>
              </a:rPr>
              <a:t>Threat </a:t>
            </a:r>
            <a:r>
              <a:rPr kumimoji="0" sz="1000" b="0" i="0" u="none" strike="noStrike" kern="0" cap="none" spc="-70" normalizeH="0" baseline="0" noProof="0" dirty="0">
                <a:ln>
                  <a:noFill/>
                </a:ln>
                <a:solidFill>
                  <a:srgbClr val="F8B133"/>
                </a:solidFill>
                <a:effectLst/>
                <a:uLnTx/>
                <a:uFillTx/>
                <a:latin typeface="Arial Black"/>
                <a:ea typeface="+mn-ea"/>
                <a:cs typeface="Arial Black"/>
                <a:hlinkClick r:id="" action="ppaction://noaction"/>
              </a:rPr>
              <a:t>Intelligence</a:t>
            </a:r>
            <a:r>
              <a:rPr kumimoji="0" sz="1000" b="0" i="0" u="none" strike="noStrike" kern="0" cap="none" spc="25" normalizeH="0" baseline="0" noProof="0" dirty="0">
                <a:ln>
                  <a:noFill/>
                </a:ln>
                <a:solidFill>
                  <a:srgbClr val="F8B133"/>
                </a:solidFill>
                <a:effectLst/>
                <a:uLnTx/>
                <a:uFillTx/>
                <a:latin typeface="Arial Black"/>
                <a:ea typeface="+mn-ea"/>
                <a:cs typeface="Arial Black"/>
                <a:hlinkClick r:id="" action="ppaction://noaction"/>
              </a:rPr>
              <a:t> </a:t>
            </a:r>
            <a:r>
              <a:rPr kumimoji="0" sz="1000" b="0" i="0" u="none" strike="noStrike" kern="0" cap="none" spc="-75" normalizeH="0" baseline="0" noProof="0" dirty="0">
                <a:ln>
                  <a:noFill/>
                </a:ln>
                <a:solidFill>
                  <a:srgbClr val="F8B133"/>
                </a:solidFill>
                <a:effectLst/>
                <a:uLnTx/>
                <a:uFillTx/>
                <a:latin typeface="Arial Black"/>
                <a:ea typeface="+mn-ea"/>
                <a:cs typeface="Arial Black"/>
                <a:hlinkClick r:id="" action="ppaction://noaction"/>
              </a:rPr>
              <a:t>Specialist</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10" name="object 12">
            <a:extLst>
              <a:ext uri="{FF2B5EF4-FFF2-40B4-BE49-F238E27FC236}">
                <a16:creationId xmlns:a16="http://schemas.microsoft.com/office/drawing/2014/main" id="{8D768348-48E1-8A42-430D-9BB92D3981F5}"/>
              </a:ext>
            </a:extLst>
          </p:cNvPr>
          <p:cNvPicPr/>
          <p:nvPr/>
        </p:nvPicPr>
        <p:blipFill>
          <a:blip r:embed="rId7" cstate="print"/>
          <a:stretch>
            <a:fillRect/>
          </a:stretch>
        </p:blipFill>
        <p:spPr>
          <a:xfrm>
            <a:off x="8368905" y="-1596134"/>
            <a:ext cx="1051705" cy="1025630"/>
          </a:xfrm>
          <a:prstGeom prst="rect">
            <a:avLst/>
          </a:prstGeom>
        </p:spPr>
      </p:pic>
      <p:sp>
        <p:nvSpPr>
          <p:cNvPr id="11" name="object 13">
            <a:extLst>
              <a:ext uri="{FF2B5EF4-FFF2-40B4-BE49-F238E27FC236}">
                <a16:creationId xmlns:a16="http://schemas.microsoft.com/office/drawing/2014/main" id="{A2E1F062-2DF4-589F-F211-95644C5A2CD6}"/>
              </a:ext>
            </a:extLst>
          </p:cNvPr>
          <p:cNvSpPr txBox="1"/>
          <p:nvPr/>
        </p:nvSpPr>
        <p:spPr>
          <a:xfrm>
            <a:off x="8455388" y="-503576"/>
            <a:ext cx="900430" cy="373380"/>
          </a:xfrm>
          <a:prstGeom prst="rect">
            <a:avLst/>
          </a:prstGeom>
        </p:spPr>
        <p:txBody>
          <a:bodyPr vert="horz" wrap="square" lIns="0" tIns="12700" rIns="0" bIns="0" rtlCol="0">
            <a:spAutoFit/>
          </a:bodyPr>
          <a:lstStyle/>
          <a:p>
            <a:pPr marL="157480" marR="5080" lvl="0" indent="-14478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94C11F"/>
                </a:solidFill>
                <a:effectLst/>
                <a:uLnTx/>
                <a:uFillTx/>
                <a:latin typeface="Arial Black"/>
                <a:ea typeface="+mn-ea"/>
                <a:cs typeface="Arial Black"/>
                <a:hlinkClick r:id="" action="ppaction://noaction"/>
              </a:rPr>
              <a:t>Cybersecurity </a:t>
            </a:r>
            <a:r>
              <a:rPr kumimoji="0" sz="1000" b="0" i="0" u="none" strike="noStrike" kern="0" cap="none" spc="-10" normalizeH="0" baseline="0" noProof="0" dirty="0">
                <a:ln>
                  <a:noFill/>
                </a:ln>
                <a:solidFill>
                  <a:srgbClr val="94C11F"/>
                </a:solidFill>
                <a:effectLst/>
                <a:uLnTx/>
                <a:uFillTx/>
                <a:latin typeface="Arial Black"/>
                <a:ea typeface="+mn-ea"/>
                <a:cs typeface="Arial Black"/>
                <a:hlinkClick r:id="" action="ppaction://noaction"/>
              </a:rPr>
              <a:t>Architect</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12" name="object 14">
            <a:extLst>
              <a:ext uri="{FF2B5EF4-FFF2-40B4-BE49-F238E27FC236}">
                <a16:creationId xmlns:a16="http://schemas.microsoft.com/office/drawing/2014/main" id="{238A11A3-60DD-B0FF-4416-BAF603A86F51}"/>
              </a:ext>
            </a:extLst>
          </p:cNvPr>
          <p:cNvPicPr/>
          <p:nvPr/>
        </p:nvPicPr>
        <p:blipFill>
          <a:blip r:embed="rId8" cstate="print"/>
          <a:stretch>
            <a:fillRect/>
          </a:stretch>
        </p:blipFill>
        <p:spPr>
          <a:xfrm>
            <a:off x="10251294" y="-1573947"/>
            <a:ext cx="1214443" cy="1013287"/>
          </a:xfrm>
          <a:prstGeom prst="rect">
            <a:avLst/>
          </a:prstGeom>
        </p:spPr>
      </p:pic>
      <p:sp>
        <p:nvSpPr>
          <p:cNvPr id="13" name="object 15">
            <a:extLst>
              <a:ext uri="{FF2B5EF4-FFF2-40B4-BE49-F238E27FC236}">
                <a16:creationId xmlns:a16="http://schemas.microsoft.com/office/drawing/2014/main" id="{9EAF4F7D-6C9A-7E8E-D5E8-E2B6B735B723}"/>
              </a:ext>
            </a:extLst>
          </p:cNvPr>
          <p:cNvSpPr txBox="1"/>
          <p:nvPr/>
        </p:nvSpPr>
        <p:spPr>
          <a:xfrm>
            <a:off x="10444462" y="-491384"/>
            <a:ext cx="900430" cy="370205"/>
          </a:xfrm>
          <a:prstGeom prst="rect">
            <a:avLst/>
          </a:prstGeom>
        </p:spPr>
        <p:txBody>
          <a:bodyPr vert="horz" wrap="square" lIns="0" tIns="12700" rIns="0" bIns="0" rtlCol="0">
            <a:spAutoFit/>
          </a:bodyPr>
          <a:lstStyle/>
          <a:p>
            <a:pPr marL="210820" marR="5080" lvl="0" indent="-198120" algn="l" defTabSz="914400" rtl="0" eaLnBrk="1" fontAlgn="auto" latinLnBrk="0" hangingPunct="1">
              <a:lnSpc>
                <a:spcPct val="112999"/>
              </a:lnSpc>
              <a:spcBef>
                <a:spcPts val="100"/>
              </a:spcBef>
              <a:spcAft>
                <a:spcPts val="0"/>
              </a:spcAft>
              <a:buClrTx/>
              <a:buSzTx/>
              <a:buFontTx/>
              <a:buNone/>
              <a:tabLst/>
              <a:defRPr/>
            </a:pPr>
            <a:r>
              <a:rPr kumimoji="0" sz="1000" b="0" i="0" u="none" strike="noStrike" kern="0" cap="none" spc="-65" normalizeH="0" baseline="0" noProof="0" dirty="0">
                <a:ln>
                  <a:noFill/>
                </a:ln>
                <a:solidFill>
                  <a:srgbClr val="F8B133"/>
                </a:solidFill>
                <a:effectLst/>
                <a:uLnTx/>
                <a:uFillTx/>
                <a:latin typeface="Arial Black"/>
                <a:ea typeface="+mn-ea"/>
                <a:cs typeface="Arial Black"/>
                <a:hlinkClick r:id="" action="ppaction://noaction"/>
              </a:rPr>
              <a:t>Cybersecurity </a:t>
            </a:r>
            <a:r>
              <a:rPr kumimoji="0" sz="1000" b="0" i="0" u="none" strike="noStrike" kern="0" cap="none" spc="-10" normalizeH="0" baseline="0" noProof="0" dirty="0">
                <a:ln>
                  <a:noFill/>
                </a:ln>
                <a:solidFill>
                  <a:srgbClr val="F8B133"/>
                </a:solidFill>
                <a:effectLst/>
                <a:uLnTx/>
                <a:uFillTx/>
                <a:latin typeface="Arial Black"/>
                <a:ea typeface="+mn-ea"/>
                <a:cs typeface="Arial Black"/>
                <a:hlinkClick r:id="" action="ppaction://noaction"/>
              </a:rPr>
              <a:t>Auditor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sp>
        <p:nvSpPr>
          <p:cNvPr id="14" name="object 16">
            <a:extLst>
              <a:ext uri="{FF2B5EF4-FFF2-40B4-BE49-F238E27FC236}">
                <a16:creationId xmlns:a16="http://schemas.microsoft.com/office/drawing/2014/main" id="{9AC00426-B53E-85E9-59DF-FB25F3338B62}"/>
              </a:ext>
            </a:extLst>
          </p:cNvPr>
          <p:cNvSpPr txBox="1"/>
          <p:nvPr/>
        </p:nvSpPr>
        <p:spPr>
          <a:xfrm>
            <a:off x="865659" y="8217475"/>
            <a:ext cx="900430" cy="373380"/>
          </a:xfrm>
          <a:prstGeom prst="rect">
            <a:avLst/>
          </a:prstGeom>
        </p:spPr>
        <p:txBody>
          <a:bodyPr vert="horz" wrap="square" lIns="0" tIns="12700" rIns="0" bIns="0" rtlCol="0">
            <a:spAutoFit/>
          </a:bodyPr>
          <a:lstStyle/>
          <a:p>
            <a:pPr marL="165100" marR="5080" lvl="0" indent="-15240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94C11F"/>
                </a:solidFill>
                <a:effectLst/>
                <a:uLnTx/>
                <a:uFillTx/>
                <a:latin typeface="Arial Black"/>
                <a:ea typeface="+mn-ea"/>
                <a:cs typeface="Arial Black"/>
                <a:hlinkClick r:id="" action="ppaction://noaction"/>
              </a:rPr>
              <a:t>Cybersecurity </a:t>
            </a:r>
            <a:r>
              <a:rPr kumimoji="0" sz="1000" b="0" i="0" u="none" strike="noStrike" kern="0" cap="none" spc="-10" normalizeH="0" baseline="0" noProof="0" dirty="0">
                <a:ln>
                  <a:noFill/>
                </a:ln>
                <a:solidFill>
                  <a:srgbClr val="94C11F"/>
                </a:solidFill>
                <a:effectLst/>
                <a:uLnTx/>
                <a:uFillTx/>
                <a:latin typeface="Arial Black"/>
                <a:ea typeface="+mn-ea"/>
                <a:cs typeface="Arial Black"/>
                <a:hlinkClick r:id="" action="ppaction://noaction"/>
              </a:rPr>
              <a:t>Educator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15" name="object 17">
            <a:extLst>
              <a:ext uri="{FF2B5EF4-FFF2-40B4-BE49-F238E27FC236}">
                <a16:creationId xmlns:a16="http://schemas.microsoft.com/office/drawing/2014/main" id="{F4F870B9-7A74-2A55-064C-04844AC34C87}"/>
              </a:ext>
            </a:extLst>
          </p:cNvPr>
          <p:cNvPicPr/>
          <p:nvPr/>
        </p:nvPicPr>
        <p:blipFill>
          <a:blip r:embed="rId9" cstate="print"/>
          <a:stretch>
            <a:fillRect/>
          </a:stretch>
        </p:blipFill>
        <p:spPr>
          <a:xfrm>
            <a:off x="770420" y="7256338"/>
            <a:ext cx="1089458" cy="768000"/>
          </a:xfrm>
          <a:prstGeom prst="rect">
            <a:avLst/>
          </a:prstGeom>
        </p:spPr>
      </p:pic>
      <p:sp>
        <p:nvSpPr>
          <p:cNvPr id="16" name="object 18">
            <a:extLst>
              <a:ext uri="{FF2B5EF4-FFF2-40B4-BE49-F238E27FC236}">
                <a16:creationId xmlns:a16="http://schemas.microsoft.com/office/drawing/2014/main" id="{CAF85054-C49B-EEEF-0AE7-1F9F2ED1262D}"/>
              </a:ext>
            </a:extLst>
          </p:cNvPr>
          <p:cNvSpPr txBox="1"/>
          <p:nvPr/>
        </p:nvSpPr>
        <p:spPr>
          <a:xfrm>
            <a:off x="2854859" y="8217475"/>
            <a:ext cx="900430" cy="373380"/>
          </a:xfrm>
          <a:prstGeom prst="rect">
            <a:avLst/>
          </a:prstGeom>
        </p:spPr>
        <p:txBody>
          <a:bodyPr vert="horz" wrap="square" lIns="0" tIns="12700" rIns="0" bIns="0" rtlCol="0">
            <a:spAutoFit/>
          </a:bodyPr>
          <a:lstStyle/>
          <a:p>
            <a:pPr marL="33655" marR="5080" lvl="0" indent="-2159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004F9F"/>
                </a:solidFill>
                <a:effectLst/>
                <a:uLnTx/>
                <a:uFillTx/>
                <a:latin typeface="Arial Black"/>
                <a:ea typeface="+mn-ea"/>
                <a:cs typeface="Arial Black"/>
                <a:hlinkClick r:id="" action="ppaction://noaction"/>
              </a:rPr>
              <a:t>Cybersecurity </a:t>
            </a:r>
            <a:r>
              <a:rPr kumimoji="0" sz="1000" b="0" i="0" u="none" strike="noStrike" kern="0" cap="none" spc="-30" normalizeH="0" baseline="0" noProof="0" dirty="0">
                <a:ln>
                  <a:noFill/>
                </a:ln>
                <a:solidFill>
                  <a:srgbClr val="004F9F"/>
                </a:solidFill>
                <a:effectLst/>
                <a:uLnTx/>
                <a:uFillTx/>
                <a:latin typeface="Arial Black"/>
                <a:ea typeface="+mn-ea"/>
                <a:cs typeface="Arial Black"/>
                <a:hlinkClick r:id="" action="ppaction://noaction"/>
              </a:rPr>
              <a:t>Implementer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17" name="object 19">
            <a:extLst>
              <a:ext uri="{FF2B5EF4-FFF2-40B4-BE49-F238E27FC236}">
                <a16:creationId xmlns:a16="http://schemas.microsoft.com/office/drawing/2014/main" id="{31C5191C-94E6-5C67-8D11-D0C0934CADA8}"/>
              </a:ext>
            </a:extLst>
          </p:cNvPr>
          <p:cNvPicPr/>
          <p:nvPr/>
        </p:nvPicPr>
        <p:blipFill>
          <a:blip r:embed="rId10" cstate="print"/>
          <a:stretch>
            <a:fillRect/>
          </a:stretch>
        </p:blipFill>
        <p:spPr>
          <a:xfrm>
            <a:off x="2791530" y="7225308"/>
            <a:ext cx="1014008" cy="835570"/>
          </a:xfrm>
          <a:prstGeom prst="rect">
            <a:avLst/>
          </a:prstGeom>
        </p:spPr>
      </p:pic>
      <p:pic>
        <p:nvPicPr>
          <p:cNvPr id="18" name="object 20">
            <a:extLst>
              <a:ext uri="{FF2B5EF4-FFF2-40B4-BE49-F238E27FC236}">
                <a16:creationId xmlns:a16="http://schemas.microsoft.com/office/drawing/2014/main" id="{E8797FCD-BBF1-BBEB-6231-640021891D58}"/>
              </a:ext>
            </a:extLst>
          </p:cNvPr>
          <p:cNvPicPr/>
          <p:nvPr/>
        </p:nvPicPr>
        <p:blipFill>
          <a:blip r:embed="rId11" cstate="print"/>
          <a:stretch>
            <a:fillRect/>
          </a:stretch>
        </p:blipFill>
        <p:spPr>
          <a:xfrm>
            <a:off x="4873770" y="7224995"/>
            <a:ext cx="831765" cy="819817"/>
          </a:xfrm>
          <a:prstGeom prst="rect">
            <a:avLst/>
          </a:prstGeom>
        </p:spPr>
      </p:pic>
      <p:sp>
        <p:nvSpPr>
          <p:cNvPr id="19" name="object 21">
            <a:extLst>
              <a:ext uri="{FF2B5EF4-FFF2-40B4-BE49-F238E27FC236}">
                <a16:creationId xmlns:a16="http://schemas.microsoft.com/office/drawing/2014/main" id="{697C774F-033F-F1C8-242C-35D9F8019C86}"/>
              </a:ext>
            </a:extLst>
          </p:cNvPr>
          <p:cNvSpPr txBox="1"/>
          <p:nvPr/>
        </p:nvSpPr>
        <p:spPr>
          <a:xfrm>
            <a:off x="4845458" y="8203759"/>
            <a:ext cx="900430" cy="373380"/>
          </a:xfrm>
          <a:prstGeom prst="rect">
            <a:avLst/>
          </a:prstGeom>
        </p:spPr>
        <p:txBody>
          <a:bodyPr vert="horz" wrap="square" lIns="0" tIns="12700" rIns="0" bIns="0" rtlCol="0">
            <a:spAutoFit/>
          </a:bodyPr>
          <a:lstStyle/>
          <a:p>
            <a:pPr marL="93345" marR="5080" lvl="0" indent="-8128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94C11F"/>
                </a:solidFill>
                <a:effectLst/>
                <a:uLnTx/>
                <a:uFillTx/>
                <a:latin typeface="Arial Black"/>
                <a:ea typeface="+mn-ea"/>
                <a:cs typeface="Arial Black"/>
                <a:hlinkClick r:id="" action="ppaction://noaction"/>
              </a:rPr>
              <a:t>Cybersecurity </a:t>
            </a:r>
            <a:r>
              <a:rPr kumimoji="0" sz="1000" b="0" i="0" u="none" strike="noStrike" kern="0" cap="none" spc="-10" normalizeH="0" baseline="0" noProof="0" dirty="0">
                <a:ln>
                  <a:noFill/>
                </a:ln>
                <a:solidFill>
                  <a:srgbClr val="94C11F"/>
                </a:solidFill>
                <a:effectLst/>
                <a:uLnTx/>
                <a:uFillTx/>
                <a:latin typeface="Arial Black"/>
                <a:ea typeface="+mn-ea"/>
                <a:cs typeface="Arial Black"/>
                <a:hlinkClick r:id="" action="ppaction://noaction"/>
              </a:rPr>
              <a:t>Researcher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20" name="object 22">
            <a:extLst>
              <a:ext uri="{FF2B5EF4-FFF2-40B4-BE49-F238E27FC236}">
                <a16:creationId xmlns:a16="http://schemas.microsoft.com/office/drawing/2014/main" id="{DEE04450-29E8-0618-8F4A-25DDA88FAD58}"/>
              </a:ext>
            </a:extLst>
          </p:cNvPr>
          <p:cNvPicPr/>
          <p:nvPr/>
        </p:nvPicPr>
        <p:blipFill>
          <a:blip r:embed="rId12" cstate="print"/>
          <a:stretch>
            <a:fillRect/>
          </a:stretch>
        </p:blipFill>
        <p:spPr>
          <a:xfrm>
            <a:off x="6874951" y="7323809"/>
            <a:ext cx="898999" cy="755469"/>
          </a:xfrm>
          <a:prstGeom prst="rect">
            <a:avLst/>
          </a:prstGeom>
        </p:spPr>
      </p:pic>
      <p:sp>
        <p:nvSpPr>
          <p:cNvPr id="21" name="object 23">
            <a:extLst>
              <a:ext uri="{FF2B5EF4-FFF2-40B4-BE49-F238E27FC236}">
                <a16:creationId xmlns:a16="http://schemas.microsoft.com/office/drawing/2014/main" id="{20390946-A6C5-0E4B-AA19-7CA2DC314316}"/>
              </a:ext>
            </a:extLst>
          </p:cNvPr>
          <p:cNvSpPr txBox="1"/>
          <p:nvPr/>
        </p:nvSpPr>
        <p:spPr>
          <a:xfrm>
            <a:off x="6732891" y="8268542"/>
            <a:ext cx="1197610" cy="373380"/>
          </a:xfrm>
          <a:prstGeom prst="rect">
            <a:avLst/>
          </a:prstGeom>
        </p:spPr>
        <p:txBody>
          <a:bodyPr vert="horz" wrap="square" lIns="0" tIns="12700" rIns="0" bIns="0" rtlCol="0">
            <a:spAutoFit/>
          </a:bodyPr>
          <a:lstStyle/>
          <a:p>
            <a:pPr marL="318770" marR="5080" lvl="0" indent="-306705"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65" normalizeH="0" baseline="0" noProof="0" dirty="0">
                <a:ln>
                  <a:noFill/>
                </a:ln>
                <a:solidFill>
                  <a:srgbClr val="CA0438"/>
                </a:solidFill>
                <a:effectLst/>
                <a:uLnTx/>
                <a:uFillTx/>
                <a:latin typeface="Arial Black"/>
                <a:ea typeface="+mn-ea"/>
                <a:cs typeface="Arial Black"/>
                <a:hlinkClick r:id="" action="ppaction://noaction"/>
              </a:rPr>
              <a:t>Cybersecurity</a:t>
            </a:r>
            <a:r>
              <a:rPr kumimoji="0" sz="1000" b="0" i="0" u="none" strike="noStrike" kern="0" cap="none" spc="-15" normalizeH="0" baseline="0" noProof="0" dirty="0">
                <a:ln>
                  <a:noFill/>
                </a:ln>
                <a:solidFill>
                  <a:srgbClr val="CA0438"/>
                </a:solidFill>
                <a:effectLst/>
                <a:uLnTx/>
                <a:uFillTx/>
                <a:latin typeface="Arial Black"/>
                <a:ea typeface="+mn-ea"/>
                <a:cs typeface="Arial Black"/>
                <a:hlinkClick r:id="" action="ppaction://noaction"/>
              </a:rPr>
              <a:t> </a:t>
            </a:r>
            <a:r>
              <a:rPr kumimoji="0" sz="1000" b="0" i="0" u="none" strike="noStrike" kern="0" cap="none" spc="-80" normalizeH="0" baseline="0" noProof="0" dirty="0">
                <a:ln>
                  <a:noFill/>
                </a:ln>
                <a:solidFill>
                  <a:srgbClr val="CA0438"/>
                </a:solidFill>
                <a:effectLst/>
                <a:uLnTx/>
                <a:uFillTx/>
                <a:latin typeface="Arial Black"/>
                <a:ea typeface="+mn-ea"/>
                <a:cs typeface="Arial Black"/>
                <a:hlinkClick r:id="" action="ppaction://noaction"/>
              </a:rPr>
              <a:t>Risk </a:t>
            </a:r>
            <a:r>
              <a:rPr kumimoji="0" sz="1000" b="0" i="0" u="none" strike="noStrike" kern="0" cap="none" spc="-10" normalizeH="0" baseline="0" noProof="0" dirty="0">
                <a:ln>
                  <a:noFill/>
                </a:ln>
                <a:solidFill>
                  <a:srgbClr val="CA0438"/>
                </a:solidFill>
                <a:effectLst/>
                <a:uLnTx/>
                <a:uFillTx/>
                <a:latin typeface="Arial Black"/>
                <a:ea typeface="+mn-ea"/>
                <a:cs typeface="Arial Black"/>
                <a:hlinkClick r:id="" action="ppaction://noaction"/>
              </a:rPr>
              <a:t>Manager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22" name="object 24">
            <a:extLst>
              <a:ext uri="{FF2B5EF4-FFF2-40B4-BE49-F238E27FC236}">
                <a16:creationId xmlns:a16="http://schemas.microsoft.com/office/drawing/2014/main" id="{66D46AA3-992D-907D-5FCF-37DB0F9BB9BF}"/>
              </a:ext>
            </a:extLst>
          </p:cNvPr>
          <p:cNvPicPr/>
          <p:nvPr/>
        </p:nvPicPr>
        <p:blipFill>
          <a:blip r:embed="rId13" cstate="print"/>
          <a:stretch>
            <a:fillRect/>
          </a:stretch>
        </p:blipFill>
        <p:spPr>
          <a:xfrm>
            <a:off x="8693841" y="7302051"/>
            <a:ext cx="1194513" cy="802980"/>
          </a:xfrm>
          <a:prstGeom prst="rect">
            <a:avLst/>
          </a:prstGeom>
        </p:spPr>
      </p:pic>
      <p:sp>
        <p:nvSpPr>
          <p:cNvPr id="23" name="object 25">
            <a:extLst>
              <a:ext uri="{FF2B5EF4-FFF2-40B4-BE49-F238E27FC236}">
                <a16:creationId xmlns:a16="http://schemas.microsoft.com/office/drawing/2014/main" id="{9FC2EFF5-41BC-1799-EAA1-B95BD63794F5}"/>
              </a:ext>
            </a:extLst>
          </p:cNvPr>
          <p:cNvSpPr txBox="1"/>
          <p:nvPr/>
        </p:nvSpPr>
        <p:spPr>
          <a:xfrm>
            <a:off x="8787574" y="8268542"/>
            <a:ext cx="1065530" cy="373380"/>
          </a:xfrm>
          <a:prstGeom prst="rect">
            <a:avLst/>
          </a:prstGeom>
        </p:spPr>
        <p:txBody>
          <a:bodyPr vert="horz" wrap="square" lIns="0" tIns="12700" rIns="0" bIns="0" rtlCol="0">
            <a:spAutoFit/>
          </a:bodyPr>
          <a:lstStyle/>
          <a:p>
            <a:pPr marL="147955" marR="5080" lvl="0" indent="-13589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55" normalizeH="0" baseline="0" noProof="0" dirty="0">
                <a:ln>
                  <a:noFill/>
                </a:ln>
                <a:solidFill>
                  <a:srgbClr val="F8B133"/>
                </a:solidFill>
                <a:effectLst/>
                <a:uLnTx/>
                <a:uFillTx/>
                <a:latin typeface="Arial Black"/>
                <a:ea typeface="+mn-ea"/>
                <a:cs typeface="Arial Black"/>
                <a:hlinkClick r:id="" action="ppaction://noaction"/>
              </a:rPr>
              <a:t>Digital</a:t>
            </a:r>
            <a:r>
              <a:rPr kumimoji="0" sz="1000" b="0" i="0" u="none" strike="noStrike" kern="0" cap="none" spc="-30" normalizeH="0" baseline="0" noProof="0" dirty="0">
                <a:ln>
                  <a:noFill/>
                </a:ln>
                <a:solidFill>
                  <a:srgbClr val="F8B133"/>
                </a:solidFill>
                <a:effectLst/>
                <a:uLnTx/>
                <a:uFillTx/>
                <a:latin typeface="Arial Black"/>
                <a:ea typeface="+mn-ea"/>
                <a:cs typeface="Arial Black"/>
                <a:hlinkClick r:id="" action="ppaction://noaction"/>
              </a:rPr>
              <a:t> </a:t>
            </a:r>
            <a:r>
              <a:rPr kumimoji="0" sz="1000" b="0" i="0" u="none" strike="noStrike" kern="0" cap="none" spc="-80" normalizeH="0" baseline="0" noProof="0" dirty="0">
                <a:ln>
                  <a:noFill/>
                </a:ln>
                <a:solidFill>
                  <a:srgbClr val="F8B133"/>
                </a:solidFill>
                <a:effectLst/>
                <a:uLnTx/>
                <a:uFillTx/>
                <a:latin typeface="Arial Black"/>
                <a:ea typeface="+mn-ea"/>
                <a:cs typeface="Arial Black"/>
                <a:hlinkClick r:id="" action="ppaction://noaction"/>
              </a:rPr>
              <a:t>Forensics </a:t>
            </a:r>
            <a:r>
              <a:rPr kumimoji="0" sz="1000" b="0" i="0" u="none" strike="noStrike" kern="0" cap="none" spc="-10" normalizeH="0" baseline="0" noProof="0" dirty="0">
                <a:ln>
                  <a:noFill/>
                </a:ln>
                <a:solidFill>
                  <a:srgbClr val="F8B133"/>
                </a:solidFill>
                <a:effectLst/>
                <a:uLnTx/>
                <a:uFillTx/>
                <a:latin typeface="Arial Black"/>
                <a:ea typeface="+mn-ea"/>
                <a:cs typeface="Arial Black"/>
                <a:hlinkClick r:id="" action="ppaction://noaction"/>
              </a:rPr>
              <a:t>Investigator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24" name="object 26">
            <a:extLst>
              <a:ext uri="{FF2B5EF4-FFF2-40B4-BE49-F238E27FC236}">
                <a16:creationId xmlns:a16="http://schemas.microsoft.com/office/drawing/2014/main" id="{1C760492-574B-795D-5A1D-599FF096C9E8}"/>
              </a:ext>
            </a:extLst>
          </p:cNvPr>
          <p:cNvPicPr/>
          <p:nvPr/>
        </p:nvPicPr>
        <p:blipFill>
          <a:blip r:embed="rId14" cstate="print"/>
          <a:stretch>
            <a:fillRect/>
          </a:stretch>
        </p:blipFill>
        <p:spPr>
          <a:xfrm>
            <a:off x="10731828" y="7244391"/>
            <a:ext cx="1226127" cy="914306"/>
          </a:xfrm>
          <a:prstGeom prst="rect">
            <a:avLst/>
          </a:prstGeom>
        </p:spPr>
      </p:pic>
      <p:sp>
        <p:nvSpPr>
          <p:cNvPr id="25" name="object 27">
            <a:extLst>
              <a:ext uri="{FF2B5EF4-FFF2-40B4-BE49-F238E27FC236}">
                <a16:creationId xmlns:a16="http://schemas.microsoft.com/office/drawing/2014/main" id="{F70F581A-19B1-6C7D-5385-635E70CEAB5F}"/>
              </a:ext>
            </a:extLst>
          </p:cNvPr>
          <p:cNvSpPr txBox="1"/>
          <p:nvPr/>
        </p:nvSpPr>
        <p:spPr>
          <a:xfrm>
            <a:off x="10919904" y="8268542"/>
            <a:ext cx="782320" cy="373380"/>
          </a:xfrm>
          <a:prstGeom prst="rect">
            <a:avLst/>
          </a:prstGeom>
        </p:spPr>
        <p:txBody>
          <a:bodyPr vert="horz" wrap="square" lIns="0" tIns="12700" rIns="0" bIns="0" rtlCol="0">
            <a:spAutoFit/>
          </a:bodyPr>
          <a:lstStyle/>
          <a:p>
            <a:pPr marL="192405" marR="5080" lvl="0" indent="-180340" algn="l" defTabSz="914400" rtl="0" eaLnBrk="1" fontAlgn="auto" latinLnBrk="0" hangingPunct="1">
              <a:lnSpc>
                <a:spcPct val="113999"/>
              </a:lnSpc>
              <a:spcBef>
                <a:spcPts val="100"/>
              </a:spcBef>
              <a:spcAft>
                <a:spcPts val="0"/>
              </a:spcAft>
              <a:buClrTx/>
              <a:buSzTx/>
              <a:buFontTx/>
              <a:buNone/>
              <a:tabLst/>
              <a:defRPr/>
            </a:pPr>
            <a:r>
              <a:rPr kumimoji="0" sz="1000" b="0" i="0" u="none" strike="noStrike" kern="0" cap="none" spc="-50" normalizeH="0" baseline="0" noProof="0" dirty="0">
                <a:ln>
                  <a:noFill/>
                </a:ln>
                <a:solidFill>
                  <a:srgbClr val="CA0438"/>
                </a:solidFill>
                <a:effectLst/>
                <a:uLnTx/>
                <a:uFillTx/>
                <a:latin typeface="Arial Black"/>
                <a:ea typeface="+mn-ea"/>
                <a:cs typeface="Arial Black"/>
                <a:hlinkClick r:id="" action="ppaction://noaction"/>
              </a:rPr>
              <a:t>Penetration </a:t>
            </a:r>
            <a:r>
              <a:rPr kumimoji="0" sz="1000" b="0" i="0" u="none" strike="noStrike" kern="0" cap="none" spc="-10" normalizeH="0" baseline="0" noProof="0" dirty="0">
                <a:ln>
                  <a:noFill/>
                </a:ln>
                <a:solidFill>
                  <a:srgbClr val="CA0438"/>
                </a:solidFill>
                <a:effectLst/>
                <a:uLnTx/>
                <a:uFillTx/>
                <a:latin typeface="Arial Black"/>
                <a:ea typeface="+mn-ea"/>
                <a:cs typeface="Arial Black"/>
                <a:hlinkClick r:id="" action="ppaction://noaction"/>
              </a:rPr>
              <a:t>Tester</a:t>
            </a:r>
            <a:endParaRPr kumimoji="0" sz="1000" b="0" i="0" u="none" strike="noStrike" kern="0" cap="none" spc="0" normalizeH="0" baseline="0" noProof="0">
              <a:ln>
                <a:noFill/>
              </a:ln>
              <a:solidFill>
                <a:sysClr val="windowText" lastClr="000000"/>
              </a:solidFill>
              <a:effectLst/>
              <a:uLnTx/>
              <a:uFillTx/>
              <a:latin typeface="Arial Black"/>
              <a:ea typeface="+mn-ea"/>
              <a:cs typeface="Arial Black"/>
            </a:endParaRPr>
          </a:p>
        </p:txBody>
      </p:sp>
      <p:pic>
        <p:nvPicPr>
          <p:cNvPr id="26" name="object 12">
            <a:extLst>
              <a:ext uri="{FF2B5EF4-FFF2-40B4-BE49-F238E27FC236}">
                <a16:creationId xmlns:a16="http://schemas.microsoft.com/office/drawing/2014/main" id="{53C277E7-FF71-BADB-61D2-13FCD0A98C94}"/>
              </a:ext>
            </a:extLst>
          </p:cNvPr>
          <p:cNvPicPr/>
          <p:nvPr/>
        </p:nvPicPr>
        <p:blipFill>
          <a:blip r:embed="rId7" cstate="print"/>
          <a:stretch>
            <a:fillRect/>
          </a:stretch>
        </p:blipFill>
        <p:spPr>
          <a:xfrm>
            <a:off x="3305074" y="1152525"/>
            <a:ext cx="515429" cy="491090"/>
          </a:xfrm>
          <a:prstGeom prst="rect">
            <a:avLst/>
          </a:prstGeom>
        </p:spPr>
      </p:pic>
      <p:pic>
        <p:nvPicPr>
          <p:cNvPr id="27" name="object 17">
            <a:extLst>
              <a:ext uri="{FF2B5EF4-FFF2-40B4-BE49-F238E27FC236}">
                <a16:creationId xmlns:a16="http://schemas.microsoft.com/office/drawing/2014/main" id="{8422141C-E182-E471-8CA6-E971CC26FFCC}"/>
              </a:ext>
            </a:extLst>
          </p:cNvPr>
          <p:cNvPicPr/>
          <p:nvPr/>
        </p:nvPicPr>
        <p:blipFill>
          <a:blip r:embed="rId9" cstate="print"/>
          <a:stretch>
            <a:fillRect/>
          </a:stretch>
        </p:blipFill>
        <p:spPr>
          <a:xfrm>
            <a:off x="8314149" y="1643614"/>
            <a:ext cx="608634" cy="420971"/>
          </a:xfrm>
          <a:prstGeom prst="rect">
            <a:avLst/>
          </a:prstGeom>
        </p:spPr>
      </p:pic>
      <p:pic>
        <p:nvPicPr>
          <p:cNvPr id="28" name="object 20">
            <a:extLst>
              <a:ext uri="{FF2B5EF4-FFF2-40B4-BE49-F238E27FC236}">
                <a16:creationId xmlns:a16="http://schemas.microsoft.com/office/drawing/2014/main" id="{912BD6D8-A667-0FDA-926C-9F4B42EC0B1B}"/>
              </a:ext>
            </a:extLst>
          </p:cNvPr>
          <p:cNvPicPr/>
          <p:nvPr/>
        </p:nvPicPr>
        <p:blipFill>
          <a:blip r:embed="rId11" cstate="print"/>
          <a:stretch>
            <a:fillRect/>
          </a:stretch>
        </p:blipFill>
        <p:spPr>
          <a:xfrm>
            <a:off x="3853119" y="4667250"/>
            <a:ext cx="615350" cy="566123"/>
          </a:xfrm>
          <a:prstGeom prst="rect">
            <a:avLst/>
          </a:prstGeom>
        </p:spPr>
      </p:pic>
      <p:sp>
        <p:nvSpPr>
          <p:cNvPr id="29" name="TextBox 28">
            <a:extLst>
              <a:ext uri="{FF2B5EF4-FFF2-40B4-BE49-F238E27FC236}">
                <a16:creationId xmlns:a16="http://schemas.microsoft.com/office/drawing/2014/main" id="{B235B1F5-EBB4-FA07-7F0F-7C7D4BEFB39C}"/>
              </a:ext>
            </a:extLst>
          </p:cNvPr>
          <p:cNvSpPr txBox="1"/>
          <p:nvPr/>
        </p:nvSpPr>
        <p:spPr>
          <a:xfrm>
            <a:off x="4959599" y="5493117"/>
            <a:ext cx="2992679" cy="307777"/>
          </a:xfrm>
          <a:prstGeom prst="rect">
            <a:avLst/>
          </a:prstGeom>
          <a:noFill/>
        </p:spPr>
        <p:txBody>
          <a:bodyPr wrap="none" rtlCol="0">
            <a:spAutoFit/>
          </a:bodyPr>
          <a:lstStyle/>
          <a:p>
            <a:pPr algn="ctr"/>
            <a:r>
              <a:rPr lang="fr-BE" sz="1400" dirty="0" err="1"/>
              <a:t>Technology</a:t>
            </a:r>
            <a:r>
              <a:rPr lang="fr-BE" sz="1400" dirty="0"/>
              <a:t> </a:t>
            </a:r>
            <a:r>
              <a:rPr lang="fr-BE" sz="1400" dirty="0" err="1"/>
              <a:t>Research</a:t>
            </a:r>
            <a:r>
              <a:rPr lang="fr-BE" sz="1400" dirty="0"/>
              <a:t> &amp; </a:t>
            </a:r>
            <a:r>
              <a:rPr lang="fr-BE" sz="1400" dirty="0" err="1"/>
              <a:t>Development</a:t>
            </a:r>
            <a:endParaRPr lang="fr-BE" sz="1400" dirty="0"/>
          </a:p>
        </p:txBody>
      </p:sp>
      <p:sp>
        <p:nvSpPr>
          <p:cNvPr id="30" name="TextBox 29">
            <a:extLst>
              <a:ext uri="{FF2B5EF4-FFF2-40B4-BE49-F238E27FC236}">
                <a16:creationId xmlns:a16="http://schemas.microsoft.com/office/drawing/2014/main" id="{20115339-9AED-3AE1-6383-83726851AA61}"/>
              </a:ext>
            </a:extLst>
          </p:cNvPr>
          <p:cNvSpPr txBox="1"/>
          <p:nvPr/>
        </p:nvSpPr>
        <p:spPr>
          <a:xfrm>
            <a:off x="9487863" y="2384158"/>
            <a:ext cx="1970283" cy="307777"/>
          </a:xfrm>
          <a:prstGeom prst="rect">
            <a:avLst/>
          </a:prstGeom>
          <a:noFill/>
        </p:spPr>
        <p:txBody>
          <a:bodyPr wrap="none" rtlCol="0">
            <a:spAutoFit/>
          </a:bodyPr>
          <a:lstStyle/>
          <a:p>
            <a:pPr algn="ctr"/>
            <a:r>
              <a:rPr lang="fr-BE" sz="1400" dirty="0" err="1"/>
              <a:t>Knowledge</a:t>
            </a:r>
            <a:r>
              <a:rPr lang="fr-BE" sz="1400" dirty="0"/>
              <a:t> Management</a:t>
            </a:r>
          </a:p>
        </p:txBody>
      </p:sp>
      <p:sp>
        <p:nvSpPr>
          <p:cNvPr id="31" name="TextBox 30">
            <a:extLst>
              <a:ext uri="{FF2B5EF4-FFF2-40B4-BE49-F238E27FC236}">
                <a16:creationId xmlns:a16="http://schemas.microsoft.com/office/drawing/2014/main" id="{879F7D4F-CD4B-DD33-1725-C6C3E2B38DDF}"/>
              </a:ext>
            </a:extLst>
          </p:cNvPr>
          <p:cNvSpPr txBox="1"/>
          <p:nvPr/>
        </p:nvSpPr>
        <p:spPr>
          <a:xfrm>
            <a:off x="9487863" y="2890391"/>
            <a:ext cx="2704137" cy="276999"/>
          </a:xfrm>
          <a:prstGeom prst="rect">
            <a:avLst/>
          </a:prstGeom>
          <a:noFill/>
        </p:spPr>
        <p:txBody>
          <a:bodyPr wrap="none" rtlCol="0">
            <a:spAutoFit/>
          </a:bodyPr>
          <a:lstStyle/>
          <a:p>
            <a:pPr algn="ctr"/>
            <a:r>
              <a:rPr lang="fr-BE" sz="1200" dirty="0" err="1"/>
              <a:t>Cybersecurity</a:t>
            </a:r>
            <a:r>
              <a:rPr lang="fr-BE" sz="1200" dirty="0"/>
              <a:t> Curriculum </a:t>
            </a:r>
            <a:r>
              <a:rPr lang="fr-BE" sz="1200" dirty="0" err="1"/>
              <a:t>Development</a:t>
            </a:r>
            <a:endParaRPr lang="fr-BE" sz="1200" dirty="0"/>
          </a:p>
        </p:txBody>
      </p:sp>
      <p:sp>
        <p:nvSpPr>
          <p:cNvPr id="2048" name="TextBox 2047">
            <a:extLst>
              <a:ext uri="{FF2B5EF4-FFF2-40B4-BE49-F238E27FC236}">
                <a16:creationId xmlns:a16="http://schemas.microsoft.com/office/drawing/2014/main" id="{4B2CBD61-F727-8E96-BDC7-EEE5615D089D}"/>
              </a:ext>
            </a:extLst>
          </p:cNvPr>
          <p:cNvSpPr txBox="1"/>
          <p:nvPr/>
        </p:nvSpPr>
        <p:spPr>
          <a:xfrm>
            <a:off x="9487863" y="3353569"/>
            <a:ext cx="2098651" cy="307777"/>
          </a:xfrm>
          <a:prstGeom prst="rect">
            <a:avLst/>
          </a:prstGeom>
          <a:noFill/>
        </p:spPr>
        <p:txBody>
          <a:bodyPr wrap="none" rtlCol="0">
            <a:spAutoFit/>
          </a:bodyPr>
          <a:lstStyle/>
          <a:p>
            <a:pPr algn="ctr"/>
            <a:r>
              <a:rPr lang="fr-BE" sz="1400" dirty="0" err="1"/>
              <a:t>Cybersecurity</a:t>
            </a:r>
            <a:r>
              <a:rPr lang="fr-BE" sz="1400" dirty="0"/>
              <a:t> Instruction</a:t>
            </a:r>
          </a:p>
        </p:txBody>
      </p:sp>
      <p:sp>
        <p:nvSpPr>
          <p:cNvPr id="2049" name="TextBox 2048">
            <a:extLst>
              <a:ext uri="{FF2B5EF4-FFF2-40B4-BE49-F238E27FC236}">
                <a16:creationId xmlns:a16="http://schemas.microsoft.com/office/drawing/2014/main" id="{AB4A4E2F-D0B9-B1DD-F6FE-F057E1FE7815}"/>
              </a:ext>
            </a:extLst>
          </p:cNvPr>
          <p:cNvSpPr txBox="1"/>
          <p:nvPr/>
        </p:nvSpPr>
        <p:spPr>
          <a:xfrm>
            <a:off x="404446" y="1910696"/>
            <a:ext cx="2338845" cy="307777"/>
          </a:xfrm>
          <a:prstGeom prst="rect">
            <a:avLst/>
          </a:prstGeom>
          <a:noFill/>
        </p:spPr>
        <p:txBody>
          <a:bodyPr wrap="none" rtlCol="0">
            <a:spAutoFit/>
          </a:bodyPr>
          <a:lstStyle/>
          <a:p>
            <a:pPr algn="ctr"/>
            <a:r>
              <a:rPr lang="fr-BE" sz="1400" dirty="0"/>
              <a:t>Secure </a:t>
            </a:r>
            <a:r>
              <a:rPr lang="fr-BE" sz="1400" dirty="0" err="1"/>
              <a:t>Systems</a:t>
            </a:r>
            <a:r>
              <a:rPr lang="fr-BE" sz="1400" dirty="0"/>
              <a:t> </a:t>
            </a:r>
            <a:r>
              <a:rPr lang="fr-BE" sz="1400" dirty="0" err="1"/>
              <a:t>Development</a:t>
            </a:r>
            <a:endParaRPr lang="fr-BE" sz="1400" dirty="0"/>
          </a:p>
        </p:txBody>
      </p:sp>
      <p:sp>
        <p:nvSpPr>
          <p:cNvPr id="2051" name="TextBox 2050">
            <a:extLst>
              <a:ext uri="{FF2B5EF4-FFF2-40B4-BE49-F238E27FC236}">
                <a16:creationId xmlns:a16="http://schemas.microsoft.com/office/drawing/2014/main" id="{D37CD9C2-7C5C-ABC3-69E7-18F903D0890F}"/>
              </a:ext>
            </a:extLst>
          </p:cNvPr>
          <p:cNvSpPr txBox="1"/>
          <p:nvPr/>
        </p:nvSpPr>
        <p:spPr>
          <a:xfrm>
            <a:off x="271524" y="2930804"/>
            <a:ext cx="2471767" cy="307777"/>
          </a:xfrm>
          <a:prstGeom prst="rect">
            <a:avLst/>
          </a:prstGeom>
          <a:noFill/>
        </p:spPr>
        <p:txBody>
          <a:bodyPr wrap="none" rtlCol="0">
            <a:spAutoFit/>
          </a:bodyPr>
          <a:lstStyle/>
          <a:p>
            <a:pPr algn="ctr"/>
            <a:r>
              <a:rPr lang="fr-BE" sz="1400" dirty="0" err="1"/>
              <a:t>Systems</a:t>
            </a:r>
            <a:r>
              <a:rPr lang="fr-BE" sz="1400" dirty="0"/>
              <a:t> </a:t>
            </a:r>
            <a:r>
              <a:rPr lang="fr-BE" sz="1400" dirty="0" err="1"/>
              <a:t>Requirements</a:t>
            </a:r>
            <a:r>
              <a:rPr lang="fr-BE" sz="1400" dirty="0"/>
              <a:t> Planning</a:t>
            </a:r>
          </a:p>
        </p:txBody>
      </p:sp>
      <p:sp>
        <p:nvSpPr>
          <p:cNvPr id="2053" name="TextBox 2052">
            <a:extLst>
              <a:ext uri="{FF2B5EF4-FFF2-40B4-BE49-F238E27FC236}">
                <a16:creationId xmlns:a16="http://schemas.microsoft.com/office/drawing/2014/main" id="{866BCFAD-192E-2053-C56E-EDCCA12091FA}"/>
              </a:ext>
            </a:extLst>
          </p:cNvPr>
          <p:cNvSpPr txBox="1"/>
          <p:nvPr/>
        </p:nvSpPr>
        <p:spPr>
          <a:xfrm>
            <a:off x="853414" y="3415419"/>
            <a:ext cx="1889877" cy="307777"/>
          </a:xfrm>
          <a:prstGeom prst="rect">
            <a:avLst/>
          </a:prstGeom>
          <a:noFill/>
        </p:spPr>
        <p:txBody>
          <a:bodyPr wrap="none" rtlCol="0">
            <a:spAutoFit/>
          </a:bodyPr>
          <a:lstStyle/>
          <a:p>
            <a:pPr algn="ctr"/>
            <a:r>
              <a:rPr lang="fr-BE" sz="1400" dirty="0"/>
              <a:t>Enterprise Architecture</a:t>
            </a:r>
          </a:p>
        </p:txBody>
      </p:sp>
      <p:sp>
        <p:nvSpPr>
          <p:cNvPr id="2054" name="TextBox 2053">
            <a:extLst>
              <a:ext uri="{FF2B5EF4-FFF2-40B4-BE49-F238E27FC236}">
                <a16:creationId xmlns:a16="http://schemas.microsoft.com/office/drawing/2014/main" id="{19B30E64-DF69-1130-AB8F-B412A1B693CC}"/>
              </a:ext>
            </a:extLst>
          </p:cNvPr>
          <p:cNvSpPr txBox="1"/>
          <p:nvPr/>
        </p:nvSpPr>
        <p:spPr>
          <a:xfrm>
            <a:off x="580903" y="3928274"/>
            <a:ext cx="2162388" cy="307777"/>
          </a:xfrm>
          <a:prstGeom prst="rect">
            <a:avLst/>
          </a:prstGeom>
          <a:noFill/>
        </p:spPr>
        <p:txBody>
          <a:bodyPr wrap="none" rtlCol="0">
            <a:spAutoFit/>
          </a:bodyPr>
          <a:lstStyle/>
          <a:p>
            <a:pPr algn="ctr"/>
            <a:r>
              <a:rPr lang="fr-BE" sz="1400" dirty="0" err="1"/>
              <a:t>Cybersecurity</a:t>
            </a:r>
            <a:r>
              <a:rPr lang="fr-BE" sz="1400" dirty="0"/>
              <a:t> Architecture</a:t>
            </a:r>
          </a:p>
        </p:txBody>
      </p:sp>
      <p:sp>
        <p:nvSpPr>
          <p:cNvPr id="2055" name="TextBox 2054">
            <a:extLst>
              <a:ext uri="{FF2B5EF4-FFF2-40B4-BE49-F238E27FC236}">
                <a16:creationId xmlns:a16="http://schemas.microsoft.com/office/drawing/2014/main" id="{5E546733-FCC7-B4B8-8FBF-90F42B7EA54E}"/>
              </a:ext>
            </a:extLst>
          </p:cNvPr>
          <p:cNvSpPr txBox="1"/>
          <p:nvPr/>
        </p:nvSpPr>
        <p:spPr>
          <a:xfrm>
            <a:off x="404446" y="2462385"/>
            <a:ext cx="2338845" cy="307777"/>
          </a:xfrm>
          <a:prstGeom prst="rect">
            <a:avLst/>
          </a:prstGeom>
          <a:noFill/>
        </p:spPr>
        <p:txBody>
          <a:bodyPr wrap="none" rtlCol="0">
            <a:spAutoFit/>
          </a:bodyPr>
          <a:lstStyle/>
          <a:p>
            <a:pPr algn="ctr"/>
            <a:r>
              <a:rPr lang="fr-BE" sz="1400" dirty="0"/>
              <a:t>Secure </a:t>
            </a:r>
            <a:r>
              <a:rPr lang="fr-BE" sz="1400" dirty="0" err="1"/>
              <a:t>Systems</a:t>
            </a:r>
            <a:r>
              <a:rPr lang="fr-BE" sz="1400" dirty="0"/>
              <a:t> </a:t>
            </a:r>
            <a:r>
              <a:rPr lang="fr-BE" sz="1400" dirty="0" err="1"/>
              <a:t>Development</a:t>
            </a:r>
            <a:endParaRPr lang="fr-BE" sz="1400" dirty="0"/>
          </a:p>
        </p:txBody>
      </p:sp>
    </p:spTree>
    <p:extLst>
      <p:ext uri="{BB962C8B-B14F-4D97-AF65-F5344CB8AC3E}">
        <p14:creationId xmlns:p14="http://schemas.microsoft.com/office/powerpoint/2010/main" val="40970233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4D9F6E-9D14-0FA8-7E43-21A933CE7598}"/>
              </a:ext>
            </a:extLst>
          </p:cNvPr>
          <p:cNvPicPr>
            <a:picLocks noChangeAspect="1"/>
          </p:cNvPicPr>
          <p:nvPr/>
        </p:nvPicPr>
        <p:blipFill>
          <a:blip r:embed="rId2"/>
          <a:stretch>
            <a:fillRect/>
          </a:stretch>
        </p:blipFill>
        <p:spPr>
          <a:xfrm>
            <a:off x="6496050" y="1235333"/>
            <a:ext cx="5048250" cy="5048250"/>
          </a:xfrm>
          <a:prstGeom prst="rect">
            <a:avLst/>
          </a:prstGeom>
        </p:spPr>
      </p:pic>
      <p:sp>
        <p:nvSpPr>
          <p:cNvPr id="7" name="TextBox 6">
            <a:extLst>
              <a:ext uri="{FF2B5EF4-FFF2-40B4-BE49-F238E27FC236}">
                <a16:creationId xmlns:a16="http://schemas.microsoft.com/office/drawing/2014/main" id="{EC488444-9F26-5316-8175-BA3DFACF6454}"/>
              </a:ext>
            </a:extLst>
          </p:cNvPr>
          <p:cNvSpPr txBox="1"/>
          <p:nvPr/>
        </p:nvSpPr>
        <p:spPr>
          <a:xfrm>
            <a:off x="609600" y="205085"/>
            <a:ext cx="10934700" cy="369332"/>
          </a:xfrm>
          <a:prstGeom prst="rect">
            <a:avLst/>
          </a:prstGeom>
          <a:noFill/>
        </p:spPr>
        <p:txBody>
          <a:bodyPr wrap="square">
            <a:spAutoFit/>
          </a:bodyPr>
          <a:lstStyle/>
          <a:p>
            <a:r>
              <a:rPr lang="fr-BE"/>
              <a:t>https://itprofessionalism.org/wp-content/uploads/2025/03/ICT-professionals-role-profiles-Pt-1-CWA-16458-1.pdf</a:t>
            </a:r>
            <a:endParaRPr lang="fr-BE" dirty="0"/>
          </a:p>
        </p:txBody>
      </p:sp>
      <p:pic>
        <p:nvPicPr>
          <p:cNvPr id="9" name="Picture 8">
            <a:extLst>
              <a:ext uri="{FF2B5EF4-FFF2-40B4-BE49-F238E27FC236}">
                <a16:creationId xmlns:a16="http://schemas.microsoft.com/office/drawing/2014/main" id="{D5E75289-30CA-3E73-C764-BE6532CBABB0}"/>
              </a:ext>
            </a:extLst>
          </p:cNvPr>
          <p:cNvPicPr>
            <a:picLocks noChangeAspect="1"/>
          </p:cNvPicPr>
          <p:nvPr/>
        </p:nvPicPr>
        <p:blipFill>
          <a:blip r:embed="rId3"/>
          <a:stretch>
            <a:fillRect/>
          </a:stretch>
        </p:blipFill>
        <p:spPr>
          <a:xfrm>
            <a:off x="609600" y="942974"/>
            <a:ext cx="4585184" cy="5184517"/>
          </a:xfrm>
          <a:prstGeom prst="rect">
            <a:avLst/>
          </a:prstGeom>
        </p:spPr>
      </p:pic>
      <p:sp>
        <p:nvSpPr>
          <p:cNvPr id="11" name="TextBox 10">
            <a:extLst>
              <a:ext uri="{FF2B5EF4-FFF2-40B4-BE49-F238E27FC236}">
                <a16:creationId xmlns:a16="http://schemas.microsoft.com/office/drawing/2014/main" id="{D6F961D1-33DB-75BA-A300-83C2BC1F527B}"/>
              </a:ext>
            </a:extLst>
          </p:cNvPr>
          <p:cNvSpPr txBox="1"/>
          <p:nvPr/>
        </p:nvSpPr>
        <p:spPr>
          <a:xfrm>
            <a:off x="2009775" y="6127491"/>
            <a:ext cx="8324850" cy="369332"/>
          </a:xfrm>
          <a:prstGeom prst="rect">
            <a:avLst/>
          </a:prstGeom>
          <a:noFill/>
        </p:spPr>
        <p:txBody>
          <a:bodyPr wrap="square">
            <a:spAutoFit/>
          </a:bodyPr>
          <a:lstStyle/>
          <a:p>
            <a:r>
              <a:rPr lang="fr-BE" dirty="0"/>
              <a:t>https://itprofessionalism.org/professionalism/e-competence-framework/</a:t>
            </a:r>
          </a:p>
        </p:txBody>
      </p:sp>
      <p:sp>
        <p:nvSpPr>
          <p:cNvPr id="13" name="TextBox 12">
            <a:extLst>
              <a:ext uri="{FF2B5EF4-FFF2-40B4-BE49-F238E27FC236}">
                <a16:creationId xmlns:a16="http://schemas.microsoft.com/office/drawing/2014/main" id="{FDCC1852-820E-1FD0-43D5-41B6356E0DD7}"/>
              </a:ext>
            </a:extLst>
          </p:cNvPr>
          <p:cNvSpPr txBox="1"/>
          <p:nvPr/>
        </p:nvSpPr>
        <p:spPr>
          <a:xfrm>
            <a:off x="3448050" y="6468249"/>
            <a:ext cx="6096000" cy="369332"/>
          </a:xfrm>
          <a:prstGeom prst="rect">
            <a:avLst/>
          </a:prstGeom>
          <a:noFill/>
        </p:spPr>
        <p:txBody>
          <a:bodyPr wrap="square">
            <a:spAutoFit/>
          </a:bodyPr>
          <a:lstStyle/>
          <a:p>
            <a:r>
              <a:rPr lang="fr-BE" dirty="0"/>
              <a:t>https://itprofessionalism.org/about/</a:t>
            </a:r>
          </a:p>
        </p:txBody>
      </p:sp>
    </p:spTree>
    <p:extLst>
      <p:ext uri="{BB962C8B-B14F-4D97-AF65-F5344CB8AC3E}">
        <p14:creationId xmlns:p14="http://schemas.microsoft.com/office/powerpoint/2010/main" val="18111093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D239F66-D330-38FA-37D4-F052FC1B3F66}"/>
              </a:ext>
            </a:extLst>
          </p:cNvPr>
          <p:cNvPicPr>
            <a:picLocks noChangeAspect="1"/>
          </p:cNvPicPr>
          <p:nvPr/>
        </p:nvPicPr>
        <p:blipFill>
          <a:blip r:embed="rId2"/>
          <a:stretch>
            <a:fillRect/>
          </a:stretch>
        </p:blipFill>
        <p:spPr>
          <a:xfrm>
            <a:off x="1434898" y="0"/>
            <a:ext cx="9322203" cy="6858000"/>
          </a:xfrm>
          <a:prstGeom prst="rect">
            <a:avLst/>
          </a:prstGeom>
        </p:spPr>
      </p:pic>
      <p:sp>
        <p:nvSpPr>
          <p:cNvPr id="7" name="TextBox 6">
            <a:extLst>
              <a:ext uri="{FF2B5EF4-FFF2-40B4-BE49-F238E27FC236}">
                <a16:creationId xmlns:a16="http://schemas.microsoft.com/office/drawing/2014/main" id="{9E5439D2-F2A8-24F8-7D29-DA18A6229390}"/>
              </a:ext>
            </a:extLst>
          </p:cNvPr>
          <p:cNvSpPr txBox="1"/>
          <p:nvPr/>
        </p:nvSpPr>
        <p:spPr>
          <a:xfrm rot="16200000">
            <a:off x="-2343150" y="2824460"/>
            <a:ext cx="6096000" cy="923330"/>
          </a:xfrm>
          <a:prstGeom prst="rect">
            <a:avLst/>
          </a:prstGeom>
          <a:noFill/>
        </p:spPr>
        <p:txBody>
          <a:bodyPr wrap="square">
            <a:spAutoFit/>
          </a:bodyPr>
          <a:lstStyle/>
          <a:p>
            <a:r>
              <a:rPr lang="en-US" dirty="0"/>
              <a:t>Figure 1: European ICT Professional Role Profiles version 2: 30 profiles (generation 2) in seven families (generation 1) at the top of the European ICT Profile Family Tree</a:t>
            </a:r>
            <a:endParaRPr lang="fr-BE" dirty="0"/>
          </a:p>
        </p:txBody>
      </p:sp>
    </p:spTree>
    <p:extLst>
      <p:ext uri="{BB962C8B-B14F-4D97-AF65-F5344CB8AC3E}">
        <p14:creationId xmlns:p14="http://schemas.microsoft.com/office/powerpoint/2010/main" val="16224091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0C137-6731-4C0A-B772-73716D1048D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D00E833-40C6-D731-D9C2-091016301A88}"/>
              </a:ext>
            </a:extLst>
          </p:cNvPr>
          <p:cNvPicPr>
            <a:picLocks noChangeAspect="1"/>
          </p:cNvPicPr>
          <p:nvPr/>
        </p:nvPicPr>
        <p:blipFill>
          <a:blip r:embed="rId2"/>
          <a:stretch>
            <a:fillRect/>
          </a:stretch>
        </p:blipFill>
        <p:spPr>
          <a:xfrm>
            <a:off x="266180" y="532996"/>
            <a:ext cx="7449590" cy="5792008"/>
          </a:xfrm>
          <a:prstGeom prst="rect">
            <a:avLst/>
          </a:prstGeom>
        </p:spPr>
      </p:pic>
      <p:pic>
        <p:nvPicPr>
          <p:cNvPr id="6" name="Picture 5">
            <a:extLst>
              <a:ext uri="{FF2B5EF4-FFF2-40B4-BE49-F238E27FC236}">
                <a16:creationId xmlns:a16="http://schemas.microsoft.com/office/drawing/2014/main" id="{F03F5F24-49B4-05E0-DE32-018F4576823A}"/>
              </a:ext>
            </a:extLst>
          </p:cNvPr>
          <p:cNvPicPr>
            <a:picLocks noChangeAspect="1"/>
          </p:cNvPicPr>
          <p:nvPr/>
        </p:nvPicPr>
        <p:blipFill>
          <a:blip r:embed="rId3"/>
          <a:stretch>
            <a:fillRect/>
          </a:stretch>
        </p:blipFill>
        <p:spPr>
          <a:xfrm>
            <a:off x="8467725" y="67428"/>
            <a:ext cx="3167256" cy="6671917"/>
          </a:xfrm>
          <a:prstGeom prst="rect">
            <a:avLst/>
          </a:prstGeom>
        </p:spPr>
      </p:pic>
    </p:spTree>
    <p:extLst>
      <p:ext uri="{BB962C8B-B14F-4D97-AF65-F5344CB8AC3E}">
        <p14:creationId xmlns:p14="http://schemas.microsoft.com/office/powerpoint/2010/main" val="35006062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AC0C2-F65D-505B-294C-19825A70B920}"/>
              </a:ext>
            </a:extLst>
          </p:cNvPr>
          <p:cNvSpPr>
            <a:spLocks noGrp="1"/>
          </p:cNvSpPr>
          <p:nvPr>
            <p:ph type="title"/>
          </p:nvPr>
        </p:nvSpPr>
        <p:spPr/>
        <p:txBody>
          <a:bodyPr/>
          <a:lstStyle/>
          <a:p>
            <a:endParaRPr lang="fr-BE"/>
          </a:p>
        </p:txBody>
      </p:sp>
      <p:sp>
        <p:nvSpPr>
          <p:cNvPr id="3" name="Content Placeholder 2">
            <a:extLst>
              <a:ext uri="{FF2B5EF4-FFF2-40B4-BE49-F238E27FC236}">
                <a16:creationId xmlns:a16="http://schemas.microsoft.com/office/drawing/2014/main" id="{E42AB8BC-F1F8-2B3B-C2D3-CDF31C297D84}"/>
              </a:ext>
            </a:extLst>
          </p:cNvPr>
          <p:cNvSpPr>
            <a:spLocks noGrp="1"/>
          </p:cNvSpPr>
          <p:nvPr>
            <p:ph idx="1"/>
          </p:nvPr>
        </p:nvSpPr>
        <p:spPr/>
        <p:txBody>
          <a:bodyPr/>
          <a:lstStyle/>
          <a:p>
            <a:endParaRPr lang="fr-BE"/>
          </a:p>
        </p:txBody>
      </p:sp>
    </p:spTree>
    <p:extLst>
      <p:ext uri="{BB962C8B-B14F-4D97-AF65-F5344CB8AC3E}">
        <p14:creationId xmlns:p14="http://schemas.microsoft.com/office/powerpoint/2010/main" val="18805205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0B8009C45B29A4789EA86B0641EE65F" ma:contentTypeVersion="13" ma:contentTypeDescription="Create a new document." ma:contentTypeScope="" ma:versionID="5cabc6f2d63c8eb1d6ac693995e0ce30">
  <xsd:schema xmlns:xsd="http://www.w3.org/2001/XMLSchema" xmlns:xs="http://www.w3.org/2001/XMLSchema" xmlns:p="http://schemas.microsoft.com/office/2006/metadata/properties" xmlns:ns3="b10db64f-ff70-44e0-ab74-bd9601843647" xmlns:ns4="7f846295-617b-4f20-862a-6b5e39ccdd81" targetNamespace="http://schemas.microsoft.com/office/2006/metadata/properties" ma:root="true" ma:fieldsID="04dc85b5f2bfb9501dd94cc15345c111" ns3:_="" ns4:_="">
    <xsd:import namespace="b10db64f-ff70-44e0-ab74-bd9601843647"/>
    <xsd:import namespace="7f846295-617b-4f20-862a-6b5e39ccdd81"/>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earchProperties" minOccurs="0"/>
                <xsd:element ref="ns3:MediaServiceDateTaken"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0db64f-ff70-44e0-ab74-bd96018436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f846295-617b-4f20-862a-6b5e39ccdd81"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b10db64f-ff70-44e0-ab74-bd9601843647" xsi:nil="true"/>
  </documentManagement>
</p:properties>
</file>

<file path=customXml/itemProps1.xml><?xml version="1.0" encoding="utf-8"?>
<ds:datastoreItem xmlns:ds="http://schemas.openxmlformats.org/officeDocument/2006/customXml" ds:itemID="{7EAB45C3-8298-4A98-8808-5CB4C64C5F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10db64f-ff70-44e0-ab74-bd9601843647"/>
    <ds:schemaRef ds:uri="7f846295-617b-4f20-862a-6b5e39ccdd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CA37FF2-3C15-4EFF-B54C-CD7413719B4C}">
  <ds:schemaRefs>
    <ds:schemaRef ds:uri="http://schemas.microsoft.com/sharepoint/v3/contenttype/forms"/>
  </ds:schemaRefs>
</ds:datastoreItem>
</file>

<file path=customXml/itemProps3.xml><?xml version="1.0" encoding="utf-8"?>
<ds:datastoreItem xmlns:ds="http://schemas.openxmlformats.org/officeDocument/2006/customXml" ds:itemID="{518E13A2-4008-417F-8AA9-EE24CF88B1F5}">
  <ds:schemaRefs>
    <ds:schemaRef ds:uri="http://purl.org/dc/terms/"/>
    <ds:schemaRef ds:uri="7f846295-617b-4f20-862a-6b5e39ccdd81"/>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schemas.openxmlformats.org/package/2006/metadata/core-properties"/>
    <ds:schemaRef ds:uri="b10db64f-ff70-44e0-ab74-bd9601843647"/>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13996</TotalTime>
  <Words>2323</Words>
  <Application>Microsoft Office PowerPoint</Application>
  <PresentationFormat>Widescreen</PresentationFormat>
  <Paragraphs>344</Paragraphs>
  <Slides>28</Slides>
  <Notes>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28</vt:i4>
      </vt:variant>
    </vt:vector>
  </HeadingPairs>
  <TitlesOfParts>
    <vt:vector size="37" baseType="lpstr">
      <vt:lpstr>Arial</vt:lpstr>
      <vt:lpstr>Arial Black</vt:lpstr>
      <vt:lpstr>Calibri</vt:lpstr>
      <vt:lpstr>Calibri Light</vt:lpstr>
      <vt:lpstr>Gill Sans MT</vt:lpstr>
      <vt:lpstr>Helvetica</vt:lpstr>
      <vt:lpstr>Source Sans Pro</vt:lpstr>
      <vt:lpstr>Office Theme</vt:lpstr>
      <vt:lpstr>Parcel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2.1 CHIEF INFORMATION SECURITY OFFICER (CISO) </vt:lpstr>
      <vt:lpstr>2.2 CYBER INCIDENT RESPONDER</vt:lpstr>
      <vt:lpstr>2.3 CYBER LEGAL, POLICY &amp; COMPLIANCE OFFICER</vt:lpstr>
      <vt:lpstr>2.4 CYBER THREAT INTELLIGENCE SPECIALIST</vt:lpstr>
      <vt:lpstr>2.5 CYBERSECURITY ARCHITECT</vt:lpstr>
      <vt:lpstr>2.6 CYBERSECURITY AUDITOR</vt:lpstr>
      <vt:lpstr>2.7 CYBERSECURITY EDUCATOR</vt:lpstr>
      <vt:lpstr>2.8 CYBERSECURITY IMPLEMENTER</vt:lpstr>
      <vt:lpstr>2.9 CYBERSECURITY RESEARCHER</vt:lpstr>
      <vt:lpstr>2.10 CYBERSECURITY RISK MANAGER</vt:lpstr>
      <vt:lpstr>2.11 DIGITAL FORENSICS INVESTIGATOR</vt:lpstr>
      <vt:lpstr>2.12 PENETRATION TESTER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CDN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Carl Vastmans</dc:creator>
  <cp:lastModifiedBy>Vastmans Carl</cp:lastModifiedBy>
  <cp:revision>158</cp:revision>
  <cp:lastPrinted>2024-12-03T11:35:21Z</cp:lastPrinted>
  <dcterms:created xsi:type="dcterms:W3CDTF">2024-06-26T09:46:23Z</dcterms:created>
  <dcterms:modified xsi:type="dcterms:W3CDTF">2026-01-07T13:42:28Z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0x01010090B8009C45B29A4789EA86B0641EE65F</vt:lpwstr>
  </property>
</Properties>
</file>